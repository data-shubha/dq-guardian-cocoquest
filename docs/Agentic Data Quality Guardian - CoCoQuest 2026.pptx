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12192000"/>
  <p:embeddedFontLst>
    <p:embeddedFont>
      <p:font typeface="IBM Plex Sans"/>
      <p:regular r:id="rId25"/>
      <p:bold r:id="rId26"/>
      <p:italic r:id="rId27"/>
      <p:boldItalic r:id="rId28"/>
    </p:embeddedFont>
    <p:embeddedFont>
      <p:font typeface="Rubik"/>
      <p:regular r:id="rId29"/>
      <p:bold r:id="rId30"/>
      <p:italic r:id="rId31"/>
      <p:boldItalic r:id="rId32"/>
    </p:embeddedFont>
    <p:embeddedFont>
      <p:font typeface="JetBrains Mon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jrAL0QOe/tlqasHnOXSTUwfi6O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2987BC9-52AB-4815-9B8F-11794E623275}">
  <a:tblStyle styleId="{22987BC9-52AB-4815-9B8F-11794E623275}"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BMPlexSans-bold.fntdata"/><Relationship Id="rId25" Type="http://schemas.openxmlformats.org/officeDocument/2006/relationships/font" Target="fonts/IBMPlexSans-regular.fntdata"/><Relationship Id="rId28" Type="http://schemas.openxmlformats.org/officeDocument/2006/relationships/font" Target="fonts/IBMPlexSans-boldItalic.fntdata"/><Relationship Id="rId27" Type="http://schemas.openxmlformats.org/officeDocument/2006/relationships/font" Target="fonts/IBMPlexSa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ubik-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ubik-italic.fntdata"/><Relationship Id="rId30" Type="http://schemas.openxmlformats.org/officeDocument/2006/relationships/font" Target="fonts/Rubik-bold.fntdata"/><Relationship Id="rId11" Type="http://schemas.openxmlformats.org/officeDocument/2006/relationships/slide" Target="slides/slide6.xml"/><Relationship Id="rId33" Type="http://schemas.openxmlformats.org/officeDocument/2006/relationships/font" Target="fonts/JetBrainsMono-regular.fntdata"/><Relationship Id="rId10" Type="http://schemas.openxmlformats.org/officeDocument/2006/relationships/slide" Target="slides/slide5.xml"/><Relationship Id="rId32" Type="http://schemas.openxmlformats.org/officeDocument/2006/relationships/font" Target="fonts/Rubik-boldItalic.fntdata"/><Relationship Id="rId13" Type="http://schemas.openxmlformats.org/officeDocument/2006/relationships/slide" Target="slides/slide8.xml"/><Relationship Id="rId35" Type="http://schemas.openxmlformats.org/officeDocument/2006/relationships/font" Target="fonts/JetBrainsMono-italic.fntdata"/><Relationship Id="rId12" Type="http://schemas.openxmlformats.org/officeDocument/2006/relationships/slide" Target="slides/slide7.xml"/><Relationship Id="rId34" Type="http://schemas.openxmlformats.org/officeDocument/2006/relationships/font" Target="fonts/JetBrainsMono-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JetBrainsMon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Open with the one-line idea: an agent that finds messy data in Snowflake, proposes fixes, and applies them only after a human approves. Mention it is built for CoCoQuest Theme 1 and runs entirely inside Snowflake. Say your name and team.</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Set the scene with concrete examples every business recognises: a bad email, an odd phone format, two spellings of one state, a duplicate customer, an order for a customer that does not exist, and an impossible date. Each one silently breaks something downstream. Then land the point: nobody can check millions of rows by hand.</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Walk the six steps left to right. The key phrase is human in control: the agent discovers, scans and proposes, but nothing changes until a person approves, and even then the change lands on a copy, not the original. Everything is recorded in an audit log.</a:t>
            </a:r>
            <a:endParaRPr/>
          </a:p>
        </p:txBody>
      </p:sp>
      <p:sp>
        <p:nvSpPr>
          <p:cNvPr id="44" name="Google Shape;4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Introduce the app as five pages that follow the loop. Dashboard shows the state of all guarded tables. Scan is where rules are discovered and the scan runs. Fix Studio is where a human reviews and approves. CoCo Assist hands hard cases to CoCo. Audit shows the history.</a:t>
            </a:r>
            <a:endParaRPr/>
          </a:p>
        </p:txBody>
      </p:sp>
      <p:sp>
        <p:nvSpPr>
          <p:cNvPr id="81" name="Google Shape;8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One picture of the architecture. The user works in Snowsight. Data lives in a database called DQ_GUARDIAN with three schemas: RAW for the source tables, CLEAN for sandbox copies, and DQ for the guardian's memory. Cortex AI is called with SQL functions, so no data leaves Snowflake.</a:t>
            </a:r>
            <a:endParaRPr/>
          </a:p>
        </p:txBody>
      </p:sp>
      <p:sp>
        <p:nvSpPr>
          <p:cNvPr id="114" name="Google Shape;11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app profiles each column and generates rules from column names, data types and value frequencies. No configuration. It even infers that ORDERS.CUSTOMER_ID should exist in CUSTOMERS. On our demo tables it created 36 and 25 rules. Business logic that cannot be inferred, such as ship date not before order date, is added as a custom rule.</a:t>
            </a:r>
            <a:endParaRPr/>
          </a:p>
        </p:txBody>
      </p:sp>
      <p:sp>
        <p:nvSpPr>
          <p:cNvPr id="147" name="Google Shape;14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Explain the score. Each rule gets a mini score: one minus the share of bad rows multiplied by a strictness setting. High severity rules count three times, medium two, low once. The strictness slider exists because most rules pass, so a plain average would make dirty data look clean. The bars show the customer table by quality dimension. Validity and uniqueness are the weakest.</a:t>
            </a:r>
            <a:endParaRPr/>
          </a:p>
        </p:txBody>
      </p:sp>
      <p:sp>
        <p:nvSpPr>
          <p:cNvPr id="163" name="Google Shape;16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Every failing rule gets a proposal. Well-understood problems use deterministic recipes, which are explainable and repeatable. Rules without a recipe, such as custom business rules, are sent to Cortex AI, and its SQL must pass the guardrail. Problems that cannot be fixed without guessing are left for a human. Each proposal carries a risk colour: green is safe clean-up, orange changes values, red deletes rows.</a:t>
            </a:r>
            <a:endParaRPr/>
          </a:p>
        </p:txBody>
      </p:sp>
      <p:sp>
        <p:nvSpPr>
          <p:cNvPr id="198" name="Google Shape;19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responsible AI slide. The original table is never modified. A human approves each change. All SQL, whether written by a template, by AI, or edited by a person, passes a guardrail. AI is treated as untrusted: values from the table are labelled as data in the prompt. In testing we fed the app six hostile AI answers, including DROP, GRANT, TRUNCATE, writes to the raw table and comment tricks, and all six were blocked.</a:t>
            </a:r>
            <a:endParaRPr/>
          </a:p>
        </p:txBody>
      </p:sp>
      <p:sp>
        <p:nvSpPr>
          <p:cNvPr id="224" name="Google Shape;22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Show concretely what the guardrail does. Allowed: UPDATE, DELETE, or create-or-replace-table-as-select, and only on the sandbox copy. Blocked: DROP, writes to the source table, chained statements containing GRANT, and comments. It runs three times: at generation, when a human edits the SQL, and at the moment of execution. In the live demo, type DROP TABLE into a fix and show the red message.</a:t>
            </a:r>
            <a:endParaRPr/>
          </a:p>
        </p:txBody>
      </p:sp>
      <p:sp>
        <p:nvSpPr>
          <p:cNvPr id="262" name="Google Shape;26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Approved fixes run on the sandbox copy and the table is scanned again with the same rules. On the customer table the score moves from 85.3 to 93.0. Validity, uniqueness and consistency reach 100. Be upfront about the honest trade-off: completeness goes down from 92.5 to 82.8, because we empty impossible values instead of guessing them. We prefer empty over wrong.</a:t>
            </a:r>
            <a:endParaRPr/>
          </a:p>
        </p:txBody>
      </p:sp>
      <p:sp>
        <p:nvSpPr>
          <p:cNvPr id="288" name="Google Shape;28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Give the headline numbers from the test run. Customers improve from 85.3 to 93.0 and orders from 96.4 to 98.4, with failing rules dropping from 18 to 7 and from 10 to 7. Twenty fixes were applied and all twenty are in the audit log. The 94 removed orders are the orphan rows, the one high-risk fix, which a reviewer would normally look at first. Remind the audience that these were test runs and live numbers will be close but not identical.</a:t>
            </a:r>
            <a:endParaRPr/>
          </a:p>
        </p:txBody>
      </p:sp>
      <p:sp>
        <p:nvSpPr>
          <p:cNvPr id="344" name="Google Shape;34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Governance slide. Every applied fix writes a row: who, which role, what SQL, how many rows changed, and row counts before and after. Proposals keep a status so you can see what was suggested, applied, failed or blocked by the guardrail. Because it is just tables, auditors can query it with SQL.</a:t>
            </a:r>
            <a:endParaRPr/>
          </a:p>
        </p:txBody>
      </p:sp>
      <p:sp>
        <p:nvSpPr>
          <p:cNvPr id="359" name="Google Shape;35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Be precise about how CoCo is used. One: at build time, CoCo explores the database, reviews the code and red-teams the guardrail. Two: at run time, the CoCo Assist page generates a prompt from the live scan, and you paste it into the CoCo panel so it can work on the sandbox under your permissions. Three: inside the app, Cortex AI functions write fix SQL and the briefing. The app does not call CoCo automatically, because CoCo is interactive by design.</a:t>
            </a:r>
            <a:endParaRPr/>
          </a:p>
        </p:txBody>
      </p:sp>
      <p:sp>
        <p:nvSpPr>
          <p:cNvPr id="388" name="Google Shape;38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Screenshots 05 and 07 from the live run on a Snowflake account. Left: the scan of the raw CUSTOMERS table scored 85.3 out of 100, checked 5,100 rows against 36 rules, found 1,760 rows with at least one issue and 18 failing rules. Right: Fix Studio with the sandbox clone ready and the first proposed fix, which removes 100 exact duplicate rows. Point out the risk colour, who wrote the fix, the editable SQL and the Approve box.</a:t>
            </a:r>
            <a:endParaRPr/>
          </a:p>
        </p:txBody>
      </p:sp>
      <p:sp>
        <p:nvSpPr>
          <p:cNvPr id="408" name="Google Shape;40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Screenshots 09 and 10. Left: two approved fixes were applied to the sandbox only. Removing duplicates changed 100 rows and trimming spaces in EMAIL changed 90. The score moved from 85.3 to 87.0 and rows from 5,100 to 5,000. In this run only two fixes were approved, so approving the other proposals lifts the score further; the earlier full test run with every fix approved reached about 93. Right: the audit trail shows time, user, role, target table and action for each step, and the proposals table keeps each fix's status, risk and author.</a:t>
            </a:r>
            <a:endParaRPr/>
          </a:p>
        </p:txBody>
      </p:sp>
      <p:sp>
        <p:nvSpPr>
          <p:cNvPr id="419" name="Google Shape;41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Screenshots 11 and 12. Left: the CoCo Assist page turns the live scan into a prompt for CoCo. It lists every failing rule with its bad-row count and tells CoCo to work only on the sandbox clone, preview changes, prefer NULL over guessing and report before and after. Right: CoCo running in Snowsight. It asked for permission before running SQL, then reported that 11 of 15 rules were fully fixed on the sandbox and 4 need human decisions, for example missing values.</a:t>
            </a:r>
            <a:endParaRPr/>
          </a:p>
        </p:txBody>
      </p:sp>
      <p:sp>
        <p:nvSpPr>
          <p:cNvPr id="430" name="Google Shape;43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Close the technical part with the roadmap. Scheduled scans, alerts, freshness rules, Snowflake data metric functions, and a reviewed promote-to-production step. For each of these the repository already contains a CoCo prompt, so extending the project is a matter of using CoCo, which is the point of the hackathon.</a:t>
            </a:r>
            <a:endParaRPr/>
          </a:p>
        </p:txBody>
      </p:sp>
      <p:sp>
        <p:nvSpPr>
          <p:cNvPr id="442" name="Google Shape;44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Finish on the three takeaways: it finds the mess, fixes it safely, and proves it worked. Show the repository link and thank the judges. Invite questions and offer a live demo.</a:t>
            </a:r>
            <a:endParaRPr/>
          </a:p>
        </p:txBody>
      </p:sp>
      <p:sp>
        <p:nvSpPr>
          <p:cNvPr id="475" name="Google Shape;47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9.png"/><Relationship Id="rId8"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4.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23.png"/><Relationship Id="rId5" Type="http://schemas.openxmlformats.org/officeDocument/2006/relationships/image" Target="../media/image21.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8.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6.png"/><Relationship Id="rId4" Type="http://schemas.openxmlformats.org/officeDocument/2006/relationships/image" Target="../media/image22.png"/><Relationship Id="rId5" Type="http://schemas.openxmlformats.org/officeDocument/2006/relationships/image" Target="../media/image31.png"/><Relationship Id="rId6" Type="http://schemas.openxmlformats.org/officeDocument/2006/relationships/image" Target="../media/image11.png"/><Relationship Id="rId7"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github.com/data-shubha/dq-guardian-cocoques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4770"/>
        </a:solidFill>
      </p:bgPr>
    </p:bg>
    <p:spTree>
      <p:nvGrpSpPr>
        <p:cNvPr id="15" name="Shape 15"/>
        <p:cNvGrpSpPr/>
        <p:nvPr/>
      </p:nvGrpSpPr>
      <p:grpSpPr>
        <a:xfrm>
          <a:off x="0" y="0"/>
          <a:ext cx="0" cy="0"/>
          <a:chOff x="0" y="0"/>
          <a:chExt cx="0" cy="0"/>
        </a:xfrm>
      </p:grpSpPr>
      <p:sp>
        <p:nvSpPr>
          <p:cNvPr id="16" name="Google Shape;16;p1"/>
          <p:cNvSpPr/>
          <p:nvPr/>
        </p:nvSpPr>
        <p:spPr>
          <a:xfrm>
            <a:off x="0" y="0"/>
            <a:ext cx="12192001" cy="6858000"/>
          </a:xfrm>
          <a:prstGeom prst="rect">
            <a:avLst/>
          </a:prstGeom>
          <a:gradFill>
            <a:gsLst>
              <a:gs pos="0">
                <a:srgbClr val="1B4770"/>
              </a:gs>
              <a:gs pos="62000">
                <a:srgbClr val="0B2239"/>
              </a:gs>
              <a:gs pos="100000">
                <a:srgbClr val="0B2239"/>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8848725" y="1914525"/>
            <a:ext cx="2520910" cy="2520910"/>
          </a:xfrm>
          <a:prstGeom prst="roundRect">
            <a:avLst>
              <a:gd fmla="val 50000" name="adj"/>
            </a:avLst>
          </a:prstGeom>
          <a:solidFill>
            <a:srgbClr val="123553"/>
          </a:solidFill>
          <a:ln cap="flat" cmpd="sng" w="19050">
            <a:solidFill>
              <a:srgbClr val="3FC1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Verified" id="18" name="Google Shape;18;p1"/>
          <p:cNvPicPr preferRelativeResize="0"/>
          <p:nvPr/>
        </p:nvPicPr>
        <p:blipFill rotWithShape="1">
          <a:blip r:embed="rId3">
            <a:alphaModFix/>
          </a:blip>
          <a:srcRect b="0" l="0" r="0" t="0"/>
          <a:stretch/>
        </p:blipFill>
        <p:spPr>
          <a:xfrm>
            <a:off x="9474160" y="2539960"/>
            <a:ext cx="1269921" cy="1269921"/>
          </a:xfrm>
          <a:prstGeom prst="rect">
            <a:avLst/>
          </a:prstGeom>
          <a:noFill/>
          <a:ln>
            <a:noFill/>
          </a:ln>
        </p:spPr>
      </p:pic>
      <p:sp>
        <p:nvSpPr>
          <p:cNvPr id="19" name="Google Shape;19;p1"/>
          <p:cNvSpPr/>
          <p:nvPr/>
        </p:nvSpPr>
        <p:spPr>
          <a:xfrm>
            <a:off x="812721" y="1690688"/>
            <a:ext cx="10883556"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FC1F0"/>
              </a:buClr>
              <a:buSzPts val="1400"/>
              <a:buFont typeface="IBM Plex Sans"/>
              <a:buNone/>
            </a:pPr>
            <a:r>
              <a:rPr b="1" i="0" lang="en-US" sz="1400" u="none" cap="none" strike="noStrike">
                <a:solidFill>
                  <a:srgbClr val="3FC1F0"/>
                </a:solidFill>
                <a:latin typeface="IBM Plex Sans"/>
                <a:ea typeface="IBM Plex Sans"/>
                <a:cs typeface="IBM Plex Sans"/>
                <a:sym typeface="IBM Plex Sans"/>
              </a:rPr>
              <a:t>COCOQUEST 2026 · THEME 1</a:t>
            </a:r>
            <a:endParaRPr b="0" i="0" sz="1400" u="none" cap="none" strike="noStrike">
              <a:solidFill>
                <a:schemeClr val="dk1"/>
              </a:solidFill>
              <a:latin typeface="Calibri"/>
              <a:ea typeface="Calibri"/>
              <a:cs typeface="Calibri"/>
              <a:sym typeface="Calibri"/>
            </a:endParaRPr>
          </a:p>
        </p:txBody>
      </p:sp>
      <p:sp>
        <p:nvSpPr>
          <p:cNvPr id="20" name="Google Shape;20;p1"/>
          <p:cNvSpPr/>
          <p:nvPr/>
        </p:nvSpPr>
        <p:spPr>
          <a:xfrm>
            <a:off x="812721" y="2142649"/>
            <a:ext cx="7717749" cy="162560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F2F6F9"/>
              </a:buClr>
              <a:buSzPts val="6000"/>
              <a:buFont typeface="Rubik"/>
              <a:buNone/>
            </a:pPr>
            <a:r>
              <a:rPr b="1" i="0" lang="en-US" sz="6000" u="none" cap="none" strike="noStrike">
                <a:solidFill>
                  <a:srgbClr val="F2F6F9"/>
                </a:solidFill>
                <a:latin typeface="Rubik"/>
                <a:ea typeface="Rubik"/>
                <a:cs typeface="Rubik"/>
                <a:sym typeface="Rubik"/>
              </a:rPr>
              <a:t>Agentic Data Quality Guardian</a:t>
            </a:r>
            <a:endParaRPr b="0" i="0" sz="6000" u="none" cap="none" strike="noStrike">
              <a:solidFill>
                <a:schemeClr val="dk1"/>
              </a:solidFill>
              <a:latin typeface="Calibri"/>
              <a:ea typeface="Calibri"/>
              <a:cs typeface="Calibri"/>
              <a:sym typeface="Calibri"/>
            </a:endParaRPr>
          </a:p>
        </p:txBody>
      </p:sp>
      <p:sp>
        <p:nvSpPr>
          <p:cNvPr id="21" name="Google Shape;21;p1"/>
          <p:cNvSpPr/>
          <p:nvPr/>
        </p:nvSpPr>
        <p:spPr>
          <a:xfrm>
            <a:off x="812721" y="3945970"/>
            <a:ext cx="7325319" cy="710962"/>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B9CDDD"/>
              </a:buClr>
              <a:buSzPts val="2000"/>
              <a:buFont typeface="IBM Plex Sans"/>
              <a:buNone/>
            </a:pPr>
            <a:r>
              <a:rPr b="0" i="0" lang="en-US" sz="2000" u="none" cap="none" strike="noStrike">
                <a:solidFill>
                  <a:srgbClr val="B9CDDD"/>
                </a:solidFill>
                <a:latin typeface="IBM Plex Sans"/>
                <a:ea typeface="IBM Plex Sans"/>
                <a:cs typeface="IBM Plex Sans"/>
                <a:sym typeface="IBM Plex Sans"/>
              </a:rPr>
              <a:t>It finds messy data, proposes fixes, and applies them safely, only after a human says yes.</a:t>
            </a:r>
            <a:endParaRPr b="0" i="0" sz="2000" u="none" cap="none" strike="noStrike">
              <a:solidFill>
                <a:schemeClr val="dk1"/>
              </a:solidFill>
              <a:latin typeface="Calibri"/>
              <a:ea typeface="Calibri"/>
              <a:cs typeface="Calibri"/>
              <a:sym typeface="Calibri"/>
            </a:endParaRPr>
          </a:p>
        </p:txBody>
      </p:sp>
      <p:sp>
        <p:nvSpPr>
          <p:cNvPr id="22" name="Google Shape;22;p1"/>
          <p:cNvSpPr/>
          <p:nvPr/>
        </p:nvSpPr>
        <p:spPr>
          <a:xfrm>
            <a:off x="812721" y="4834652"/>
            <a:ext cx="1083350" cy="332542"/>
          </a:xfrm>
          <a:prstGeom prst="roundRect">
            <a:avLst>
              <a:gd fmla="val 50000" name="adj"/>
            </a:avLst>
          </a:prstGeom>
          <a:solidFill>
            <a:srgbClr val="1B47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
          <p:cNvSpPr/>
          <p:nvPr/>
        </p:nvSpPr>
        <p:spPr>
          <a:xfrm>
            <a:off x="952421" y="4885452"/>
            <a:ext cx="854750" cy="25634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AF2F8"/>
              </a:buClr>
              <a:buSzPts val="1300"/>
              <a:buFont typeface="IBM Plex Sans"/>
              <a:buNone/>
            </a:pPr>
            <a:r>
              <a:rPr b="1" i="0" lang="en-US" sz="1300" u="none" cap="none" strike="noStrike">
                <a:solidFill>
                  <a:srgbClr val="EAF2F8"/>
                </a:solidFill>
                <a:latin typeface="IBM Plex Sans"/>
                <a:ea typeface="IBM Plex Sans"/>
                <a:cs typeface="IBM Plex Sans"/>
                <a:sym typeface="IBM Plex Sans"/>
              </a:rPr>
              <a:t>Snowflake</a:t>
            </a:r>
            <a:endParaRPr b="0" i="0" sz="1300" u="none" cap="none" strike="noStrike">
              <a:solidFill>
                <a:schemeClr val="dk1"/>
              </a:solidFill>
              <a:latin typeface="Calibri"/>
              <a:ea typeface="Calibri"/>
              <a:cs typeface="Calibri"/>
              <a:sym typeface="Calibri"/>
            </a:endParaRPr>
          </a:p>
        </p:txBody>
      </p:sp>
      <p:sp>
        <p:nvSpPr>
          <p:cNvPr id="24" name="Google Shape;24;p1"/>
          <p:cNvSpPr/>
          <p:nvPr/>
        </p:nvSpPr>
        <p:spPr>
          <a:xfrm>
            <a:off x="1997631" y="4834652"/>
            <a:ext cx="992029" cy="332542"/>
          </a:xfrm>
          <a:prstGeom prst="roundRect">
            <a:avLst>
              <a:gd fmla="val 50000" name="adj"/>
            </a:avLst>
          </a:prstGeom>
          <a:solidFill>
            <a:srgbClr val="1B47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
          <p:cNvSpPr/>
          <p:nvPr/>
        </p:nvSpPr>
        <p:spPr>
          <a:xfrm>
            <a:off x="2137331" y="4885452"/>
            <a:ext cx="763429" cy="25634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AF2F8"/>
              </a:buClr>
              <a:buSzPts val="1300"/>
              <a:buFont typeface="IBM Plex Sans"/>
              <a:buNone/>
            </a:pPr>
            <a:r>
              <a:rPr b="1" i="0" lang="en-US" sz="1300" u="none" cap="none" strike="noStrike">
                <a:solidFill>
                  <a:srgbClr val="EAF2F8"/>
                </a:solidFill>
                <a:latin typeface="IBM Plex Sans"/>
                <a:ea typeface="IBM Plex Sans"/>
                <a:cs typeface="IBM Plex Sans"/>
                <a:sym typeface="IBM Plex Sans"/>
              </a:rPr>
              <a:t>Streamlit</a:t>
            </a:r>
            <a:endParaRPr b="0" i="0" sz="1300" u="none" cap="none" strike="noStrike">
              <a:solidFill>
                <a:schemeClr val="dk1"/>
              </a:solidFill>
              <a:latin typeface="Calibri"/>
              <a:ea typeface="Calibri"/>
              <a:cs typeface="Calibri"/>
              <a:sym typeface="Calibri"/>
            </a:endParaRPr>
          </a:p>
        </p:txBody>
      </p:sp>
      <p:sp>
        <p:nvSpPr>
          <p:cNvPr id="26" name="Google Shape;26;p1"/>
          <p:cNvSpPr/>
          <p:nvPr/>
        </p:nvSpPr>
        <p:spPr>
          <a:xfrm>
            <a:off x="3091220" y="4834652"/>
            <a:ext cx="1003935" cy="332542"/>
          </a:xfrm>
          <a:prstGeom prst="roundRect">
            <a:avLst>
              <a:gd fmla="val 50000" name="adj"/>
            </a:avLst>
          </a:prstGeom>
          <a:solidFill>
            <a:srgbClr val="1B47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
          <p:cNvSpPr/>
          <p:nvPr/>
        </p:nvSpPr>
        <p:spPr>
          <a:xfrm>
            <a:off x="3230920" y="4885452"/>
            <a:ext cx="775335" cy="25634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AF2F8"/>
              </a:buClr>
              <a:buSzPts val="1300"/>
              <a:buFont typeface="IBM Plex Sans"/>
              <a:buNone/>
            </a:pPr>
            <a:r>
              <a:rPr b="1" i="0" lang="en-US" sz="1300" u="none" cap="none" strike="noStrike">
                <a:solidFill>
                  <a:srgbClr val="EAF2F8"/>
                </a:solidFill>
                <a:latin typeface="IBM Plex Sans"/>
                <a:ea typeface="IBM Plex Sans"/>
                <a:cs typeface="IBM Plex Sans"/>
                <a:sym typeface="IBM Plex Sans"/>
              </a:rPr>
              <a:t>Cortex AI</a:t>
            </a:r>
            <a:endParaRPr b="0" i="0" sz="1300" u="none" cap="none" strike="noStrike">
              <a:solidFill>
                <a:schemeClr val="dk1"/>
              </a:solidFill>
              <a:latin typeface="Calibri"/>
              <a:ea typeface="Calibri"/>
              <a:cs typeface="Calibri"/>
              <a:sym typeface="Calibri"/>
            </a:endParaRPr>
          </a:p>
        </p:txBody>
      </p:sp>
      <p:sp>
        <p:nvSpPr>
          <p:cNvPr id="28" name="Google Shape;28;p1"/>
          <p:cNvSpPr/>
          <p:nvPr/>
        </p:nvSpPr>
        <p:spPr>
          <a:xfrm>
            <a:off x="4196715" y="4834652"/>
            <a:ext cx="677108" cy="332542"/>
          </a:xfrm>
          <a:prstGeom prst="roundRect">
            <a:avLst>
              <a:gd fmla="val 50000" name="adj"/>
            </a:avLst>
          </a:prstGeom>
          <a:solidFill>
            <a:srgbClr val="1B47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
          <p:cNvSpPr/>
          <p:nvPr/>
        </p:nvSpPr>
        <p:spPr>
          <a:xfrm>
            <a:off x="4336415" y="4885452"/>
            <a:ext cx="448508" cy="25634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AF2F8"/>
              </a:buClr>
              <a:buSzPts val="1300"/>
              <a:buFont typeface="IBM Plex Sans"/>
              <a:buNone/>
            </a:pPr>
            <a:r>
              <a:rPr b="1" i="0" lang="en-US" sz="1300" u="none" cap="none" strike="noStrike">
                <a:solidFill>
                  <a:srgbClr val="EAF2F8"/>
                </a:solidFill>
                <a:latin typeface="IBM Plex Sans"/>
                <a:ea typeface="IBM Plex Sans"/>
                <a:cs typeface="IBM Plex Sans"/>
                <a:sym typeface="IBM Plex Sans"/>
              </a:rPr>
              <a:t>CoCo</a:t>
            </a:r>
            <a:endParaRPr b="0" i="0" sz="1300" u="none" cap="none" strike="noStrike">
              <a:solidFill>
                <a:schemeClr val="dk1"/>
              </a:solidFill>
              <a:latin typeface="Calibri"/>
              <a:ea typeface="Calibri"/>
              <a:cs typeface="Calibri"/>
              <a:sym typeface="Calibri"/>
            </a:endParaRPr>
          </a:p>
        </p:txBody>
      </p:sp>
      <p:sp>
        <p:nvSpPr>
          <p:cNvPr id="30" name="Google Shape;30;p1"/>
          <p:cNvSpPr/>
          <p:nvPr/>
        </p:nvSpPr>
        <p:spPr>
          <a:xfrm>
            <a:off x="812721" y="6202799"/>
            <a:ext cx="7194469"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DB6CC"/>
              </a:buClr>
              <a:buSzPts val="1400"/>
              <a:buFont typeface="IBM Plex Sans"/>
              <a:buNone/>
            </a:pPr>
            <a:r>
              <a:rPr b="0" i="0" lang="en-US" sz="1400" u="none" cap="none" strike="noStrike">
                <a:solidFill>
                  <a:srgbClr val="9DB6CC"/>
                </a:solidFill>
                <a:latin typeface="IBM Plex Sans"/>
                <a:ea typeface="IBM Plex Sans"/>
                <a:cs typeface="IBM Plex Sans"/>
                <a:sym typeface="IBM Plex Sans"/>
              </a:rPr>
              <a:t>[Bimal Pattnaik] · [Binayak Ransigh] . [Shubha Prasad Mohanty]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35" name="Shape 35"/>
        <p:cNvGrpSpPr/>
        <p:nvPr/>
      </p:nvGrpSpPr>
      <p:grpSpPr>
        <a:xfrm>
          <a:off x="0" y="0"/>
          <a:ext cx="0" cy="0"/>
          <a:chOff x="0" y="0"/>
          <a:chExt cx="0" cy="0"/>
        </a:xfrm>
      </p:grpSpPr>
      <p:sp>
        <p:nvSpPr>
          <p:cNvPr id="36" name="Google Shape;36;p2"/>
          <p:cNvSpPr/>
          <p:nvPr/>
        </p:nvSpPr>
        <p:spPr>
          <a:xfrm>
            <a:off x="812721" y="812721"/>
            <a:ext cx="10883556" cy="5003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F2A43"/>
              </a:buClr>
              <a:buSzPts val="3400"/>
              <a:buFont typeface="Rubik"/>
              <a:buNone/>
            </a:pPr>
            <a:r>
              <a:rPr b="1" i="0" lang="en-US" sz="3400" u="none" cap="none" strike="noStrike">
                <a:solidFill>
                  <a:srgbClr val="0F2A43"/>
                </a:solidFill>
                <a:latin typeface="Rubik"/>
                <a:ea typeface="Rubik"/>
                <a:cs typeface="Rubik"/>
                <a:sym typeface="Rubik"/>
              </a:rPr>
              <a:t>Messy data breaks reports, deliveries and trust</a:t>
            </a:r>
            <a:endParaRPr b="0" i="0" sz="3400" u="none" cap="none" strike="noStrike">
              <a:solidFill>
                <a:schemeClr val="dk1"/>
              </a:solidFill>
              <a:latin typeface="Calibri"/>
              <a:ea typeface="Calibri"/>
              <a:cs typeface="Calibri"/>
              <a:sym typeface="Calibri"/>
            </a:endParaRPr>
          </a:p>
        </p:txBody>
      </p:sp>
      <p:sp>
        <p:nvSpPr>
          <p:cNvPr id="37" name="Google Shape;37;p2"/>
          <p:cNvSpPr/>
          <p:nvPr/>
        </p:nvSpPr>
        <p:spPr>
          <a:xfrm>
            <a:off x="815896" y="1544796"/>
            <a:ext cx="10560209" cy="2884964"/>
          </a:xfrm>
          <a:prstGeom prst="roundRect">
            <a:avLst>
              <a:gd fmla="val 5173" name="adj"/>
            </a:avLst>
          </a:prstGeom>
          <a:solidFill>
            <a:srgbClr val="FAFCFD"/>
          </a:solidFill>
          <a:ln cap="flat" cmpd="sng" w="9525">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38" name="Google Shape;38;p2"/>
          <p:cNvGraphicFramePr/>
          <p:nvPr/>
        </p:nvGraphicFramePr>
        <p:xfrm>
          <a:off x="921901" y="1650802"/>
          <a:ext cx="3000000" cy="3000000"/>
        </p:xfrm>
        <a:graphic>
          <a:graphicData uri="http://schemas.openxmlformats.org/drawingml/2006/table">
            <a:tbl>
              <a:tblPr>
                <a:noFill/>
                <a:tableStyleId>{22987BC9-52AB-4815-9B8F-11794E623275}</a:tableStyleId>
              </a:tblPr>
              <a:tblGrid>
                <a:gridCol w="3414900"/>
                <a:gridCol w="3518400"/>
                <a:gridCol w="3414900"/>
              </a:tblGrid>
              <a:tr h="380750">
                <a:tc>
                  <a:txBody>
                    <a:bodyPr/>
                    <a:lstStyle/>
                    <a:p>
                      <a:pPr indent="0" lvl="0" marL="0" marR="0" rtl="0" algn="l">
                        <a:lnSpc>
                          <a:spcPct val="140000"/>
                        </a:lnSpc>
                        <a:spcBef>
                          <a:spcPts val="0"/>
                        </a:spcBef>
                        <a:spcAft>
                          <a:spcPts val="0"/>
                        </a:spcAft>
                        <a:buClr>
                          <a:srgbClr val="0F2A43"/>
                        </a:buClr>
                        <a:buSzPts val="1400"/>
                        <a:buFont typeface="IBM Plex Sans"/>
                        <a:buNone/>
                      </a:pPr>
                      <a:r>
                        <a:rPr b="1" lang="en-US" sz="1400" u="none" cap="none" strike="noStrike">
                          <a:solidFill>
                            <a:srgbClr val="0F2A43"/>
                          </a:solidFill>
                          <a:latin typeface="IBM Plex Sans"/>
                          <a:ea typeface="IBM Plex Sans"/>
                          <a:cs typeface="IBM Plex Sans"/>
                          <a:sym typeface="IBM Plex Sans"/>
                        </a:rPr>
                        <a:t>What is in the table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solidFill>
                      <a:srgbClr val="E0E6EA"/>
                    </a:solidFill>
                  </a:tcPr>
                </a:tc>
                <a:tc>
                  <a:txBody>
                    <a:bodyPr/>
                    <a:lstStyle/>
                    <a:p>
                      <a:pPr indent="0" lvl="0" marL="0" marR="0" rtl="0" algn="l">
                        <a:lnSpc>
                          <a:spcPct val="140000"/>
                        </a:lnSpc>
                        <a:spcBef>
                          <a:spcPts val="0"/>
                        </a:spcBef>
                        <a:spcAft>
                          <a:spcPts val="0"/>
                        </a:spcAft>
                        <a:buClr>
                          <a:srgbClr val="0F2A43"/>
                        </a:buClr>
                        <a:buSzPts val="1400"/>
                        <a:buFont typeface="IBM Plex Sans"/>
                        <a:buNone/>
                      </a:pPr>
                      <a:r>
                        <a:rPr b="1" lang="en-US" sz="1400" u="none" cap="none" strike="noStrike">
                          <a:solidFill>
                            <a:srgbClr val="0F2A43"/>
                          </a:solidFill>
                          <a:latin typeface="IBM Plex Sans"/>
                          <a:ea typeface="IBM Plex Sans"/>
                          <a:cs typeface="IBM Plex Sans"/>
                          <a:sym typeface="IBM Plex Sans"/>
                        </a:rPr>
                        <a:t>What is wrong</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solidFill>
                      <a:srgbClr val="E0E6EA"/>
                    </a:solidFill>
                  </a:tcPr>
                </a:tc>
                <a:tc>
                  <a:txBody>
                    <a:bodyPr/>
                    <a:lstStyle/>
                    <a:p>
                      <a:pPr indent="0" lvl="0" marL="0" marR="0" rtl="0" algn="l">
                        <a:lnSpc>
                          <a:spcPct val="140000"/>
                        </a:lnSpc>
                        <a:spcBef>
                          <a:spcPts val="0"/>
                        </a:spcBef>
                        <a:spcAft>
                          <a:spcPts val="0"/>
                        </a:spcAft>
                        <a:buClr>
                          <a:srgbClr val="0F2A43"/>
                        </a:buClr>
                        <a:buSzPts val="1400"/>
                        <a:buFont typeface="IBM Plex Sans"/>
                        <a:buNone/>
                      </a:pPr>
                      <a:r>
                        <a:rPr b="1" lang="en-US" sz="1400" u="none" cap="none" strike="noStrike">
                          <a:solidFill>
                            <a:srgbClr val="0F2A43"/>
                          </a:solidFill>
                          <a:latin typeface="IBM Plex Sans"/>
                          <a:ea typeface="IBM Plex Sans"/>
                          <a:cs typeface="IBM Plex Sans"/>
                          <a:sym typeface="IBM Plex Sans"/>
                        </a:rPr>
                        <a:t>What it breaks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solidFill>
                      <a:srgbClr val="E0E6EA"/>
                    </a:solidFill>
                  </a:tcPr>
                </a:tc>
              </a:tr>
              <a:tr h="380750">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ravi.example.com</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No @ sign in the email</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Marketing emails bounce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r>
              <a:tr h="380750">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+91-98765 43210</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Phone typed in another format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SMS delivery fails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r>
              <a:tr h="380750">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ODISHA next to Odisha</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Same state, two spellings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One region shows up as two</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r>
              <a:tr h="380750">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The same customer, twice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Exact duplicate row</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Revenue is counted twice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r>
              <a:tr h="380750">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Order for customer 900127</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That customer does not exist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Joins and dashboards break</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r>
              <a:tr h="380750">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Shipped before ordered</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Impossible date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400"/>
                        <a:buFont typeface="IBM Plex Sans"/>
                        <a:buNone/>
                      </a:pPr>
                      <a:r>
                        <a:rPr lang="en-US" sz="1400" u="none" cap="none" strike="noStrike">
                          <a:solidFill>
                            <a:srgbClr val="0F2A43"/>
                          </a:solidFill>
                          <a:latin typeface="IBM Plex Sans"/>
                          <a:ea typeface="IBM Plex Sans"/>
                          <a:cs typeface="IBM Plex Sans"/>
                          <a:sym typeface="IBM Plex Sans"/>
                        </a:rPr>
                        <a:t>Delivery metrics are wrong</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r>
            </a:tbl>
          </a:graphicData>
        </a:graphic>
      </p:graphicFrame>
      <p:sp>
        <p:nvSpPr>
          <p:cNvPr id="39" name="Google Shape;39;p2"/>
          <p:cNvSpPr/>
          <p:nvPr/>
        </p:nvSpPr>
        <p:spPr>
          <a:xfrm>
            <a:off x="812721" y="4686896"/>
            <a:ext cx="10883556" cy="3098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600"/>
              <a:buFont typeface="IBM Plex Sans"/>
              <a:buNone/>
            </a:pPr>
            <a:r>
              <a:rPr b="0" i="0" lang="en-US" sz="1600" u="none" cap="none" strike="noStrike">
                <a:solidFill>
                  <a:srgbClr val="0F2A43"/>
                </a:solidFill>
                <a:latin typeface="IBM Plex Sans"/>
                <a:ea typeface="IBM Plex Sans"/>
                <a:cs typeface="IBM Plex Sans"/>
                <a:sym typeface="IBM Plex Sans"/>
              </a:rPr>
              <a:t>Real tables have thousands of these problems, and checking them by hand does not scale.</a:t>
            </a:r>
            <a:endParaRPr b="0" i="0" sz="1600" u="none" cap="none" strike="noStrike">
              <a:solidFill>
                <a:schemeClr val="dk1"/>
              </a:solidFill>
              <a:latin typeface="Calibri"/>
              <a:ea typeface="Calibri"/>
              <a:cs typeface="Calibri"/>
              <a:sym typeface="Calibri"/>
            </a:endParaRPr>
          </a:p>
        </p:txBody>
      </p:sp>
      <p:sp>
        <p:nvSpPr>
          <p:cNvPr id="40" name="Google Shape;40;p2"/>
          <p:cNvSpPr/>
          <p:nvPr/>
        </p:nvSpPr>
        <p:spPr>
          <a:xfrm>
            <a:off x="812721" y="6238280"/>
            <a:ext cx="719446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Agentic Data Quality Guardian · CoCoQuest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239"/>
        </a:solidFill>
      </p:bgPr>
    </p:bg>
    <p:spTree>
      <p:nvGrpSpPr>
        <p:cNvPr id="45" name="Shape 45"/>
        <p:cNvGrpSpPr/>
        <p:nvPr/>
      </p:nvGrpSpPr>
      <p:grpSpPr>
        <a:xfrm>
          <a:off x="0" y="0"/>
          <a:ext cx="0" cy="0"/>
          <a:chOff x="0" y="0"/>
          <a:chExt cx="0" cy="0"/>
        </a:xfrm>
      </p:grpSpPr>
      <p:sp>
        <p:nvSpPr>
          <p:cNvPr id="46" name="Google Shape;46;p3"/>
          <p:cNvSpPr/>
          <p:nvPr/>
        </p:nvSpPr>
        <p:spPr>
          <a:xfrm>
            <a:off x="812721" y="812721"/>
            <a:ext cx="10883556" cy="5003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EAF2F8"/>
              </a:buClr>
              <a:buSzPts val="3400"/>
              <a:buFont typeface="Rubik"/>
              <a:buNone/>
            </a:pPr>
            <a:r>
              <a:rPr b="1" i="0" lang="en-US" sz="3400" u="none" cap="none" strike="noStrike">
                <a:solidFill>
                  <a:srgbClr val="EAF2F8"/>
                </a:solidFill>
                <a:latin typeface="Rubik"/>
                <a:ea typeface="Rubik"/>
                <a:cs typeface="Rubik"/>
                <a:sym typeface="Rubik"/>
              </a:rPr>
              <a:t>One agent loop, with a human in control</a:t>
            </a:r>
            <a:endParaRPr b="0" i="0" sz="3400" u="none" cap="none" strike="noStrike">
              <a:solidFill>
                <a:schemeClr val="dk1"/>
              </a:solidFill>
              <a:latin typeface="Calibri"/>
              <a:ea typeface="Calibri"/>
              <a:cs typeface="Calibri"/>
              <a:sym typeface="Calibri"/>
            </a:endParaRPr>
          </a:p>
        </p:txBody>
      </p:sp>
      <p:sp>
        <p:nvSpPr>
          <p:cNvPr id="47" name="Google Shape;47;p3"/>
          <p:cNvSpPr/>
          <p:nvPr/>
        </p:nvSpPr>
        <p:spPr>
          <a:xfrm>
            <a:off x="815896" y="1544797"/>
            <a:ext cx="3380383" cy="1744821"/>
          </a:xfrm>
          <a:prstGeom prst="roundRect">
            <a:avLst>
              <a:gd fmla="val 8552"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3"/>
          <p:cNvSpPr/>
          <p:nvPr/>
        </p:nvSpPr>
        <p:spPr>
          <a:xfrm>
            <a:off x="1023461" y="1752363"/>
            <a:ext cx="457200" cy="457200"/>
          </a:xfrm>
          <a:prstGeom prst="roundRect">
            <a:avLst>
              <a:gd fmla="val 50000" name="adj"/>
            </a:avLst>
          </a:prstGeom>
          <a:solidFill>
            <a:srgbClr val="1B47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Search" id="49" name="Google Shape;49;p3"/>
          <p:cNvPicPr preferRelativeResize="0"/>
          <p:nvPr/>
        </p:nvPicPr>
        <p:blipFill rotWithShape="1">
          <a:blip r:embed="rId3">
            <a:alphaModFix/>
          </a:blip>
          <a:srcRect b="0" l="0" r="0" t="0"/>
          <a:stretch/>
        </p:blipFill>
        <p:spPr>
          <a:xfrm>
            <a:off x="1125022" y="1853922"/>
            <a:ext cx="253960" cy="253960"/>
          </a:xfrm>
          <a:prstGeom prst="rect">
            <a:avLst/>
          </a:prstGeom>
          <a:noFill/>
          <a:ln>
            <a:noFill/>
          </a:ln>
        </p:spPr>
      </p:pic>
      <p:sp>
        <p:nvSpPr>
          <p:cNvPr id="50" name="Google Shape;50;p3"/>
          <p:cNvSpPr/>
          <p:nvPr/>
        </p:nvSpPr>
        <p:spPr>
          <a:xfrm>
            <a:off x="1023461" y="2285763"/>
            <a:ext cx="3054209" cy="299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800"/>
              <a:buFont typeface="Rubik"/>
              <a:buNone/>
            </a:pPr>
            <a:r>
              <a:rPr b="1" i="0" lang="en-US" sz="1800" u="none" cap="none" strike="noStrike">
                <a:solidFill>
                  <a:srgbClr val="EAF2F8"/>
                </a:solidFill>
                <a:latin typeface="Rubik"/>
                <a:ea typeface="Rubik"/>
                <a:cs typeface="Rubik"/>
                <a:sym typeface="Rubik"/>
              </a:rPr>
              <a:t>Discover</a:t>
            </a:r>
            <a:endParaRPr b="0" i="0" sz="1800" u="none" cap="none" strike="noStrike">
              <a:solidFill>
                <a:schemeClr val="dk1"/>
              </a:solidFill>
              <a:latin typeface="Calibri"/>
              <a:ea typeface="Calibri"/>
              <a:cs typeface="Calibri"/>
              <a:sym typeface="Calibri"/>
            </a:endParaRPr>
          </a:p>
        </p:txBody>
      </p:sp>
      <p:sp>
        <p:nvSpPr>
          <p:cNvPr id="51" name="Google Shape;51;p3"/>
          <p:cNvSpPr/>
          <p:nvPr/>
        </p:nvSpPr>
        <p:spPr>
          <a:xfrm>
            <a:off x="1023461" y="2636282"/>
            <a:ext cx="3054209" cy="47117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Profiles every column and writes its own quality rules.</a:t>
            </a:r>
            <a:endParaRPr b="0" i="0" sz="1300" u="none" cap="none" strike="noStrike">
              <a:solidFill>
                <a:schemeClr val="dk1"/>
              </a:solidFill>
              <a:latin typeface="Calibri"/>
              <a:ea typeface="Calibri"/>
              <a:cs typeface="Calibri"/>
              <a:sym typeface="Calibri"/>
            </a:endParaRPr>
          </a:p>
        </p:txBody>
      </p:sp>
      <p:sp>
        <p:nvSpPr>
          <p:cNvPr id="52" name="Google Shape;52;p3"/>
          <p:cNvSpPr/>
          <p:nvPr/>
        </p:nvSpPr>
        <p:spPr>
          <a:xfrm>
            <a:off x="4405749" y="1544797"/>
            <a:ext cx="3380383" cy="1744821"/>
          </a:xfrm>
          <a:prstGeom prst="roundRect">
            <a:avLst>
              <a:gd fmla="val 8552"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
          <p:cNvSpPr/>
          <p:nvPr/>
        </p:nvSpPr>
        <p:spPr>
          <a:xfrm>
            <a:off x="4613315" y="1752363"/>
            <a:ext cx="457200" cy="457200"/>
          </a:xfrm>
          <a:prstGeom prst="roundRect">
            <a:avLst>
              <a:gd fmla="val 50000" name="adj"/>
            </a:avLst>
          </a:prstGeom>
          <a:solidFill>
            <a:srgbClr val="1B47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ctivity" id="54" name="Google Shape;54;p3"/>
          <p:cNvPicPr preferRelativeResize="0"/>
          <p:nvPr/>
        </p:nvPicPr>
        <p:blipFill rotWithShape="1">
          <a:blip r:embed="rId4">
            <a:alphaModFix/>
          </a:blip>
          <a:srcRect b="0" l="0" r="0" t="0"/>
          <a:stretch/>
        </p:blipFill>
        <p:spPr>
          <a:xfrm>
            <a:off x="4714875" y="1853922"/>
            <a:ext cx="253960" cy="253960"/>
          </a:xfrm>
          <a:prstGeom prst="rect">
            <a:avLst/>
          </a:prstGeom>
          <a:noFill/>
          <a:ln>
            <a:noFill/>
          </a:ln>
        </p:spPr>
      </p:pic>
      <p:sp>
        <p:nvSpPr>
          <p:cNvPr id="55" name="Google Shape;55;p3"/>
          <p:cNvSpPr/>
          <p:nvPr/>
        </p:nvSpPr>
        <p:spPr>
          <a:xfrm>
            <a:off x="4613315" y="2285763"/>
            <a:ext cx="3054209" cy="299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800"/>
              <a:buFont typeface="Rubik"/>
              <a:buNone/>
            </a:pPr>
            <a:r>
              <a:rPr b="1" i="0" lang="en-US" sz="1800" u="none" cap="none" strike="noStrike">
                <a:solidFill>
                  <a:srgbClr val="EAF2F8"/>
                </a:solidFill>
                <a:latin typeface="Rubik"/>
                <a:ea typeface="Rubik"/>
                <a:cs typeface="Rubik"/>
                <a:sym typeface="Rubik"/>
              </a:rPr>
              <a:t>Scan</a:t>
            </a:r>
            <a:endParaRPr b="0" i="0" sz="1800" u="none" cap="none" strike="noStrike">
              <a:solidFill>
                <a:schemeClr val="dk1"/>
              </a:solidFill>
              <a:latin typeface="Calibri"/>
              <a:ea typeface="Calibri"/>
              <a:cs typeface="Calibri"/>
              <a:sym typeface="Calibri"/>
            </a:endParaRPr>
          </a:p>
        </p:txBody>
      </p:sp>
      <p:sp>
        <p:nvSpPr>
          <p:cNvPr id="56" name="Google Shape;56;p3"/>
          <p:cNvSpPr/>
          <p:nvPr/>
        </p:nvSpPr>
        <p:spPr>
          <a:xfrm>
            <a:off x="4613315" y="2636282"/>
            <a:ext cx="3054209" cy="47117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Runs the rules, finds the bad rows and scores the table from 0 to 100.</a:t>
            </a:r>
            <a:endParaRPr b="0" i="0" sz="1300" u="none" cap="none" strike="noStrike">
              <a:solidFill>
                <a:schemeClr val="dk1"/>
              </a:solidFill>
              <a:latin typeface="Calibri"/>
              <a:ea typeface="Calibri"/>
              <a:cs typeface="Calibri"/>
              <a:sym typeface="Calibri"/>
            </a:endParaRPr>
          </a:p>
        </p:txBody>
      </p:sp>
      <p:sp>
        <p:nvSpPr>
          <p:cNvPr id="57" name="Google Shape;57;p3"/>
          <p:cNvSpPr/>
          <p:nvPr/>
        </p:nvSpPr>
        <p:spPr>
          <a:xfrm>
            <a:off x="7995603" y="1544797"/>
            <a:ext cx="3380502" cy="1744821"/>
          </a:xfrm>
          <a:prstGeom prst="roundRect">
            <a:avLst>
              <a:gd fmla="val 8552"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3"/>
          <p:cNvSpPr/>
          <p:nvPr/>
        </p:nvSpPr>
        <p:spPr>
          <a:xfrm>
            <a:off x="8203168" y="1752363"/>
            <a:ext cx="457200" cy="457200"/>
          </a:xfrm>
          <a:prstGeom prst="roundRect">
            <a:avLst>
              <a:gd fmla="val 50000" name="adj"/>
            </a:avLst>
          </a:prstGeom>
          <a:solidFill>
            <a:srgbClr val="1B47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Wrench" id="59" name="Google Shape;59;p3"/>
          <p:cNvPicPr preferRelativeResize="0"/>
          <p:nvPr/>
        </p:nvPicPr>
        <p:blipFill rotWithShape="1">
          <a:blip r:embed="rId5">
            <a:alphaModFix/>
          </a:blip>
          <a:srcRect b="0" l="0" r="0" t="0"/>
          <a:stretch/>
        </p:blipFill>
        <p:spPr>
          <a:xfrm>
            <a:off x="8304729" y="1853922"/>
            <a:ext cx="253960" cy="253960"/>
          </a:xfrm>
          <a:prstGeom prst="rect">
            <a:avLst/>
          </a:prstGeom>
          <a:noFill/>
          <a:ln>
            <a:noFill/>
          </a:ln>
        </p:spPr>
      </p:pic>
      <p:sp>
        <p:nvSpPr>
          <p:cNvPr id="60" name="Google Shape;60;p3"/>
          <p:cNvSpPr/>
          <p:nvPr/>
        </p:nvSpPr>
        <p:spPr>
          <a:xfrm>
            <a:off x="8203168" y="2285763"/>
            <a:ext cx="3054332" cy="299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800"/>
              <a:buFont typeface="Rubik"/>
              <a:buNone/>
            </a:pPr>
            <a:r>
              <a:rPr b="1" i="0" lang="en-US" sz="1800" u="none" cap="none" strike="noStrike">
                <a:solidFill>
                  <a:srgbClr val="EAF2F8"/>
                </a:solidFill>
                <a:latin typeface="Rubik"/>
                <a:ea typeface="Rubik"/>
                <a:cs typeface="Rubik"/>
                <a:sym typeface="Rubik"/>
              </a:rPr>
              <a:t>Propose</a:t>
            </a:r>
            <a:endParaRPr b="0" i="0" sz="1800" u="none" cap="none" strike="noStrike">
              <a:solidFill>
                <a:schemeClr val="dk1"/>
              </a:solidFill>
              <a:latin typeface="Calibri"/>
              <a:ea typeface="Calibri"/>
              <a:cs typeface="Calibri"/>
              <a:sym typeface="Calibri"/>
            </a:endParaRPr>
          </a:p>
        </p:txBody>
      </p:sp>
      <p:sp>
        <p:nvSpPr>
          <p:cNvPr id="61" name="Google Shape;61;p3"/>
          <p:cNvSpPr/>
          <p:nvPr/>
        </p:nvSpPr>
        <p:spPr>
          <a:xfrm>
            <a:off x="8203168" y="2636282"/>
            <a:ext cx="3054332" cy="47117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Recipes and Cortex AI draft a fix for every failing rule.</a:t>
            </a:r>
            <a:endParaRPr b="0" i="0" sz="1300" u="none" cap="none" strike="noStrike">
              <a:solidFill>
                <a:schemeClr val="dk1"/>
              </a:solidFill>
              <a:latin typeface="Calibri"/>
              <a:ea typeface="Calibri"/>
              <a:cs typeface="Calibri"/>
              <a:sym typeface="Calibri"/>
            </a:endParaRPr>
          </a:p>
        </p:txBody>
      </p:sp>
      <p:sp>
        <p:nvSpPr>
          <p:cNvPr id="62" name="Google Shape;62;p3"/>
          <p:cNvSpPr/>
          <p:nvPr/>
        </p:nvSpPr>
        <p:spPr>
          <a:xfrm>
            <a:off x="815896" y="3499089"/>
            <a:ext cx="3380383" cy="1744821"/>
          </a:xfrm>
          <a:prstGeom prst="roundRect">
            <a:avLst>
              <a:gd fmla="val 8552"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3"/>
          <p:cNvSpPr/>
          <p:nvPr/>
        </p:nvSpPr>
        <p:spPr>
          <a:xfrm>
            <a:off x="1023461" y="3706654"/>
            <a:ext cx="457200" cy="457200"/>
          </a:xfrm>
          <a:prstGeom prst="roundRect">
            <a:avLst>
              <a:gd fmla="val 50000" name="adj"/>
            </a:avLst>
          </a:prstGeom>
          <a:solidFill>
            <a:srgbClr val="1B47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Check" id="64" name="Google Shape;64;p3"/>
          <p:cNvPicPr preferRelativeResize="0"/>
          <p:nvPr/>
        </p:nvPicPr>
        <p:blipFill rotWithShape="1">
          <a:blip r:embed="rId6">
            <a:alphaModFix/>
          </a:blip>
          <a:srcRect b="0" l="0" r="0" t="0"/>
          <a:stretch/>
        </p:blipFill>
        <p:spPr>
          <a:xfrm>
            <a:off x="1125022" y="3808214"/>
            <a:ext cx="253960" cy="253960"/>
          </a:xfrm>
          <a:prstGeom prst="rect">
            <a:avLst/>
          </a:prstGeom>
          <a:noFill/>
          <a:ln>
            <a:noFill/>
          </a:ln>
        </p:spPr>
      </p:pic>
      <p:sp>
        <p:nvSpPr>
          <p:cNvPr id="65" name="Google Shape;65;p3"/>
          <p:cNvSpPr/>
          <p:nvPr/>
        </p:nvSpPr>
        <p:spPr>
          <a:xfrm>
            <a:off x="1023461" y="4240054"/>
            <a:ext cx="3054209" cy="299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800"/>
              <a:buFont typeface="Rubik"/>
              <a:buNone/>
            </a:pPr>
            <a:r>
              <a:rPr b="1" i="0" lang="en-US" sz="1800" u="none" cap="none" strike="noStrike">
                <a:solidFill>
                  <a:srgbClr val="EAF2F8"/>
                </a:solidFill>
                <a:latin typeface="Rubik"/>
                <a:ea typeface="Rubik"/>
                <a:cs typeface="Rubik"/>
                <a:sym typeface="Rubik"/>
              </a:rPr>
              <a:t>Approve</a:t>
            </a:r>
            <a:endParaRPr b="0" i="0" sz="1800" u="none" cap="none" strike="noStrike">
              <a:solidFill>
                <a:schemeClr val="dk1"/>
              </a:solidFill>
              <a:latin typeface="Calibri"/>
              <a:ea typeface="Calibri"/>
              <a:cs typeface="Calibri"/>
              <a:sym typeface="Calibri"/>
            </a:endParaRPr>
          </a:p>
        </p:txBody>
      </p:sp>
      <p:sp>
        <p:nvSpPr>
          <p:cNvPr id="66" name="Google Shape;66;p3"/>
          <p:cNvSpPr/>
          <p:nvPr/>
        </p:nvSpPr>
        <p:spPr>
          <a:xfrm>
            <a:off x="1023461" y="4590574"/>
            <a:ext cx="3054209" cy="47117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You review the SQL, edit it if needed, and tick approve.</a:t>
            </a:r>
            <a:endParaRPr b="0" i="0" sz="1300" u="none" cap="none" strike="noStrike">
              <a:solidFill>
                <a:schemeClr val="dk1"/>
              </a:solidFill>
              <a:latin typeface="Calibri"/>
              <a:ea typeface="Calibri"/>
              <a:cs typeface="Calibri"/>
              <a:sym typeface="Calibri"/>
            </a:endParaRPr>
          </a:p>
        </p:txBody>
      </p:sp>
      <p:sp>
        <p:nvSpPr>
          <p:cNvPr id="67" name="Google Shape;67;p3"/>
          <p:cNvSpPr/>
          <p:nvPr/>
        </p:nvSpPr>
        <p:spPr>
          <a:xfrm>
            <a:off x="4405749" y="3499089"/>
            <a:ext cx="3380383" cy="1744821"/>
          </a:xfrm>
          <a:prstGeom prst="roundRect">
            <a:avLst>
              <a:gd fmla="val 8552"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
          <p:cNvSpPr/>
          <p:nvPr/>
        </p:nvSpPr>
        <p:spPr>
          <a:xfrm>
            <a:off x="4613315" y="3706654"/>
            <a:ext cx="457200" cy="457200"/>
          </a:xfrm>
          <a:prstGeom prst="roundRect">
            <a:avLst>
              <a:gd fmla="val 50000" name="adj"/>
            </a:avLst>
          </a:prstGeom>
          <a:solidFill>
            <a:srgbClr val="1B47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Database" id="69" name="Google Shape;69;p3"/>
          <p:cNvPicPr preferRelativeResize="0"/>
          <p:nvPr/>
        </p:nvPicPr>
        <p:blipFill rotWithShape="1">
          <a:blip r:embed="rId7">
            <a:alphaModFix/>
          </a:blip>
          <a:srcRect b="0" l="0" r="0" t="0"/>
          <a:stretch/>
        </p:blipFill>
        <p:spPr>
          <a:xfrm>
            <a:off x="4714875" y="3808214"/>
            <a:ext cx="253960" cy="253960"/>
          </a:xfrm>
          <a:prstGeom prst="rect">
            <a:avLst/>
          </a:prstGeom>
          <a:noFill/>
          <a:ln>
            <a:noFill/>
          </a:ln>
        </p:spPr>
      </p:pic>
      <p:sp>
        <p:nvSpPr>
          <p:cNvPr id="70" name="Google Shape;70;p3"/>
          <p:cNvSpPr/>
          <p:nvPr/>
        </p:nvSpPr>
        <p:spPr>
          <a:xfrm>
            <a:off x="4613315" y="4240054"/>
            <a:ext cx="3054209" cy="299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800"/>
              <a:buFont typeface="Rubik"/>
              <a:buNone/>
            </a:pPr>
            <a:r>
              <a:rPr b="1" i="0" lang="en-US" sz="1800" u="none" cap="none" strike="noStrike">
                <a:solidFill>
                  <a:srgbClr val="EAF2F8"/>
                </a:solidFill>
                <a:latin typeface="Rubik"/>
                <a:ea typeface="Rubik"/>
                <a:cs typeface="Rubik"/>
                <a:sym typeface="Rubik"/>
              </a:rPr>
              <a:t>Apply and verify</a:t>
            </a:r>
            <a:endParaRPr b="0" i="0" sz="1800" u="none" cap="none" strike="noStrike">
              <a:solidFill>
                <a:schemeClr val="dk1"/>
              </a:solidFill>
              <a:latin typeface="Calibri"/>
              <a:ea typeface="Calibri"/>
              <a:cs typeface="Calibri"/>
              <a:sym typeface="Calibri"/>
            </a:endParaRPr>
          </a:p>
        </p:txBody>
      </p:sp>
      <p:sp>
        <p:nvSpPr>
          <p:cNvPr id="71" name="Google Shape;71;p3"/>
          <p:cNvSpPr/>
          <p:nvPr/>
        </p:nvSpPr>
        <p:spPr>
          <a:xfrm>
            <a:off x="4613315" y="4590574"/>
            <a:ext cx="3054209" cy="47117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Fixes run on a sandbox copy, then the table is scanned again.</a:t>
            </a:r>
            <a:endParaRPr b="0" i="0" sz="1300" u="none" cap="none" strike="noStrike">
              <a:solidFill>
                <a:schemeClr val="dk1"/>
              </a:solidFill>
              <a:latin typeface="Calibri"/>
              <a:ea typeface="Calibri"/>
              <a:cs typeface="Calibri"/>
              <a:sym typeface="Calibri"/>
            </a:endParaRPr>
          </a:p>
        </p:txBody>
      </p:sp>
      <p:sp>
        <p:nvSpPr>
          <p:cNvPr id="72" name="Google Shape;72;p3"/>
          <p:cNvSpPr/>
          <p:nvPr/>
        </p:nvSpPr>
        <p:spPr>
          <a:xfrm>
            <a:off x="7995603" y="3499089"/>
            <a:ext cx="3380502" cy="1744821"/>
          </a:xfrm>
          <a:prstGeom prst="roundRect">
            <a:avLst>
              <a:gd fmla="val 8552"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
          <p:cNvSpPr/>
          <p:nvPr/>
        </p:nvSpPr>
        <p:spPr>
          <a:xfrm>
            <a:off x="8203168" y="3706654"/>
            <a:ext cx="457200" cy="457200"/>
          </a:xfrm>
          <a:prstGeom prst="roundRect">
            <a:avLst>
              <a:gd fmla="val 50000" name="adj"/>
            </a:avLst>
          </a:prstGeom>
          <a:solidFill>
            <a:srgbClr val="1B47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Book" id="74" name="Google Shape;74;p3"/>
          <p:cNvPicPr preferRelativeResize="0"/>
          <p:nvPr/>
        </p:nvPicPr>
        <p:blipFill rotWithShape="1">
          <a:blip r:embed="rId8">
            <a:alphaModFix/>
          </a:blip>
          <a:srcRect b="0" l="0" r="0" t="0"/>
          <a:stretch/>
        </p:blipFill>
        <p:spPr>
          <a:xfrm>
            <a:off x="8304729" y="3808214"/>
            <a:ext cx="253960" cy="253960"/>
          </a:xfrm>
          <a:prstGeom prst="rect">
            <a:avLst/>
          </a:prstGeom>
          <a:noFill/>
          <a:ln>
            <a:noFill/>
          </a:ln>
        </p:spPr>
      </p:pic>
      <p:sp>
        <p:nvSpPr>
          <p:cNvPr id="75" name="Google Shape;75;p3"/>
          <p:cNvSpPr/>
          <p:nvPr/>
        </p:nvSpPr>
        <p:spPr>
          <a:xfrm>
            <a:off x="8203168" y="4240054"/>
            <a:ext cx="3054332" cy="299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800"/>
              <a:buFont typeface="Rubik"/>
              <a:buNone/>
            </a:pPr>
            <a:r>
              <a:rPr b="1" i="0" lang="en-US" sz="1800" u="none" cap="none" strike="noStrike">
                <a:solidFill>
                  <a:srgbClr val="EAF2F8"/>
                </a:solidFill>
                <a:latin typeface="Rubik"/>
                <a:ea typeface="Rubik"/>
                <a:cs typeface="Rubik"/>
                <a:sym typeface="Rubik"/>
              </a:rPr>
              <a:t>Audit</a:t>
            </a:r>
            <a:endParaRPr b="0" i="0" sz="1800" u="none" cap="none" strike="noStrike">
              <a:solidFill>
                <a:schemeClr val="dk1"/>
              </a:solidFill>
              <a:latin typeface="Calibri"/>
              <a:ea typeface="Calibri"/>
              <a:cs typeface="Calibri"/>
              <a:sym typeface="Calibri"/>
            </a:endParaRPr>
          </a:p>
        </p:txBody>
      </p:sp>
      <p:sp>
        <p:nvSpPr>
          <p:cNvPr id="76" name="Google Shape;76;p3"/>
          <p:cNvSpPr/>
          <p:nvPr/>
        </p:nvSpPr>
        <p:spPr>
          <a:xfrm>
            <a:off x="8203168" y="4590574"/>
            <a:ext cx="3054332" cy="47117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Who changed what, how many rows, before and after.</a:t>
            </a:r>
            <a:endParaRPr b="0" i="0" sz="1300" u="none" cap="none" strike="noStrike">
              <a:solidFill>
                <a:schemeClr val="dk1"/>
              </a:solidFill>
              <a:latin typeface="Calibri"/>
              <a:ea typeface="Calibri"/>
              <a:cs typeface="Calibri"/>
              <a:sym typeface="Calibri"/>
            </a:endParaRPr>
          </a:p>
        </p:txBody>
      </p:sp>
      <p:sp>
        <p:nvSpPr>
          <p:cNvPr id="77" name="Google Shape;77;p3"/>
          <p:cNvSpPr/>
          <p:nvPr/>
        </p:nvSpPr>
        <p:spPr>
          <a:xfrm>
            <a:off x="812721" y="6238281"/>
            <a:ext cx="719446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DB6CC"/>
              </a:buClr>
              <a:buSzPts val="1200"/>
              <a:buFont typeface="IBM Plex Sans"/>
              <a:buNone/>
            </a:pPr>
            <a:r>
              <a:rPr b="0" i="0" lang="en-US" sz="1200" u="none" cap="none" strike="noStrike">
                <a:solidFill>
                  <a:srgbClr val="9DB6CC"/>
                </a:solidFill>
                <a:latin typeface="IBM Plex Sans"/>
                <a:ea typeface="IBM Plex Sans"/>
                <a:cs typeface="IBM Plex Sans"/>
                <a:sym typeface="IBM Plex Sans"/>
              </a:rPr>
              <a:t>Agentic Data Quality Guardian · CoCoQuest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82" name="Shape 82"/>
        <p:cNvGrpSpPr/>
        <p:nvPr/>
      </p:nvGrpSpPr>
      <p:grpSpPr>
        <a:xfrm>
          <a:off x="0" y="0"/>
          <a:ext cx="0" cy="0"/>
          <a:chOff x="0" y="0"/>
          <a:chExt cx="0" cy="0"/>
        </a:xfrm>
      </p:grpSpPr>
      <p:sp>
        <p:nvSpPr>
          <p:cNvPr id="83" name="Google Shape;83;p4"/>
          <p:cNvSpPr/>
          <p:nvPr/>
        </p:nvSpPr>
        <p:spPr>
          <a:xfrm>
            <a:off x="812721" y="812719"/>
            <a:ext cx="10883556" cy="5003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F2A43"/>
              </a:buClr>
              <a:buSzPts val="3400"/>
              <a:buFont typeface="Rubik"/>
              <a:buNone/>
            </a:pPr>
            <a:r>
              <a:rPr b="1" i="0" lang="en-US" sz="3400" u="none" cap="none" strike="noStrike">
                <a:solidFill>
                  <a:srgbClr val="0F2A43"/>
                </a:solidFill>
                <a:latin typeface="Rubik"/>
                <a:ea typeface="Rubik"/>
                <a:cs typeface="Rubik"/>
                <a:sym typeface="Rubik"/>
              </a:rPr>
              <a:t>Five pages, one workflow</a:t>
            </a:r>
            <a:endParaRPr b="0" i="0" sz="3400" u="none" cap="none" strike="noStrike">
              <a:solidFill>
                <a:schemeClr val="dk1"/>
              </a:solidFill>
              <a:latin typeface="Calibri"/>
              <a:ea typeface="Calibri"/>
              <a:cs typeface="Calibri"/>
              <a:sym typeface="Calibri"/>
            </a:endParaRPr>
          </a:p>
        </p:txBody>
      </p:sp>
      <p:sp>
        <p:nvSpPr>
          <p:cNvPr id="84" name="Google Shape;84;p4"/>
          <p:cNvSpPr/>
          <p:nvPr/>
        </p:nvSpPr>
        <p:spPr>
          <a:xfrm>
            <a:off x="815896" y="1544796"/>
            <a:ext cx="1984970" cy="2281436"/>
          </a:xfrm>
          <a:prstGeom prst="roundRect">
            <a:avLst>
              <a:gd fmla="val 7518" name="adj"/>
            </a:avLst>
          </a:prstGeom>
          <a:solidFill>
            <a:srgbClr val="FAFCFD"/>
          </a:solidFill>
          <a:ln cap="flat" cmpd="sng" w="9525">
            <a:solidFill>
              <a:srgbClr val="D5E0E8"/>
            </a:solidFill>
            <a:prstDash val="solid"/>
            <a:round/>
            <a:headEnd len="sm" w="sm" type="none"/>
            <a:tailEnd len="sm" w="sm" type="none"/>
          </a:ln>
          <a:effectLst>
            <a:outerShdw blurRad="127000" rotWithShape="0" algn="bl" dir="5400000" dist="38100">
              <a:srgbClr val="0F2A43">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4"/>
          <p:cNvSpPr/>
          <p:nvPr/>
        </p:nvSpPr>
        <p:spPr>
          <a:xfrm>
            <a:off x="998101" y="1727002"/>
            <a:ext cx="406360" cy="406360"/>
          </a:xfrm>
          <a:prstGeom prst="roundRect">
            <a:avLst>
              <a:gd fmla="val 50000" name="adj"/>
            </a:avLst>
          </a:prstGeom>
          <a:solidFill>
            <a:srgbClr val="DDF1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Chart" id="86" name="Google Shape;86;p4"/>
          <p:cNvPicPr preferRelativeResize="0"/>
          <p:nvPr/>
        </p:nvPicPr>
        <p:blipFill rotWithShape="1">
          <a:blip r:embed="rId3">
            <a:alphaModFix/>
          </a:blip>
          <a:srcRect b="0" l="0" r="0" t="0"/>
          <a:stretch/>
        </p:blipFill>
        <p:spPr>
          <a:xfrm>
            <a:off x="1093351" y="1822252"/>
            <a:ext cx="215860" cy="215860"/>
          </a:xfrm>
          <a:prstGeom prst="rect">
            <a:avLst/>
          </a:prstGeom>
          <a:noFill/>
          <a:ln>
            <a:noFill/>
          </a:ln>
        </p:spPr>
      </p:pic>
      <p:sp>
        <p:nvSpPr>
          <p:cNvPr id="87" name="Google Shape;87;p4"/>
          <p:cNvSpPr/>
          <p:nvPr/>
        </p:nvSpPr>
        <p:spPr>
          <a:xfrm>
            <a:off x="998101" y="2209561"/>
            <a:ext cx="1671360" cy="26924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F2A43"/>
              </a:buClr>
              <a:buSzPts val="1600"/>
              <a:buFont typeface="Rubik"/>
              <a:buNone/>
            </a:pPr>
            <a:r>
              <a:rPr b="1" i="0" lang="en-US" sz="1600" u="none" cap="none" strike="noStrike">
                <a:solidFill>
                  <a:srgbClr val="0F2A43"/>
                </a:solidFill>
                <a:latin typeface="Rubik"/>
                <a:ea typeface="Rubik"/>
                <a:cs typeface="Rubik"/>
                <a:sym typeface="Rubik"/>
              </a:rPr>
              <a:t>Dashboard</a:t>
            </a:r>
            <a:endParaRPr b="0" i="0" sz="1600" u="none" cap="none" strike="noStrike">
              <a:solidFill>
                <a:schemeClr val="dk1"/>
              </a:solidFill>
              <a:latin typeface="Calibri"/>
              <a:ea typeface="Calibri"/>
              <a:cs typeface="Calibri"/>
              <a:sym typeface="Calibri"/>
            </a:endParaRPr>
          </a:p>
        </p:txBody>
      </p:sp>
      <p:sp>
        <p:nvSpPr>
          <p:cNvPr id="88" name="Google Shape;88;p4"/>
          <p:cNvSpPr/>
          <p:nvPr/>
        </p:nvSpPr>
        <p:spPr>
          <a:xfrm>
            <a:off x="998101" y="2529601"/>
            <a:ext cx="1671360" cy="69405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Scores, trends and every table you have scanned.</a:t>
            </a:r>
            <a:endParaRPr b="0" i="0" sz="1300" u="none" cap="none" strike="noStrike">
              <a:solidFill>
                <a:schemeClr val="dk1"/>
              </a:solidFill>
              <a:latin typeface="Calibri"/>
              <a:ea typeface="Calibri"/>
              <a:cs typeface="Calibri"/>
              <a:sym typeface="Calibri"/>
            </a:endParaRPr>
          </a:p>
        </p:txBody>
      </p:sp>
      <p:sp>
        <p:nvSpPr>
          <p:cNvPr id="89" name="Google Shape;89;p4"/>
          <p:cNvSpPr/>
          <p:nvPr/>
        </p:nvSpPr>
        <p:spPr>
          <a:xfrm>
            <a:off x="2959616" y="1544796"/>
            <a:ext cx="1985089" cy="2281436"/>
          </a:xfrm>
          <a:prstGeom prst="roundRect">
            <a:avLst>
              <a:gd fmla="val 7517" name="adj"/>
            </a:avLst>
          </a:prstGeom>
          <a:solidFill>
            <a:srgbClr val="FAFCFD"/>
          </a:solidFill>
          <a:ln cap="flat" cmpd="sng" w="9525">
            <a:solidFill>
              <a:srgbClr val="D5E0E8"/>
            </a:solidFill>
            <a:prstDash val="solid"/>
            <a:round/>
            <a:headEnd len="sm" w="sm" type="none"/>
            <a:tailEnd len="sm" w="sm" type="none"/>
          </a:ln>
          <a:effectLst>
            <a:outerShdw blurRad="127000" rotWithShape="0" algn="bl" dir="5400000" dist="38100">
              <a:srgbClr val="0F2A43">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4"/>
          <p:cNvSpPr/>
          <p:nvPr/>
        </p:nvSpPr>
        <p:spPr>
          <a:xfrm>
            <a:off x="3141821" y="1727002"/>
            <a:ext cx="406360" cy="406360"/>
          </a:xfrm>
          <a:prstGeom prst="roundRect">
            <a:avLst>
              <a:gd fmla="val 50000" name="adj"/>
            </a:avLst>
          </a:prstGeom>
          <a:solidFill>
            <a:srgbClr val="DDF1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Search" id="91" name="Google Shape;91;p4"/>
          <p:cNvPicPr preferRelativeResize="0"/>
          <p:nvPr/>
        </p:nvPicPr>
        <p:blipFill rotWithShape="1">
          <a:blip r:embed="rId4">
            <a:alphaModFix/>
          </a:blip>
          <a:srcRect b="0" l="0" r="0" t="0"/>
          <a:stretch/>
        </p:blipFill>
        <p:spPr>
          <a:xfrm>
            <a:off x="3237071" y="1822252"/>
            <a:ext cx="215860" cy="215860"/>
          </a:xfrm>
          <a:prstGeom prst="rect">
            <a:avLst/>
          </a:prstGeom>
          <a:noFill/>
          <a:ln>
            <a:noFill/>
          </a:ln>
        </p:spPr>
      </p:pic>
      <p:sp>
        <p:nvSpPr>
          <p:cNvPr id="92" name="Google Shape;92;p4"/>
          <p:cNvSpPr/>
          <p:nvPr/>
        </p:nvSpPr>
        <p:spPr>
          <a:xfrm>
            <a:off x="3141821" y="2209561"/>
            <a:ext cx="1671479" cy="26924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F2A43"/>
              </a:buClr>
              <a:buSzPts val="1600"/>
              <a:buFont typeface="Rubik"/>
              <a:buNone/>
            </a:pPr>
            <a:r>
              <a:rPr b="1" i="0" lang="en-US" sz="1600" u="none" cap="none" strike="noStrike">
                <a:solidFill>
                  <a:srgbClr val="0F2A43"/>
                </a:solidFill>
                <a:latin typeface="Rubik"/>
                <a:ea typeface="Rubik"/>
                <a:cs typeface="Rubik"/>
                <a:sym typeface="Rubik"/>
              </a:rPr>
              <a:t>Scan</a:t>
            </a:r>
            <a:endParaRPr b="0" i="0" sz="1600" u="none" cap="none" strike="noStrike">
              <a:solidFill>
                <a:schemeClr val="dk1"/>
              </a:solidFill>
              <a:latin typeface="Calibri"/>
              <a:ea typeface="Calibri"/>
              <a:cs typeface="Calibri"/>
              <a:sym typeface="Calibri"/>
            </a:endParaRPr>
          </a:p>
        </p:txBody>
      </p:sp>
      <p:sp>
        <p:nvSpPr>
          <p:cNvPr id="93" name="Google Shape;93;p4"/>
          <p:cNvSpPr/>
          <p:nvPr/>
        </p:nvSpPr>
        <p:spPr>
          <a:xfrm>
            <a:off x="3141821" y="2529601"/>
            <a:ext cx="1671479" cy="91694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Discover rules, add your own, run the scan, read the AI briefing.</a:t>
            </a:r>
            <a:endParaRPr b="0" i="0" sz="1300" u="none" cap="none" strike="noStrike">
              <a:solidFill>
                <a:schemeClr val="dk1"/>
              </a:solidFill>
              <a:latin typeface="Calibri"/>
              <a:ea typeface="Calibri"/>
              <a:cs typeface="Calibri"/>
              <a:sym typeface="Calibri"/>
            </a:endParaRPr>
          </a:p>
        </p:txBody>
      </p:sp>
      <p:sp>
        <p:nvSpPr>
          <p:cNvPr id="94" name="Google Shape;94;p4"/>
          <p:cNvSpPr/>
          <p:nvPr/>
        </p:nvSpPr>
        <p:spPr>
          <a:xfrm>
            <a:off x="5103456" y="1544796"/>
            <a:ext cx="1984970" cy="2281436"/>
          </a:xfrm>
          <a:prstGeom prst="roundRect">
            <a:avLst>
              <a:gd fmla="val 7518" name="adj"/>
            </a:avLst>
          </a:prstGeom>
          <a:solidFill>
            <a:srgbClr val="FAFCFD"/>
          </a:solidFill>
          <a:ln cap="flat" cmpd="sng" w="9525">
            <a:solidFill>
              <a:srgbClr val="D5E0E8"/>
            </a:solidFill>
            <a:prstDash val="solid"/>
            <a:round/>
            <a:headEnd len="sm" w="sm" type="none"/>
            <a:tailEnd len="sm" w="sm" type="none"/>
          </a:ln>
          <a:effectLst>
            <a:outerShdw blurRad="127000" rotWithShape="0" algn="bl" dir="5400000" dist="38100">
              <a:srgbClr val="0F2A43">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4"/>
          <p:cNvSpPr/>
          <p:nvPr/>
        </p:nvSpPr>
        <p:spPr>
          <a:xfrm>
            <a:off x="5285661" y="1727002"/>
            <a:ext cx="406360" cy="406360"/>
          </a:xfrm>
          <a:prstGeom prst="roundRect">
            <a:avLst>
              <a:gd fmla="val 50000" name="adj"/>
            </a:avLst>
          </a:prstGeom>
          <a:solidFill>
            <a:srgbClr val="DDF1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Wrench" id="96" name="Google Shape;96;p4"/>
          <p:cNvPicPr preferRelativeResize="0"/>
          <p:nvPr/>
        </p:nvPicPr>
        <p:blipFill rotWithShape="1">
          <a:blip r:embed="rId5">
            <a:alphaModFix/>
          </a:blip>
          <a:srcRect b="0" l="0" r="0" t="0"/>
          <a:stretch/>
        </p:blipFill>
        <p:spPr>
          <a:xfrm>
            <a:off x="5380911" y="1822252"/>
            <a:ext cx="215860" cy="215860"/>
          </a:xfrm>
          <a:prstGeom prst="rect">
            <a:avLst/>
          </a:prstGeom>
          <a:noFill/>
          <a:ln>
            <a:noFill/>
          </a:ln>
        </p:spPr>
      </p:pic>
      <p:sp>
        <p:nvSpPr>
          <p:cNvPr id="97" name="Google Shape;97;p4"/>
          <p:cNvSpPr/>
          <p:nvPr/>
        </p:nvSpPr>
        <p:spPr>
          <a:xfrm>
            <a:off x="5285661" y="2209561"/>
            <a:ext cx="1671360" cy="26924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F2A43"/>
              </a:buClr>
              <a:buSzPts val="1600"/>
              <a:buFont typeface="Rubik"/>
              <a:buNone/>
            </a:pPr>
            <a:r>
              <a:rPr b="1" i="0" lang="en-US" sz="1600" u="none" cap="none" strike="noStrike">
                <a:solidFill>
                  <a:srgbClr val="0F2A43"/>
                </a:solidFill>
                <a:latin typeface="Rubik"/>
                <a:ea typeface="Rubik"/>
                <a:cs typeface="Rubik"/>
                <a:sym typeface="Rubik"/>
              </a:rPr>
              <a:t>Fix Studio</a:t>
            </a:r>
            <a:endParaRPr b="0" i="0" sz="1600" u="none" cap="none" strike="noStrike">
              <a:solidFill>
                <a:schemeClr val="dk1"/>
              </a:solidFill>
              <a:latin typeface="Calibri"/>
              <a:ea typeface="Calibri"/>
              <a:cs typeface="Calibri"/>
              <a:sym typeface="Calibri"/>
            </a:endParaRPr>
          </a:p>
        </p:txBody>
      </p:sp>
      <p:sp>
        <p:nvSpPr>
          <p:cNvPr id="98" name="Google Shape;98;p4"/>
          <p:cNvSpPr/>
          <p:nvPr/>
        </p:nvSpPr>
        <p:spPr>
          <a:xfrm>
            <a:off x="5285661" y="2529601"/>
            <a:ext cx="1671360" cy="11398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Review, edit and approve fixes, apply to the sandbox, compare before and after.</a:t>
            </a:r>
            <a:endParaRPr b="0" i="0" sz="1300" u="none" cap="none" strike="noStrike">
              <a:solidFill>
                <a:schemeClr val="dk1"/>
              </a:solidFill>
              <a:latin typeface="Calibri"/>
              <a:ea typeface="Calibri"/>
              <a:cs typeface="Calibri"/>
              <a:sym typeface="Calibri"/>
            </a:endParaRPr>
          </a:p>
        </p:txBody>
      </p:sp>
      <p:sp>
        <p:nvSpPr>
          <p:cNvPr id="99" name="Google Shape;99;p4"/>
          <p:cNvSpPr/>
          <p:nvPr/>
        </p:nvSpPr>
        <p:spPr>
          <a:xfrm>
            <a:off x="7247176" y="1544796"/>
            <a:ext cx="1985089" cy="2281436"/>
          </a:xfrm>
          <a:prstGeom prst="roundRect">
            <a:avLst>
              <a:gd fmla="val 7517" name="adj"/>
            </a:avLst>
          </a:prstGeom>
          <a:solidFill>
            <a:srgbClr val="FAFCFD"/>
          </a:solidFill>
          <a:ln cap="flat" cmpd="sng" w="9525">
            <a:solidFill>
              <a:srgbClr val="D5E0E8"/>
            </a:solidFill>
            <a:prstDash val="solid"/>
            <a:round/>
            <a:headEnd len="sm" w="sm" type="none"/>
            <a:tailEnd len="sm" w="sm" type="none"/>
          </a:ln>
          <a:effectLst>
            <a:outerShdw blurRad="127000" rotWithShape="0" algn="bl" dir="5400000" dist="38100">
              <a:srgbClr val="0F2A43">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4"/>
          <p:cNvSpPr/>
          <p:nvPr/>
        </p:nvSpPr>
        <p:spPr>
          <a:xfrm>
            <a:off x="7429381" y="1727002"/>
            <a:ext cx="406360" cy="406360"/>
          </a:xfrm>
          <a:prstGeom prst="roundRect">
            <a:avLst>
              <a:gd fmla="val 50000" name="adj"/>
            </a:avLst>
          </a:prstGeom>
          <a:solidFill>
            <a:srgbClr val="DDF1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Chat" id="101" name="Google Shape;101;p4"/>
          <p:cNvPicPr preferRelativeResize="0"/>
          <p:nvPr/>
        </p:nvPicPr>
        <p:blipFill rotWithShape="1">
          <a:blip r:embed="rId6">
            <a:alphaModFix/>
          </a:blip>
          <a:srcRect b="0" l="0" r="0" t="0"/>
          <a:stretch/>
        </p:blipFill>
        <p:spPr>
          <a:xfrm>
            <a:off x="7524631" y="1822252"/>
            <a:ext cx="215860" cy="215860"/>
          </a:xfrm>
          <a:prstGeom prst="rect">
            <a:avLst/>
          </a:prstGeom>
          <a:noFill/>
          <a:ln>
            <a:noFill/>
          </a:ln>
        </p:spPr>
      </p:pic>
      <p:sp>
        <p:nvSpPr>
          <p:cNvPr id="102" name="Google Shape;102;p4"/>
          <p:cNvSpPr/>
          <p:nvPr/>
        </p:nvSpPr>
        <p:spPr>
          <a:xfrm>
            <a:off x="7429381" y="2209561"/>
            <a:ext cx="1671479" cy="26924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F2A43"/>
              </a:buClr>
              <a:buSzPts val="1600"/>
              <a:buFont typeface="Rubik"/>
              <a:buNone/>
            </a:pPr>
            <a:r>
              <a:rPr b="1" i="0" lang="en-US" sz="1600" u="none" cap="none" strike="noStrike">
                <a:solidFill>
                  <a:srgbClr val="0F2A43"/>
                </a:solidFill>
                <a:latin typeface="Rubik"/>
                <a:ea typeface="Rubik"/>
                <a:cs typeface="Rubik"/>
                <a:sym typeface="Rubik"/>
              </a:rPr>
              <a:t>CoCo Assist</a:t>
            </a:r>
            <a:endParaRPr b="0" i="0" sz="1600" u="none" cap="none" strike="noStrike">
              <a:solidFill>
                <a:schemeClr val="dk1"/>
              </a:solidFill>
              <a:latin typeface="Calibri"/>
              <a:ea typeface="Calibri"/>
              <a:cs typeface="Calibri"/>
              <a:sym typeface="Calibri"/>
            </a:endParaRPr>
          </a:p>
        </p:txBody>
      </p:sp>
      <p:sp>
        <p:nvSpPr>
          <p:cNvPr id="103" name="Google Shape;103;p4"/>
          <p:cNvSpPr/>
          <p:nvPr/>
        </p:nvSpPr>
        <p:spPr>
          <a:xfrm>
            <a:off x="7429381" y="2529601"/>
            <a:ext cx="1671479" cy="69405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Builds a ready-made prompt to hand hard cases to CoCo.</a:t>
            </a:r>
            <a:endParaRPr b="0" i="0" sz="1300" u="none" cap="none" strike="noStrike">
              <a:solidFill>
                <a:schemeClr val="dk1"/>
              </a:solidFill>
              <a:latin typeface="Calibri"/>
              <a:ea typeface="Calibri"/>
              <a:cs typeface="Calibri"/>
              <a:sym typeface="Calibri"/>
            </a:endParaRPr>
          </a:p>
        </p:txBody>
      </p:sp>
      <p:sp>
        <p:nvSpPr>
          <p:cNvPr id="104" name="Google Shape;104;p4"/>
          <p:cNvSpPr/>
          <p:nvPr/>
        </p:nvSpPr>
        <p:spPr>
          <a:xfrm>
            <a:off x="9391015" y="1544796"/>
            <a:ext cx="1985089" cy="2281436"/>
          </a:xfrm>
          <a:prstGeom prst="roundRect">
            <a:avLst>
              <a:gd fmla="val 7517" name="adj"/>
            </a:avLst>
          </a:prstGeom>
          <a:solidFill>
            <a:srgbClr val="FAFCFD"/>
          </a:solidFill>
          <a:ln cap="flat" cmpd="sng" w="9525">
            <a:solidFill>
              <a:srgbClr val="D5E0E8"/>
            </a:solidFill>
            <a:prstDash val="solid"/>
            <a:round/>
            <a:headEnd len="sm" w="sm" type="none"/>
            <a:tailEnd len="sm" w="sm" type="none"/>
          </a:ln>
          <a:effectLst>
            <a:outerShdw blurRad="127000" rotWithShape="0" algn="bl" dir="5400000" dist="38100">
              <a:srgbClr val="0F2A43">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4"/>
          <p:cNvSpPr/>
          <p:nvPr/>
        </p:nvSpPr>
        <p:spPr>
          <a:xfrm>
            <a:off x="9573220" y="1727002"/>
            <a:ext cx="406360" cy="406360"/>
          </a:xfrm>
          <a:prstGeom prst="roundRect">
            <a:avLst>
              <a:gd fmla="val 50000" name="adj"/>
            </a:avLst>
          </a:prstGeom>
          <a:solidFill>
            <a:srgbClr val="DDF1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Book" id="106" name="Google Shape;106;p4"/>
          <p:cNvPicPr preferRelativeResize="0"/>
          <p:nvPr/>
        </p:nvPicPr>
        <p:blipFill rotWithShape="1">
          <a:blip r:embed="rId7">
            <a:alphaModFix/>
          </a:blip>
          <a:srcRect b="0" l="0" r="0" t="0"/>
          <a:stretch/>
        </p:blipFill>
        <p:spPr>
          <a:xfrm>
            <a:off x="9668470" y="1822252"/>
            <a:ext cx="215860" cy="215860"/>
          </a:xfrm>
          <a:prstGeom prst="rect">
            <a:avLst/>
          </a:prstGeom>
          <a:noFill/>
          <a:ln>
            <a:noFill/>
          </a:ln>
        </p:spPr>
      </p:pic>
      <p:sp>
        <p:nvSpPr>
          <p:cNvPr id="107" name="Google Shape;107;p4"/>
          <p:cNvSpPr/>
          <p:nvPr/>
        </p:nvSpPr>
        <p:spPr>
          <a:xfrm>
            <a:off x="9573220" y="2209561"/>
            <a:ext cx="1671479" cy="26924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F2A43"/>
              </a:buClr>
              <a:buSzPts val="1600"/>
              <a:buFont typeface="Rubik"/>
              <a:buNone/>
            </a:pPr>
            <a:r>
              <a:rPr b="1" i="0" lang="en-US" sz="1600" u="none" cap="none" strike="noStrike">
                <a:solidFill>
                  <a:srgbClr val="0F2A43"/>
                </a:solidFill>
                <a:latin typeface="Rubik"/>
                <a:ea typeface="Rubik"/>
                <a:cs typeface="Rubik"/>
                <a:sym typeface="Rubik"/>
              </a:rPr>
              <a:t>Audit</a:t>
            </a:r>
            <a:endParaRPr b="0" i="0" sz="1600" u="none" cap="none" strike="noStrike">
              <a:solidFill>
                <a:schemeClr val="dk1"/>
              </a:solidFill>
              <a:latin typeface="Calibri"/>
              <a:ea typeface="Calibri"/>
              <a:cs typeface="Calibri"/>
              <a:sym typeface="Calibri"/>
            </a:endParaRPr>
          </a:p>
        </p:txBody>
      </p:sp>
      <p:sp>
        <p:nvSpPr>
          <p:cNvPr id="108" name="Google Shape;108;p4"/>
          <p:cNvSpPr/>
          <p:nvPr/>
        </p:nvSpPr>
        <p:spPr>
          <a:xfrm>
            <a:off x="9573220" y="2529601"/>
            <a:ext cx="1671479" cy="69405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Every change with user, role, SQL and row counts.</a:t>
            </a:r>
            <a:endParaRPr b="0" i="0" sz="1300" u="none" cap="none" strike="noStrike">
              <a:solidFill>
                <a:schemeClr val="dk1"/>
              </a:solidFill>
              <a:latin typeface="Calibri"/>
              <a:ea typeface="Calibri"/>
              <a:cs typeface="Calibri"/>
              <a:sym typeface="Calibri"/>
            </a:endParaRPr>
          </a:p>
        </p:txBody>
      </p:sp>
      <p:sp>
        <p:nvSpPr>
          <p:cNvPr id="109" name="Google Shape;109;p4"/>
          <p:cNvSpPr/>
          <p:nvPr/>
        </p:nvSpPr>
        <p:spPr>
          <a:xfrm>
            <a:off x="812721" y="4083366"/>
            <a:ext cx="10883556"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500"/>
              <a:buFont typeface="IBM Plex Sans"/>
              <a:buNone/>
            </a:pPr>
            <a:r>
              <a:rPr b="0" i="0" lang="en-US" sz="1500" u="none" cap="none" strike="noStrike">
                <a:solidFill>
                  <a:srgbClr val="0F2A43"/>
                </a:solidFill>
                <a:latin typeface="IBM Plex Sans"/>
                <a:ea typeface="IBM Plex Sans"/>
                <a:cs typeface="IBM Plex Sans"/>
                <a:sym typeface="IBM Plex Sans"/>
              </a:rPr>
              <a:t>Sidebar controls: pick the table, choose the Cortex model, and set how strict the scoring is.</a:t>
            </a:r>
            <a:endParaRPr b="0" i="0" sz="1500" u="none" cap="none" strike="noStrike">
              <a:solidFill>
                <a:schemeClr val="dk1"/>
              </a:solidFill>
              <a:latin typeface="Calibri"/>
              <a:ea typeface="Calibri"/>
              <a:cs typeface="Calibri"/>
              <a:sym typeface="Calibri"/>
            </a:endParaRPr>
          </a:p>
        </p:txBody>
      </p:sp>
      <p:sp>
        <p:nvSpPr>
          <p:cNvPr id="110" name="Google Shape;110;p4"/>
          <p:cNvSpPr/>
          <p:nvPr/>
        </p:nvSpPr>
        <p:spPr>
          <a:xfrm>
            <a:off x="812721" y="6238278"/>
            <a:ext cx="719446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Agentic Data Quality Guardian · CoCoQuest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115" name="Shape 115"/>
        <p:cNvGrpSpPr/>
        <p:nvPr/>
      </p:nvGrpSpPr>
      <p:grpSpPr>
        <a:xfrm>
          <a:off x="0" y="0"/>
          <a:ext cx="0" cy="0"/>
          <a:chOff x="0" y="0"/>
          <a:chExt cx="0" cy="0"/>
        </a:xfrm>
      </p:grpSpPr>
      <p:sp>
        <p:nvSpPr>
          <p:cNvPr id="116" name="Google Shape;116;p5"/>
          <p:cNvSpPr/>
          <p:nvPr/>
        </p:nvSpPr>
        <p:spPr>
          <a:xfrm>
            <a:off x="812721" y="812722"/>
            <a:ext cx="10883556" cy="5003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F2A43"/>
              </a:buClr>
              <a:buSzPts val="3400"/>
              <a:buFont typeface="Rubik"/>
              <a:buNone/>
            </a:pPr>
            <a:r>
              <a:rPr b="1" i="0" lang="en-US" sz="3400" u="none" cap="none" strike="noStrike">
                <a:solidFill>
                  <a:srgbClr val="0F2A43"/>
                </a:solidFill>
                <a:latin typeface="Rubik"/>
                <a:ea typeface="Rubik"/>
                <a:cs typeface="Rubik"/>
                <a:sym typeface="Rubik"/>
              </a:rPr>
              <a:t>Everything runs inside Snowflake</a:t>
            </a:r>
            <a:endParaRPr b="0" i="0" sz="3400" u="none" cap="none" strike="noStrike">
              <a:solidFill>
                <a:schemeClr val="dk1"/>
              </a:solidFill>
              <a:latin typeface="Calibri"/>
              <a:ea typeface="Calibri"/>
              <a:cs typeface="Calibri"/>
              <a:sym typeface="Calibri"/>
            </a:endParaRPr>
          </a:p>
        </p:txBody>
      </p:sp>
      <p:sp>
        <p:nvSpPr>
          <p:cNvPr id="117" name="Google Shape;117;p5"/>
          <p:cNvSpPr/>
          <p:nvPr/>
        </p:nvSpPr>
        <p:spPr>
          <a:xfrm>
            <a:off x="815896" y="2185473"/>
            <a:ext cx="2666484" cy="2028547"/>
          </a:xfrm>
          <a:prstGeom prst="roundRect">
            <a:avLst>
              <a:gd fmla="val 7356" name="adj"/>
            </a:avLst>
          </a:prstGeom>
          <a:solidFill>
            <a:srgbClr val="FAFCFD"/>
          </a:solidFill>
          <a:ln cap="flat" cmpd="sng" w="9525">
            <a:solidFill>
              <a:srgbClr val="D5E0E8"/>
            </a:solidFill>
            <a:prstDash val="solid"/>
            <a:round/>
            <a:headEnd len="sm" w="sm" type="none"/>
            <a:tailEnd len="sm" w="sm" type="none"/>
          </a:ln>
          <a:effectLst>
            <a:outerShdw blurRad="127000" rotWithShape="0" algn="bl" dir="5400000" dist="38100">
              <a:srgbClr val="0F2A43">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5"/>
          <p:cNvSpPr/>
          <p:nvPr/>
        </p:nvSpPr>
        <p:spPr>
          <a:xfrm>
            <a:off x="1023461" y="2393038"/>
            <a:ext cx="457200" cy="457200"/>
          </a:xfrm>
          <a:prstGeom prst="roundRect">
            <a:avLst>
              <a:gd fmla="val 50000" name="adj"/>
            </a:avLst>
          </a:prstGeom>
          <a:solidFill>
            <a:srgbClr val="DDF1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Users" id="119" name="Google Shape;119;p5"/>
          <p:cNvPicPr preferRelativeResize="0"/>
          <p:nvPr/>
        </p:nvPicPr>
        <p:blipFill rotWithShape="1">
          <a:blip r:embed="rId3">
            <a:alphaModFix/>
          </a:blip>
          <a:srcRect b="0" l="0" r="0" t="0"/>
          <a:stretch/>
        </p:blipFill>
        <p:spPr>
          <a:xfrm>
            <a:off x="1125022" y="2494598"/>
            <a:ext cx="253960" cy="253960"/>
          </a:xfrm>
          <a:prstGeom prst="rect">
            <a:avLst/>
          </a:prstGeom>
          <a:noFill/>
          <a:ln>
            <a:noFill/>
          </a:ln>
        </p:spPr>
      </p:pic>
      <p:sp>
        <p:nvSpPr>
          <p:cNvPr id="120" name="Google Shape;120;p5"/>
          <p:cNvSpPr/>
          <p:nvPr/>
        </p:nvSpPr>
        <p:spPr>
          <a:xfrm>
            <a:off x="1023461" y="2926438"/>
            <a:ext cx="2318893" cy="28436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F2A43"/>
              </a:buClr>
              <a:buSzPts val="1700"/>
              <a:buFont typeface="Rubik"/>
              <a:buNone/>
            </a:pPr>
            <a:r>
              <a:rPr b="1" i="0" lang="en-US" sz="1700" u="none" cap="none" strike="noStrike">
                <a:solidFill>
                  <a:srgbClr val="0F2A43"/>
                </a:solidFill>
                <a:latin typeface="Rubik"/>
                <a:ea typeface="Rubik"/>
                <a:cs typeface="Rubik"/>
                <a:sym typeface="Rubik"/>
              </a:rPr>
              <a:t>You, in Snowsight</a:t>
            </a:r>
            <a:endParaRPr b="0" i="0" sz="1700" u="none" cap="none" strike="noStrike">
              <a:solidFill>
                <a:schemeClr val="dk1"/>
              </a:solidFill>
              <a:latin typeface="Calibri"/>
              <a:ea typeface="Calibri"/>
              <a:cs typeface="Calibri"/>
              <a:sym typeface="Calibri"/>
            </a:endParaRPr>
          </a:p>
        </p:txBody>
      </p:sp>
      <p:sp>
        <p:nvSpPr>
          <p:cNvPr id="121" name="Google Shape;121;p5"/>
          <p:cNvSpPr/>
          <p:nvPr/>
        </p:nvSpPr>
        <p:spPr>
          <a:xfrm>
            <a:off x="1023461" y="3261599"/>
            <a:ext cx="2318893" cy="24828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Streamlit app with five pages.</a:t>
            </a:r>
            <a:endParaRPr b="0" i="0" sz="1300" u="none" cap="none" strike="noStrike">
              <a:solidFill>
                <a:schemeClr val="dk1"/>
              </a:solidFill>
              <a:latin typeface="Calibri"/>
              <a:ea typeface="Calibri"/>
              <a:cs typeface="Calibri"/>
              <a:sym typeface="Calibri"/>
            </a:endParaRPr>
          </a:p>
        </p:txBody>
      </p:sp>
      <p:sp>
        <p:nvSpPr>
          <p:cNvPr id="122" name="Google Shape;122;p5"/>
          <p:cNvSpPr/>
          <p:nvPr/>
        </p:nvSpPr>
        <p:spPr>
          <a:xfrm>
            <a:off x="1023461" y="3560685"/>
            <a:ext cx="2318893" cy="47117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CoCo panel for hard cases and reviews.</a:t>
            </a:r>
            <a:endParaRPr b="0" i="0" sz="1300" u="none" cap="none" strike="noStrike">
              <a:solidFill>
                <a:schemeClr val="dk1"/>
              </a:solidFill>
              <a:latin typeface="Calibri"/>
              <a:ea typeface="Calibri"/>
              <a:cs typeface="Calibri"/>
              <a:sym typeface="Calibri"/>
            </a:endParaRPr>
          </a:p>
        </p:txBody>
      </p:sp>
      <p:pic>
        <p:nvPicPr>
          <p:cNvPr descr="arrow-right" id="123" name="Google Shape;123;p5"/>
          <p:cNvPicPr preferRelativeResize="0"/>
          <p:nvPr/>
        </p:nvPicPr>
        <p:blipFill rotWithShape="1">
          <a:blip r:embed="rId4">
            <a:alphaModFix/>
          </a:blip>
          <a:srcRect b="0" l="-3" r="-3" t="0"/>
          <a:stretch/>
        </p:blipFill>
        <p:spPr>
          <a:xfrm>
            <a:off x="3637955" y="3072767"/>
            <a:ext cx="406360" cy="253960"/>
          </a:xfrm>
          <a:prstGeom prst="rect">
            <a:avLst/>
          </a:prstGeom>
          <a:noFill/>
          <a:ln>
            <a:noFill/>
          </a:ln>
        </p:spPr>
      </p:pic>
      <p:sp>
        <p:nvSpPr>
          <p:cNvPr id="124" name="Google Shape;124;p5"/>
          <p:cNvSpPr/>
          <p:nvPr/>
        </p:nvSpPr>
        <p:spPr>
          <a:xfrm>
            <a:off x="4199890" y="1544799"/>
            <a:ext cx="3792220" cy="3310017"/>
          </a:xfrm>
          <a:prstGeom prst="roundRect">
            <a:avLst>
              <a:gd fmla="val 4508" name="adj"/>
            </a:avLst>
          </a:prstGeom>
          <a:solidFill>
            <a:srgbClr val="FAFCFD"/>
          </a:solidFill>
          <a:ln cap="flat" cmpd="sng" w="9525">
            <a:solidFill>
              <a:srgbClr val="D5E0E8"/>
            </a:solidFill>
            <a:prstDash val="solid"/>
            <a:round/>
            <a:headEnd len="sm" w="sm" type="none"/>
            <a:tailEnd len="sm" w="sm" type="none"/>
          </a:ln>
          <a:effectLst>
            <a:outerShdw blurRad="127000" rotWithShape="0" algn="bl" dir="5400000" dist="38100">
              <a:srgbClr val="0F2A43">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5"/>
          <p:cNvSpPr/>
          <p:nvPr/>
        </p:nvSpPr>
        <p:spPr>
          <a:xfrm>
            <a:off x="4407456" y="1752364"/>
            <a:ext cx="3478401" cy="28436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F2A43"/>
              </a:buClr>
              <a:buSzPts val="1700"/>
              <a:buFont typeface="Rubik"/>
              <a:buNone/>
            </a:pPr>
            <a:r>
              <a:rPr b="1" i="0" lang="en-US" sz="1700" u="none" cap="none" strike="noStrike">
                <a:solidFill>
                  <a:srgbClr val="0F2A43"/>
                </a:solidFill>
                <a:latin typeface="Rubik"/>
                <a:ea typeface="Rubik"/>
                <a:cs typeface="Rubik"/>
                <a:sym typeface="Rubik"/>
              </a:rPr>
              <a:t>DQ_GUARDIAN database</a:t>
            </a:r>
            <a:endParaRPr b="0" i="0" sz="1700" u="none" cap="none" strike="noStrike">
              <a:solidFill>
                <a:schemeClr val="dk1"/>
              </a:solidFill>
              <a:latin typeface="Calibri"/>
              <a:ea typeface="Calibri"/>
              <a:cs typeface="Calibri"/>
              <a:sym typeface="Calibri"/>
            </a:endParaRPr>
          </a:p>
        </p:txBody>
      </p:sp>
      <p:sp>
        <p:nvSpPr>
          <p:cNvPr id="126" name="Google Shape;126;p5"/>
          <p:cNvSpPr/>
          <p:nvPr/>
        </p:nvSpPr>
        <p:spPr>
          <a:xfrm>
            <a:off x="4410631" y="2090700"/>
            <a:ext cx="3370739" cy="730052"/>
          </a:xfrm>
          <a:prstGeom prst="roundRect">
            <a:avLst>
              <a:gd fmla="val 13482" name="adj"/>
            </a:avLst>
          </a:prstGeom>
          <a:solidFill>
            <a:srgbClr val="F2F6F9"/>
          </a:solidFill>
          <a:ln cap="flat" cmpd="sng" w="9525">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5"/>
          <p:cNvSpPr/>
          <p:nvPr/>
        </p:nvSpPr>
        <p:spPr>
          <a:xfrm>
            <a:off x="4541996" y="2222066"/>
            <a:ext cx="3201248"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A79AD"/>
              </a:buClr>
              <a:buSzPts val="1300"/>
              <a:buFont typeface="JetBrains Mono"/>
              <a:buNone/>
            </a:pPr>
            <a:r>
              <a:rPr b="1" i="0" lang="en-US" sz="1300" u="none" cap="none" strike="noStrike">
                <a:solidFill>
                  <a:srgbClr val="0A79AD"/>
                </a:solidFill>
                <a:latin typeface="JetBrains Mono"/>
                <a:ea typeface="JetBrains Mono"/>
                <a:cs typeface="JetBrains Mono"/>
                <a:sym typeface="JetBrains Mono"/>
              </a:rPr>
              <a:t>RAW</a:t>
            </a:r>
            <a:endParaRPr b="0" i="0" sz="1300" u="none" cap="none" strike="noStrike">
              <a:solidFill>
                <a:schemeClr val="dk1"/>
              </a:solidFill>
              <a:latin typeface="Calibri"/>
              <a:ea typeface="Calibri"/>
              <a:cs typeface="Calibri"/>
              <a:sym typeface="Calibri"/>
            </a:endParaRPr>
          </a:p>
        </p:txBody>
      </p:sp>
      <p:sp>
        <p:nvSpPr>
          <p:cNvPr id="128" name="Google Shape;128;p5"/>
          <p:cNvSpPr/>
          <p:nvPr/>
        </p:nvSpPr>
        <p:spPr>
          <a:xfrm>
            <a:off x="4541996" y="2491265"/>
            <a:ext cx="3201248" cy="22352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Source tables. Never modified.</a:t>
            </a:r>
            <a:endParaRPr b="0" i="0" sz="1200" u="none" cap="none" strike="noStrike">
              <a:solidFill>
                <a:schemeClr val="dk1"/>
              </a:solidFill>
              <a:latin typeface="Calibri"/>
              <a:ea typeface="Calibri"/>
              <a:cs typeface="Calibri"/>
              <a:sym typeface="Calibri"/>
            </a:endParaRPr>
          </a:p>
        </p:txBody>
      </p:sp>
      <p:sp>
        <p:nvSpPr>
          <p:cNvPr id="129" name="Google Shape;129;p5"/>
          <p:cNvSpPr/>
          <p:nvPr/>
        </p:nvSpPr>
        <p:spPr>
          <a:xfrm>
            <a:off x="4410631" y="2903302"/>
            <a:ext cx="3370739" cy="730052"/>
          </a:xfrm>
          <a:prstGeom prst="roundRect">
            <a:avLst>
              <a:gd fmla="val 13482" name="adj"/>
            </a:avLst>
          </a:prstGeom>
          <a:solidFill>
            <a:srgbClr val="F2F6F9"/>
          </a:solidFill>
          <a:ln cap="flat" cmpd="sng" w="9525">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5"/>
          <p:cNvSpPr/>
          <p:nvPr/>
        </p:nvSpPr>
        <p:spPr>
          <a:xfrm>
            <a:off x="4541996" y="3034667"/>
            <a:ext cx="3201248"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A79AD"/>
              </a:buClr>
              <a:buSzPts val="1300"/>
              <a:buFont typeface="JetBrains Mono"/>
              <a:buNone/>
            </a:pPr>
            <a:r>
              <a:rPr b="1" i="0" lang="en-US" sz="1300" u="none" cap="none" strike="noStrike">
                <a:solidFill>
                  <a:srgbClr val="0A79AD"/>
                </a:solidFill>
                <a:latin typeface="JetBrains Mono"/>
                <a:ea typeface="JetBrains Mono"/>
                <a:cs typeface="JetBrains Mono"/>
                <a:sym typeface="JetBrains Mono"/>
              </a:rPr>
              <a:t>CLEAN</a:t>
            </a:r>
            <a:endParaRPr b="0" i="0" sz="1300" u="none" cap="none" strike="noStrike">
              <a:solidFill>
                <a:schemeClr val="dk1"/>
              </a:solidFill>
              <a:latin typeface="Calibri"/>
              <a:ea typeface="Calibri"/>
              <a:cs typeface="Calibri"/>
              <a:sym typeface="Calibri"/>
            </a:endParaRPr>
          </a:p>
        </p:txBody>
      </p:sp>
      <p:sp>
        <p:nvSpPr>
          <p:cNvPr id="131" name="Google Shape;131;p5"/>
          <p:cNvSpPr/>
          <p:nvPr/>
        </p:nvSpPr>
        <p:spPr>
          <a:xfrm>
            <a:off x="4541996" y="3303867"/>
            <a:ext cx="3201248" cy="22352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Sandbox clones where fixes are applied.</a:t>
            </a:r>
            <a:endParaRPr b="0" i="0" sz="1200" u="none" cap="none" strike="noStrike">
              <a:solidFill>
                <a:schemeClr val="dk1"/>
              </a:solidFill>
              <a:latin typeface="Calibri"/>
              <a:ea typeface="Calibri"/>
              <a:cs typeface="Calibri"/>
              <a:sym typeface="Calibri"/>
            </a:endParaRPr>
          </a:p>
        </p:txBody>
      </p:sp>
      <p:sp>
        <p:nvSpPr>
          <p:cNvPr id="132" name="Google Shape;132;p5"/>
          <p:cNvSpPr/>
          <p:nvPr/>
        </p:nvSpPr>
        <p:spPr>
          <a:xfrm>
            <a:off x="4410631" y="3715903"/>
            <a:ext cx="3370739" cy="928172"/>
          </a:xfrm>
          <a:prstGeom prst="roundRect">
            <a:avLst>
              <a:gd fmla="val 10604" name="adj"/>
            </a:avLst>
          </a:prstGeom>
          <a:solidFill>
            <a:srgbClr val="F2F6F9"/>
          </a:solidFill>
          <a:ln cap="flat" cmpd="sng" w="9525">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5"/>
          <p:cNvSpPr/>
          <p:nvPr/>
        </p:nvSpPr>
        <p:spPr>
          <a:xfrm>
            <a:off x="4541996" y="3847269"/>
            <a:ext cx="3201248"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A79AD"/>
              </a:buClr>
              <a:buSzPts val="1300"/>
              <a:buFont typeface="JetBrains Mono"/>
              <a:buNone/>
            </a:pPr>
            <a:r>
              <a:rPr b="1" i="0" lang="en-US" sz="1300" u="none" cap="none" strike="noStrike">
                <a:solidFill>
                  <a:srgbClr val="0A79AD"/>
                </a:solidFill>
                <a:latin typeface="JetBrains Mono"/>
                <a:ea typeface="JetBrains Mono"/>
                <a:cs typeface="JetBrains Mono"/>
                <a:sym typeface="JetBrains Mono"/>
              </a:rPr>
              <a:t>DQ</a:t>
            </a:r>
            <a:endParaRPr b="0" i="0" sz="1300" u="none" cap="none" strike="noStrike">
              <a:solidFill>
                <a:schemeClr val="dk1"/>
              </a:solidFill>
              <a:latin typeface="Calibri"/>
              <a:ea typeface="Calibri"/>
              <a:cs typeface="Calibri"/>
              <a:sym typeface="Calibri"/>
            </a:endParaRPr>
          </a:p>
        </p:txBody>
      </p:sp>
      <p:sp>
        <p:nvSpPr>
          <p:cNvPr id="134" name="Google Shape;134;p5"/>
          <p:cNvSpPr/>
          <p:nvPr/>
        </p:nvSpPr>
        <p:spPr>
          <a:xfrm>
            <a:off x="4541996" y="4116468"/>
            <a:ext cx="3201248" cy="42164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Rules, scan results, proposals and the audit log.</a:t>
            </a:r>
            <a:endParaRPr b="0" i="0" sz="1200" u="none" cap="none" strike="noStrike">
              <a:solidFill>
                <a:schemeClr val="dk1"/>
              </a:solidFill>
              <a:latin typeface="Calibri"/>
              <a:ea typeface="Calibri"/>
              <a:cs typeface="Calibri"/>
              <a:sym typeface="Calibri"/>
            </a:endParaRPr>
          </a:p>
        </p:txBody>
      </p:sp>
      <p:pic>
        <p:nvPicPr>
          <p:cNvPr descr="arrow-right" id="135" name="Google Shape;135;p5"/>
          <p:cNvPicPr preferRelativeResize="0"/>
          <p:nvPr/>
        </p:nvPicPr>
        <p:blipFill rotWithShape="1">
          <a:blip r:embed="rId4">
            <a:alphaModFix/>
          </a:blip>
          <a:srcRect b="0" l="-3" r="-3" t="0"/>
          <a:stretch/>
        </p:blipFill>
        <p:spPr>
          <a:xfrm>
            <a:off x="8147686" y="3072767"/>
            <a:ext cx="406360" cy="253960"/>
          </a:xfrm>
          <a:prstGeom prst="rect">
            <a:avLst/>
          </a:prstGeom>
          <a:noFill/>
          <a:ln>
            <a:noFill/>
          </a:ln>
        </p:spPr>
      </p:pic>
      <p:sp>
        <p:nvSpPr>
          <p:cNvPr id="136" name="Google Shape;136;p5"/>
          <p:cNvSpPr/>
          <p:nvPr/>
        </p:nvSpPr>
        <p:spPr>
          <a:xfrm>
            <a:off x="8709620" y="1962587"/>
            <a:ext cx="2666484" cy="2474317"/>
          </a:xfrm>
          <a:prstGeom prst="roundRect">
            <a:avLst>
              <a:gd fmla="val 6031" name="adj"/>
            </a:avLst>
          </a:prstGeom>
          <a:solidFill>
            <a:srgbClr val="FAFCFD"/>
          </a:solidFill>
          <a:ln cap="flat" cmpd="sng" w="9525">
            <a:solidFill>
              <a:srgbClr val="D5E0E8"/>
            </a:solidFill>
            <a:prstDash val="solid"/>
            <a:round/>
            <a:headEnd len="sm" w="sm" type="none"/>
            <a:tailEnd len="sm" w="sm" type="none"/>
          </a:ln>
          <a:effectLst>
            <a:outerShdw blurRad="127000" rotWithShape="0" algn="bl" dir="5400000" dist="38100">
              <a:srgbClr val="0F2A43">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5"/>
          <p:cNvSpPr/>
          <p:nvPr/>
        </p:nvSpPr>
        <p:spPr>
          <a:xfrm>
            <a:off x="8917186" y="2170153"/>
            <a:ext cx="457200" cy="457200"/>
          </a:xfrm>
          <a:prstGeom prst="roundRect">
            <a:avLst>
              <a:gd fmla="val 50000" name="adj"/>
            </a:avLst>
          </a:prstGeom>
          <a:solidFill>
            <a:srgbClr val="DDF1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ightning" id="138" name="Google Shape;138;p5"/>
          <p:cNvPicPr preferRelativeResize="0"/>
          <p:nvPr/>
        </p:nvPicPr>
        <p:blipFill rotWithShape="1">
          <a:blip r:embed="rId5">
            <a:alphaModFix/>
          </a:blip>
          <a:srcRect b="0" l="0" r="0" t="0"/>
          <a:stretch/>
        </p:blipFill>
        <p:spPr>
          <a:xfrm>
            <a:off x="9018746" y="2271713"/>
            <a:ext cx="253960" cy="253960"/>
          </a:xfrm>
          <a:prstGeom prst="rect">
            <a:avLst/>
          </a:prstGeom>
          <a:noFill/>
          <a:ln>
            <a:noFill/>
          </a:ln>
        </p:spPr>
      </p:pic>
      <p:sp>
        <p:nvSpPr>
          <p:cNvPr id="139" name="Google Shape;139;p5"/>
          <p:cNvSpPr/>
          <p:nvPr/>
        </p:nvSpPr>
        <p:spPr>
          <a:xfrm>
            <a:off x="8917186" y="2703553"/>
            <a:ext cx="2318893" cy="28436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F2A43"/>
              </a:buClr>
              <a:buSzPts val="1700"/>
              <a:buFont typeface="Rubik"/>
              <a:buNone/>
            </a:pPr>
            <a:r>
              <a:rPr b="1" i="0" lang="en-US" sz="1700" u="none" cap="none" strike="noStrike">
                <a:solidFill>
                  <a:srgbClr val="0F2A43"/>
                </a:solidFill>
                <a:latin typeface="Rubik"/>
                <a:ea typeface="Rubik"/>
                <a:cs typeface="Rubik"/>
                <a:sym typeface="Rubik"/>
              </a:rPr>
              <a:t>Cortex AI</a:t>
            </a:r>
            <a:endParaRPr b="0" i="0" sz="1700" u="none" cap="none" strike="noStrike">
              <a:solidFill>
                <a:schemeClr val="dk1"/>
              </a:solidFill>
              <a:latin typeface="Calibri"/>
              <a:ea typeface="Calibri"/>
              <a:cs typeface="Calibri"/>
              <a:sym typeface="Calibri"/>
            </a:endParaRPr>
          </a:p>
        </p:txBody>
      </p:sp>
      <p:sp>
        <p:nvSpPr>
          <p:cNvPr id="140" name="Google Shape;140;p5"/>
          <p:cNvSpPr/>
          <p:nvPr/>
        </p:nvSpPr>
        <p:spPr>
          <a:xfrm>
            <a:off x="8917186" y="3038714"/>
            <a:ext cx="2318893" cy="69405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AI_COMPLETE writes fix SQL and the plain-language briefing.</a:t>
            </a:r>
            <a:endParaRPr b="0" i="0" sz="1300" u="none" cap="none" strike="noStrike">
              <a:solidFill>
                <a:schemeClr val="dk1"/>
              </a:solidFill>
              <a:latin typeface="Calibri"/>
              <a:ea typeface="Calibri"/>
              <a:cs typeface="Calibri"/>
              <a:sym typeface="Calibri"/>
            </a:endParaRPr>
          </a:p>
        </p:txBody>
      </p:sp>
      <p:sp>
        <p:nvSpPr>
          <p:cNvPr id="141" name="Google Shape;141;p5"/>
          <p:cNvSpPr/>
          <p:nvPr/>
        </p:nvSpPr>
        <p:spPr>
          <a:xfrm>
            <a:off x="8917186" y="3783571"/>
            <a:ext cx="2318893" cy="47117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Runs inside Snowflake, so data stays put.</a:t>
            </a:r>
            <a:endParaRPr b="0" i="0" sz="1300" u="none" cap="none" strike="noStrike">
              <a:solidFill>
                <a:schemeClr val="dk1"/>
              </a:solidFill>
              <a:latin typeface="Calibri"/>
              <a:ea typeface="Calibri"/>
              <a:cs typeface="Calibri"/>
              <a:sym typeface="Calibri"/>
            </a:endParaRPr>
          </a:p>
        </p:txBody>
      </p:sp>
      <p:sp>
        <p:nvSpPr>
          <p:cNvPr id="142" name="Google Shape;142;p5"/>
          <p:cNvSpPr/>
          <p:nvPr/>
        </p:nvSpPr>
        <p:spPr>
          <a:xfrm>
            <a:off x="812721" y="5111948"/>
            <a:ext cx="10883556"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500"/>
              <a:buFont typeface="IBM Plex Sans"/>
              <a:buNone/>
            </a:pPr>
            <a:r>
              <a:rPr b="0" i="0" lang="en-US" sz="1500" u="none" cap="none" strike="noStrike">
                <a:solidFill>
                  <a:srgbClr val="0F2A43"/>
                </a:solidFill>
                <a:latin typeface="IBM Plex Sans"/>
                <a:ea typeface="IBM Plex Sans"/>
                <a:cs typeface="IBM Plex Sans"/>
                <a:sym typeface="IBM Plex Sans"/>
              </a:rPr>
              <a:t>Compute: a single XSMALL warehouse that suspends itself after 60 seconds.</a:t>
            </a:r>
            <a:endParaRPr b="0" i="0" sz="1500" u="none" cap="none" strike="noStrike">
              <a:solidFill>
                <a:schemeClr val="dk1"/>
              </a:solidFill>
              <a:latin typeface="Calibri"/>
              <a:ea typeface="Calibri"/>
              <a:cs typeface="Calibri"/>
              <a:sym typeface="Calibri"/>
            </a:endParaRPr>
          </a:p>
        </p:txBody>
      </p:sp>
      <p:sp>
        <p:nvSpPr>
          <p:cNvPr id="143" name="Google Shape;143;p5"/>
          <p:cNvSpPr/>
          <p:nvPr/>
        </p:nvSpPr>
        <p:spPr>
          <a:xfrm>
            <a:off x="812721" y="6238280"/>
            <a:ext cx="719446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Agentic Data Quality Guardian · CoCoQuest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148" name="Shape 148"/>
        <p:cNvGrpSpPr/>
        <p:nvPr/>
      </p:nvGrpSpPr>
      <p:grpSpPr>
        <a:xfrm>
          <a:off x="0" y="0"/>
          <a:ext cx="0" cy="0"/>
          <a:chOff x="0" y="0"/>
          <a:chExt cx="0" cy="0"/>
        </a:xfrm>
      </p:grpSpPr>
      <p:sp>
        <p:nvSpPr>
          <p:cNvPr id="149" name="Google Shape;149;p6"/>
          <p:cNvSpPr/>
          <p:nvPr/>
        </p:nvSpPr>
        <p:spPr>
          <a:xfrm>
            <a:off x="812721" y="812722"/>
            <a:ext cx="10883556" cy="5003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F2A43"/>
              </a:buClr>
              <a:buSzPts val="3400"/>
              <a:buFont typeface="Rubik"/>
              <a:buNone/>
            </a:pPr>
            <a:r>
              <a:rPr b="1" i="0" lang="en-US" sz="3400" u="none" cap="none" strike="noStrike">
                <a:solidFill>
                  <a:srgbClr val="0F2A43"/>
                </a:solidFill>
                <a:latin typeface="Rubik"/>
                <a:ea typeface="Rubik"/>
                <a:cs typeface="Rubik"/>
                <a:sym typeface="Rubik"/>
              </a:rPr>
              <a:t>It writes its own quality rules</a:t>
            </a:r>
            <a:endParaRPr b="0" i="0" sz="3400" u="none" cap="none" strike="noStrike">
              <a:solidFill>
                <a:schemeClr val="dk1"/>
              </a:solidFill>
              <a:latin typeface="Calibri"/>
              <a:ea typeface="Calibri"/>
              <a:cs typeface="Calibri"/>
              <a:sym typeface="Calibri"/>
            </a:endParaRPr>
          </a:p>
        </p:txBody>
      </p:sp>
      <p:sp>
        <p:nvSpPr>
          <p:cNvPr id="150" name="Google Shape;150;p6"/>
          <p:cNvSpPr/>
          <p:nvPr/>
        </p:nvSpPr>
        <p:spPr>
          <a:xfrm>
            <a:off x="815896" y="1544799"/>
            <a:ext cx="7309089" cy="4293712"/>
          </a:xfrm>
          <a:prstGeom prst="roundRect">
            <a:avLst>
              <a:gd fmla="val 3475" name="adj"/>
            </a:avLst>
          </a:prstGeom>
          <a:solidFill>
            <a:srgbClr val="FAFCFD"/>
          </a:solidFill>
          <a:ln cap="flat" cmpd="sng" w="9525">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51" name="Google Shape;151;p6"/>
          <p:cNvGraphicFramePr/>
          <p:nvPr/>
        </p:nvGraphicFramePr>
        <p:xfrm>
          <a:off x="921901" y="1650802"/>
          <a:ext cx="3000000" cy="3000000"/>
        </p:xfrm>
        <a:graphic>
          <a:graphicData uri="http://schemas.openxmlformats.org/drawingml/2006/table">
            <a:tbl>
              <a:tblPr>
                <a:noFill/>
                <a:tableStyleId>{22987BC9-52AB-4815-9B8F-11794E623275}</a:tableStyleId>
              </a:tblPr>
              <a:tblGrid>
                <a:gridCol w="2413000"/>
                <a:gridCol w="4684075"/>
              </a:tblGrid>
              <a:tr h="354200">
                <a:tc>
                  <a:txBody>
                    <a:bodyPr/>
                    <a:lstStyle/>
                    <a:p>
                      <a:pPr indent="0" lvl="0" marL="0" marR="0" rtl="0" algn="l">
                        <a:lnSpc>
                          <a:spcPct val="140000"/>
                        </a:lnSpc>
                        <a:spcBef>
                          <a:spcPts val="0"/>
                        </a:spcBef>
                        <a:spcAft>
                          <a:spcPts val="0"/>
                        </a:spcAft>
                        <a:buClr>
                          <a:srgbClr val="0F2A43"/>
                        </a:buClr>
                        <a:buSzPts val="1300"/>
                        <a:buFont typeface="IBM Plex Sans"/>
                        <a:buNone/>
                      </a:pPr>
                      <a:r>
                        <a:rPr b="1" lang="en-US" sz="1300" u="none" cap="none" strike="noStrike">
                          <a:solidFill>
                            <a:srgbClr val="0F2A43"/>
                          </a:solidFill>
                          <a:latin typeface="IBM Plex Sans"/>
                          <a:ea typeface="IBM Plex Sans"/>
                          <a:cs typeface="IBM Plex Sans"/>
                          <a:sym typeface="IBM Plex Sans"/>
                        </a:rPr>
                        <a:t>Rule type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solidFill>
                      <a:srgbClr val="E0E6EA"/>
                    </a:solidFill>
                  </a:tcPr>
                </a:tc>
                <a:tc>
                  <a:txBody>
                    <a:bodyPr/>
                    <a:lstStyle/>
                    <a:p>
                      <a:pPr indent="0" lvl="0" marL="0" marR="0" rtl="0" algn="l">
                        <a:lnSpc>
                          <a:spcPct val="140000"/>
                        </a:lnSpc>
                        <a:spcBef>
                          <a:spcPts val="0"/>
                        </a:spcBef>
                        <a:spcAft>
                          <a:spcPts val="0"/>
                        </a:spcAft>
                        <a:buClr>
                          <a:srgbClr val="0F2A43"/>
                        </a:buClr>
                        <a:buSzPts val="1300"/>
                        <a:buFont typeface="IBM Plex Sans"/>
                        <a:buNone/>
                      </a:pPr>
                      <a:r>
                        <a:rPr b="1" lang="en-US" sz="1300" u="none" cap="none" strike="noStrike">
                          <a:solidFill>
                            <a:srgbClr val="0F2A43"/>
                          </a:solidFill>
                          <a:latin typeface="IBM Plex Sans"/>
                          <a:ea typeface="IBM Plex Sans"/>
                          <a:cs typeface="IBM Plex Sans"/>
                          <a:sym typeface="IBM Plex Sans"/>
                        </a:rPr>
                        <a:t>Example the app creates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solidFill>
                      <a:srgbClr val="E0E6EA"/>
                    </a:solidFill>
                  </a:tcPr>
                </a:tc>
              </a:tr>
              <a:tr h="354200">
                <a:tc>
                  <a:txBody>
                    <a:bodyPr/>
                    <a:lstStyle/>
                    <a:p>
                      <a:pPr indent="0" lvl="0" marL="0" marR="0" rtl="0" algn="l">
                        <a:lnSpc>
                          <a:spcPct val="140000"/>
                        </a:lnSpc>
                        <a:spcBef>
                          <a:spcPts val="0"/>
                        </a:spcBef>
                        <a:spcAft>
                          <a:spcPts val="0"/>
                        </a:spcAft>
                        <a:buClr>
                          <a:srgbClr val="0F2A43"/>
                        </a:buClr>
                        <a:buSzPts val="1300"/>
                        <a:buFont typeface="IBM Plex Sans"/>
                        <a:buNone/>
                      </a:pPr>
                      <a:r>
                        <a:rPr lang="en-US" sz="1300" u="none" cap="none" strike="noStrike">
                          <a:solidFill>
                            <a:srgbClr val="0F2A43"/>
                          </a:solidFill>
                          <a:latin typeface="IBM Plex Sans"/>
                          <a:ea typeface="IBM Plex Sans"/>
                          <a:cs typeface="IBM Plex Sans"/>
                          <a:sym typeface="IBM Plex Sans"/>
                        </a:rPr>
                        <a:t>Completeness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300"/>
                        <a:buFont typeface="IBM Plex Sans"/>
                        <a:buNone/>
                      </a:pPr>
                      <a:r>
                        <a:rPr lang="en-US" sz="1300" u="none" cap="none" strike="noStrike">
                          <a:solidFill>
                            <a:srgbClr val="0F2A43"/>
                          </a:solidFill>
                          <a:latin typeface="IBM Plex Sans"/>
                          <a:ea typeface="IBM Plex Sans"/>
                          <a:cs typeface="IBM Plex Sans"/>
                          <a:sym typeface="IBM Plex Sans"/>
                        </a:rPr>
                        <a:t>EMAIL must not be blank</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r>
              <a:tr h="354200">
                <a:tc>
                  <a:txBody>
                    <a:bodyPr/>
                    <a:lstStyle/>
                    <a:p>
                      <a:pPr indent="0" lvl="0" marL="0" marR="0" rtl="0" algn="l">
                        <a:lnSpc>
                          <a:spcPct val="140000"/>
                        </a:lnSpc>
                        <a:spcBef>
                          <a:spcPts val="0"/>
                        </a:spcBef>
                        <a:spcAft>
                          <a:spcPts val="0"/>
                        </a:spcAft>
                        <a:buClr>
                          <a:srgbClr val="0F2A43"/>
                        </a:buClr>
                        <a:buSzPts val="1300"/>
                        <a:buFont typeface="IBM Plex Sans"/>
                        <a:buNone/>
                      </a:pPr>
                      <a:r>
                        <a:rPr lang="en-US" sz="1300" u="none" cap="none" strike="noStrike">
                          <a:solidFill>
                            <a:srgbClr val="0F2A43"/>
                          </a:solidFill>
                          <a:latin typeface="IBM Plex Sans"/>
                          <a:ea typeface="IBM Plex Sans"/>
                          <a:cs typeface="IBM Plex Sans"/>
                          <a:sym typeface="IBM Plex Sans"/>
                        </a:rPr>
                        <a:t>Format</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300"/>
                        <a:buFont typeface="IBM Plex Sans"/>
                        <a:buNone/>
                      </a:pPr>
                      <a:r>
                        <a:rPr lang="en-US" sz="1300" u="none" cap="none" strike="noStrike">
                          <a:solidFill>
                            <a:srgbClr val="0F2A43"/>
                          </a:solidFill>
                          <a:latin typeface="IBM Plex Sans"/>
                          <a:ea typeface="IBM Plex Sans"/>
                          <a:cs typeface="IBM Plex Sans"/>
                          <a:sym typeface="IBM Plex Sans"/>
                        </a:rPr>
                        <a:t>PHONE is a 10-digit Indian mobile number</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r>
              <a:tr h="354200">
                <a:tc>
                  <a:txBody>
                    <a:bodyPr/>
                    <a:lstStyle/>
                    <a:p>
                      <a:pPr indent="0" lvl="0" marL="0" marR="0" rtl="0" algn="l">
                        <a:lnSpc>
                          <a:spcPct val="140000"/>
                        </a:lnSpc>
                        <a:spcBef>
                          <a:spcPts val="0"/>
                        </a:spcBef>
                        <a:spcAft>
                          <a:spcPts val="0"/>
                        </a:spcAft>
                        <a:buClr>
                          <a:srgbClr val="0F2A43"/>
                        </a:buClr>
                        <a:buSzPts val="1300"/>
                        <a:buFont typeface="IBM Plex Sans"/>
                        <a:buNone/>
                      </a:pPr>
                      <a:r>
                        <a:rPr lang="en-US" sz="1300" u="none" cap="none" strike="noStrike">
                          <a:solidFill>
                            <a:srgbClr val="0F2A43"/>
                          </a:solidFill>
                          <a:latin typeface="IBM Plex Sans"/>
                          <a:ea typeface="IBM Plex Sans"/>
                          <a:cs typeface="IBM Plex Sans"/>
                          <a:sym typeface="IBM Plex Sans"/>
                        </a:rPr>
                        <a:t>Valid values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300"/>
                        <a:buFont typeface="IBM Plex Sans"/>
                        <a:buNone/>
                      </a:pPr>
                      <a:r>
                        <a:rPr lang="en-US" sz="1300" u="none" cap="none" strike="noStrike">
                          <a:solidFill>
                            <a:srgbClr val="0F2A43"/>
                          </a:solidFill>
                          <a:latin typeface="IBM Plex Sans"/>
                          <a:ea typeface="IBM Plex Sans"/>
                          <a:cs typeface="IBM Plex Sans"/>
                          <a:sym typeface="IBM Plex Sans"/>
                        </a:rPr>
                        <a:t>STATE: Odisha is valid, ODISHA is flagged</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r>
              <a:tr h="354200">
                <a:tc>
                  <a:txBody>
                    <a:bodyPr/>
                    <a:lstStyle/>
                    <a:p>
                      <a:pPr indent="0" lvl="0" marL="0" marR="0" rtl="0" algn="l">
                        <a:lnSpc>
                          <a:spcPct val="140000"/>
                        </a:lnSpc>
                        <a:spcBef>
                          <a:spcPts val="0"/>
                        </a:spcBef>
                        <a:spcAft>
                          <a:spcPts val="0"/>
                        </a:spcAft>
                        <a:buClr>
                          <a:srgbClr val="0F2A43"/>
                        </a:buClr>
                        <a:buSzPts val="1300"/>
                        <a:buFont typeface="IBM Plex Sans"/>
                        <a:buNone/>
                      </a:pPr>
                      <a:r>
                        <a:rPr lang="en-US" sz="1300" u="none" cap="none" strike="noStrike">
                          <a:solidFill>
                            <a:srgbClr val="0F2A43"/>
                          </a:solidFill>
                          <a:latin typeface="IBM Plex Sans"/>
                          <a:ea typeface="IBM Plex Sans"/>
                          <a:cs typeface="IBM Plex Sans"/>
                          <a:sym typeface="IBM Plex Sans"/>
                        </a:rPr>
                        <a:t>Dates and ranges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300"/>
                        <a:buFont typeface="IBM Plex Sans"/>
                        <a:buNone/>
                      </a:pPr>
                      <a:r>
                        <a:rPr lang="en-US" sz="1300" u="none" cap="none" strike="noStrike">
                          <a:solidFill>
                            <a:srgbClr val="0F2A43"/>
                          </a:solidFill>
                          <a:latin typeface="IBM Plex Sans"/>
                          <a:ea typeface="IBM Plex Sans"/>
                          <a:cs typeface="IBM Plex Sans"/>
                          <a:sym typeface="IBM Plex Sans"/>
                        </a:rPr>
                        <a:t>Birth date is not in the future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r>
              <a:tr h="354200">
                <a:tc>
                  <a:txBody>
                    <a:bodyPr/>
                    <a:lstStyle/>
                    <a:p>
                      <a:pPr indent="0" lvl="0" marL="0" marR="0" rtl="0" algn="l">
                        <a:lnSpc>
                          <a:spcPct val="140000"/>
                        </a:lnSpc>
                        <a:spcBef>
                          <a:spcPts val="0"/>
                        </a:spcBef>
                        <a:spcAft>
                          <a:spcPts val="0"/>
                        </a:spcAft>
                        <a:buClr>
                          <a:srgbClr val="0F2A43"/>
                        </a:buClr>
                        <a:buSzPts val="1300"/>
                        <a:buFont typeface="IBM Plex Sans"/>
                        <a:buNone/>
                      </a:pPr>
                      <a:r>
                        <a:rPr lang="en-US" sz="1300" u="none" cap="none" strike="noStrike">
                          <a:solidFill>
                            <a:srgbClr val="0F2A43"/>
                          </a:solidFill>
                          <a:latin typeface="IBM Plex Sans"/>
                          <a:ea typeface="IBM Plex Sans"/>
                          <a:cs typeface="IBM Plex Sans"/>
                          <a:sym typeface="IBM Plex Sans"/>
                        </a:rPr>
                        <a:t>Outliers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300"/>
                        <a:buFont typeface="IBM Plex Sans"/>
                        <a:buNone/>
                      </a:pPr>
                      <a:r>
                        <a:rPr lang="en-US" sz="1300" u="none" cap="none" strike="noStrike">
                          <a:solidFill>
                            <a:srgbClr val="0F2A43"/>
                          </a:solidFill>
                          <a:latin typeface="IBM Plex Sans"/>
                          <a:ea typeface="IBM Plex Sans"/>
                          <a:cs typeface="IBM Plex Sans"/>
                          <a:sym typeface="IBM Plex Sans"/>
                        </a:rPr>
                        <a:t>CREDIT_LIMIT far outside the normal spread</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r>
              <a:tr h="354200">
                <a:tc>
                  <a:txBody>
                    <a:bodyPr/>
                    <a:lstStyle/>
                    <a:p>
                      <a:pPr indent="0" lvl="0" marL="0" marR="0" rtl="0" algn="l">
                        <a:lnSpc>
                          <a:spcPct val="140000"/>
                        </a:lnSpc>
                        <a:spcBef>
                          <a:spcPts val="0"/>
                        </a:spcBef>
                        <a:spcAft>
                          <a:spcPts val="0"/>
                        </a:spcAft>
                        <a:buClr>
                          <a:srgbClr val="0F2A43"/>
                        </a:buClr>
                        <a:buSzPts val="1300"/>
                        <a:buFont typeface="IBM Plex Sans"/>
                        <a:buNone/>
                      </a:pPr>
                      <a:r>
                        <a:rPr lang="en-US" sz="1300" u="none" cap="none" strike="noStrike">
                          <a:solidFill>
                            <a:srgbClr val="0F2A43"/>
                          </a:solidFill>
                          <a:latin typeface="IBM Plex Sans"/>
                          <a:ea typeface="IBM Plex Sans"/>
                          <a:cs typeface="IBM Plex Sans"/>
                          <a:sym typeface="IBM Plex Sans"/>
                        </a:rPr>
                        <a:t>Uniqueness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300"/>
                        <a:buFont typeface="IBM Plex Sans"/>
                        <a:buNone/>
                      </a:pPr>
                      <a:r>
                        <a:rPr lang="en-US" sz="1300" u="none" cap="none" strike="noStrike">
                          <a:solidFill>
                            <a:srgbClr val="0F2A43"/>
                          </a:solidFill>
                          <a:latin typeface="IBM Plex Sans"/>
                          <a:ea typeface="IBM Plex Sans"/>
                          <a:cs typeface="IBM Plex Sans"/>
                          <a:sym typeface="IBM Plex Sans"/>
                        </a:rPr>
                        <a:t>CUSTOMER_ID is unique, no duplicate rows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r>
              <a:tr h="354200">
                <a:tc>
                  <a:txBody>
                    <a:bodyPr/>
                    <a:lstStyle/>
                    <a:p>
                      <a:pPr indent="0" lvl="0" marL="0" marR="0" rtl="0" algn="l">
                        <a:lnSpc>
                          <a:spcPct val="140000"/>
                        </a:lnSpc>
                        <a:spcBef>
                          <a:spcPts val="0"/>
                        </a:spcBef>
                        <a:spcAft>
                          <a:spcPts val="0"/>
                        </a:spcAft>
                        <a:buClr>
                          <a:srgbClr val="0F2A43"/>
                        </a:buClr>
                        <a:buSzPts val="1300"/>
                        <a:buFont typeface="IBM Plex Sans"/>
                        <a:buNone/>
                      </a:pPr>
                      <a:r>
                        <a:rPr lang="en-US" sz="1300" u="none" cap="none" strike="noStrike">
                          <a:solidFill>
                            <a:srgbClr val="0F2A43"/>
                          </a:solidFill>
                          <a:latin typeface="IBM Plex Sans"/>
                          <a:ea typeface="IBM Plex Sans"/>
                          <a:cs typeface="IBM Plex Sans"/>
                          <a:sym typeface="IBM Plex Sans"/>
                        </a:rPr>
                        <a:t>Links between tables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300"/>
                        <a:buFont typeface="IBM Plex Sans"/>
                        <a:buNone/>
                      </a:pPr>
                      <a:r>
                        <a:rPr lang="en-US" sz="1300" u="none" cap="none" strike="noStrike">
                          <a:solidFill>
                            <a:srgbClr val="0F2A43"/>
                          </a:solidFill>
                          <a:latin typeface="IBM Plex Sans"/>
                          <a:ea typeface="IBM Plex Sans"/>
                          <a:cs typeface="IBM Plex Sans"/>
                          <a:sym typeface="IBM Plex Sans"/>
                        </a:rPr>
                        <a:t>ORDERS.CUSTOMER_ID exists in CUSTOMERS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r>
              <a:tr h="354200">
                <a:tc>
                  <a:txBody>
                    <a:bodyPr/>
                    <a:lstStyle/>
                    <a:p>
                      <a:pPr indent="0" lvl="0" marL="0" marR="0" rtl="0" algn="l">
                        <a:lnSpc>
                          <a:spcPct val="140000"/>
                        </a:lnSpc>
                        <a:spcBef>
                          <a:spcPts val="0"/>
                        </a:spcBef>
                        <a:spcAft>
                          <a:spcPts val="0"/>
                        </a:spcAft>
                        <a:buClr>
                          <a:srgbClr val="0F2A43"/>
                        </a:buClr>
                        <a:buSzPts val="1300"/>
                        <a:buFont typeface="IBM Plex Sans"/>
                        <a:buNone/>
                      </a:pPr>
                      <a:r>
                        <a:rPr lang="en-US" sz="1300" u="none" cap="none" strike="noStrike">
                          <a:solidFill>
                            <a:srgbClr val="0F2A43"/>
                          </a:solidFill>
                          <a:latin typeface="IBM Plex Sans"/>
                          <a:ea typeface="IBM Plex Sans"/>
                          <a:cs typeface="IBM Plex Sans"/>
                          <a:sym typeface="IBM Plex Sans"/>
                        </a:rPr>
                        <a:t>Your own rule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0F2A43"/>
                        </a:buClr>
                        <a:buSzPts val="1300"/>
                        <a:buFont typeface="IBM Plex Sans"/>
                        <a:buNone/>
                      </a:pPr>
                      <a:r>
                        <a:rPr lang="en-US" sz="1300" u="none" cap="none" strike="noStrike">
                          <a:solidFill>
                            <a:srgbClr val="0F2A43"/>
                          </a:solidFill>
                          <a:latin typeface="IBM Plex Sans"/>
                          <a:ea typeface="IBM Plex Sans"/>
                          <a:cs typeface="IBM Plex Sans"/>
                          <a:sym typeface="IBM Plex Sans"/>
                        </a:rPr>
                        <a:t>SHIP_DATE is not before ORDER_DATE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0C9D1"/>
                      </a:solidFill>
                      <a:prstDash val="solid"/>
                      <a:round/>
                      <a:headEnd len="sm" w="sm" type="none"/>
                      <a:tailEnd len="sm" w="sm" type="none"/>
                    </a:lnL>
                    <a:lnR cap="flat" cmpd="sng" w="12700">
                      <a:solidFill>
                        <a:srgbClr val="C0C9D1"/>
                      </a:solidFill>
                      <a:prstDash val="solid"/>
                      <a:round/>
                      <a:headEnd len="sm" w="sm" type="none"/>
                      <a:tailEnd len="sm" w="sm" type="none"/>
                    </a:lnR>
                    <a:lnT cap="flat" cmpd="sng" w="12700">
                      <a:solidFill>
                        <a:srgbClr val="C0C9D1"/>
                      </a:solidFill>
                      <a:prstDash val="solid"/>
                      <a:round/>
                      <a:headEnd len="sm" w="sm" type="none"/>
                      <a:tailEnd len="sm" w="sm" type="none"/>
                    </a:lnT>
                    <a:lnB cap="flat" cmpd="sng" w="12700">
                      <a:solidFill>
                        <a:srgbClr val="C0C9D1"/>
                      </a:solidFill>
                      <a:prstDash val="solid"/>
                      <a:round/>
                      <a:headEnd len="sm" w="sm" type="none"/>
                      <a:tailEnd len="sm" w="sm" type="none"/>
                    </a:lnB>
                  </a:tcPr>
                </a:tc>
              </a:tr>
            </a:tbl>
          </a:graphicData>
        </a:graphic>
      </p:graphicFrame>
      <p:sp>
        <p:nvSpPr>
          <p:cNvPr id="152" name="Google Shape;152;p6"/>
          <p:cNvSpPr/>
          <p:nvPr/>
        </p:nvSpPr>
        <p:spPr>
          <a:xfrm>
            <a:off x="8334455" y="1544799"/>
            <a:ext cx="3041650" cy="1682671"/>
          </a:xfrm>
          <a:prstGeom prst="roundRect">
            <a:avLst>
              <a:gd fmla="val 8868" name="adj"/>
            </a:avLst>
          </a:prstGeom>
          <a:solidFill>
            <a:srgbClr val="FAFCFD"/>
          </a:solidFill>
          <a:ln cap="flat" cmpd="sng" w="9525">
            <a:solidFill>
              <a:srgbClr val="D5E0E8"/>
            </a:solidFill>
            <a:prstDash val="solid"/>
            <a:round/>
            <a:headEnd len="sm" w="sm" type="none"/>
            <a:tailEnd len="sm" w="sm" type="none"/>
          </a:ln>
          <a:effectLst>
            <a:outerShdw blurRad="127000" rotWithShape="0" algn="bl" dir="5400000" dist="38100">
              <a:srgbClr val="0F2A43">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6"/>
          <p:cNvSpPr/>
          <p:nvPr/>
        </p:nvSpPr>
        <p:spPr>
          <a:xfrm>
            <a:off x="8542020" y="1752364"/>
            <a:ext cx="2705315" cy="7874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A79AD"/>
              </a:buClr>
              <a:buSzPts val="6000"/>
              <a:buFont typeface="Rubik"/>
              <a:buNone/>
            </a:pPr>
            <a:r>
              <a:rPr b="1" i="0" lang="en-US" sz="6000" u="none" cap="none" strike="noStrike">
                <a:solidFill>
                  <a:srgbClr val="0A79AD"/>
                </a:solidFill>
                <a:latin typeface="Rubik"/>
                <a:ea typeface="Rubik"/>
                <a:cs typeface="Rubik"/>
                <a:sym typeface="Rubik"/>
              </a:rPr>
              <a:t>36</a:t>
            </a:r>
            <a:endParaRPr b="0" i="0" sz="6000" u="none" cap="none" strike="noStrike">
              <a:solidFill>
                <a:schemeClr val="dk1"/>
              </a:solidFill>
              <a:latin typeface="Calibri"/>
              <a:ea typeface="Calibri"/>
              <a:cs typeface="Calibri"/>
              <a:sym typeface="Calibri"/>
            </a:endParaRPr>
          </a:p>
        </p:txBody>
      </p:sp>
      <p:sp>
        <p:nvSpPr>
          <p:cNvPr id="154" name="Google Shape;154;p6"/>
          <p:cNvSpPr/>
          <p:nvPr/>
        </p:nvSpPr>
        <p:spPr>
          <a:xfrm>
            <a:off x="8542020" y="2590564"/>
            <a:ext cx="2705315" cy="454739"/>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rules created on the CUSTOMERS demo table</a:t>
            </a:r>
            <a:endParaRPr b="0" i="0" sz="1300" u="none" cap="none" strike="noStrike">
              <a:solidFill>
                <a:schemeClr val="dk1"/>
              </a:solidFill>
              <a:latin typeface="Calibri"/>
              <a:ea typeface="Calibri"/>
              <a:cs typeface="Calibri"/>
              <a:sym typeface="Calibri"/>
            </a:endParaRPr>
          </a:p>
        </p:txBody>
      </p:sp>
      <p:sp>
        <p:nvSpPr>
          <p:cNvPr id="155" name="Google Shape;155;p6"/>
          <p:cNvSpPr/>
          <p:nvPr/>
        </p:nvSpPr>
        <p:spPr>
          <a:xfrm>
            <a:off x="8334455" y="3386218"/>
            <a:ext cx="3041650" cy="1682671"/>
          </a:xfrm>
          <a:prstGeom prst="roundRect">
            <a:avLst>
              <a:gd fmla="val 8868" name="adj"/>
            </a:avLst>
          </a:prstGeom>
          <a:solidFill>
            <a:srgbClr val="FAFCFD"/>
          </a:solidFill>
          <a:ln cap="flat" cmpd="sng" w="9525">
            <a:solidFill>
              <a:srgbClr val="D5E0E8"/>
            </a:solidFill>
            <a:prstDash val="solid"/>
            <a:round/>
            <a:headEnd len="sm" w="sm" type="none"/>
            <a:tailEnd len="sm" w="sm" type="none"/>
          </a:ln>
          <a:effectLst>
            <a:outerShdw blurRad="127000" rotWithShape="0" algn="bl" dir="5400000" dist="38100">
              <a:srgbClr val="0F2A43">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6"/>
          <p:cNvSpPr/>
          <p:nvPr/>
        </p:nvSpPr>
        <p:spPr>
          <a:xfrm>
            <a:off x="8542020" y="3593784"/>
            <a:ext cx="2705315" cy="7874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A79AD"/>
              </a:buClr>
              <a:buSzPts val="6000"/>
              <a:buFont typeface="Rubik"/>
              <a:buNone/>
            </a:pPr>
            <a:r>
              <a:rPr b="1" i="0" lang="en-US" sz="6000" u="none" cap="none" strike="noStrike">
                <a:solidFill>
                  <a:srgbClr val="0A79AD"/>
                </a:solidFill>
                <a:latin typeface="Rubik"/>
                <a:ea typeface="Rubik"/>
                <a:cs typeface="Rubik"/>
                <a:sym typeface="Rubik"/>
              </a:rPr>
              <a:t>25</a:t>
            </a:r>
            <a:endParaRPr b="0" i="0" sz="6000" u="none" cap="none" strike="noStrike">
              <a:solidFill>
                <a:schemeClr val="dk1"/>
              </a:solidFill>
              <a:latin typeface="Calibri"/>
              <a:ea typeface="Calibri"/>
              <a:cs typeface="Calibri"/>
              <a:sym typeface="Calibri"/>
            </a:endParaRPr>
          </a:p>
        </p:txBody>
      </p:sp>
      <p:sp>
        <p:nvSpPr>
          <p:cNvPr id="157" name="Google Shape;157;p6"/>
          <p:cNvSpPr/>
          <p:nvPr/>
        </p:nvSpPr>
        <p:spPr>
          <a:xfrm>
            <a:off x="8542020" y="4431984"/>
            <a:ext cx="2705315" cy="454739"/>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rules created on the ORDERS demo table</a:t>
            </a:r>
            <a:endParaRPr b="0" i="0" sz="1300" u="none" cap="none" strike="noStrike">
              <a:solidFill>
                <a:schemeClr val="dk1"/>
              </a:solidFill>
              <a:latin typeface="Calibri"/>
              <a:ea typeface="Calibri"/>
              <a:cs typeface="Calibri"/>
              <a:sym typeface="Calibri"/>
            </a:endParaRPr>
          </a:p>
        </p:txBody>
      </p:sp>
      <p:sp>
        <p:nvSpPr>
          <p:cNvPr id="158" name="Google Shape;158;p6"/>
          <p:cNvSpPr/>
          <p:nvPr/>
        </p:nvSpPr>
        <p:spPr>
          <a:xfrm>
            <a:off x="8331280" y="5224466"/>
            <a:ext cx="3139440" cy="64262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Includes 3 hand-written business rules. Rules can be switched off, re-rated or added.</a:t>
            </a:r>
            <a:endParaRPr b="0" i="0" sz="1200" u="none" cap="none" strike="noStrike">
              <a:solidFill>
                <a:schemeClr val="dk1"/>
              </a:solidFill>
              <a:latin typeface="Calibri"/>
              <a:ea typeface="Calibri"/>
              <a:cs typeface="Calibri"/>
              <a:sym typeface="Calibri"/>
            </a:endParaRPr>
          </a:p>
        </p:txBody>
      </p:sp>
      <p:sp>
        <p:nvSpPr>
          <p:cNvPr id="159" name="Google Shape;159;p6"/>
          <p:cNvSpPr/>
          <p:nvPr/>
        </p:nvSpPr>
        <p:spPr>
          <a:xfrm>
            <a:off x="812721" y="6238283"/>
            <a:ext cx="719446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Agentic Data Quality Guardian · CoCoQuest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164" name="Shape 164"/>
        <p:cNvGrpSpPr/>
        <p:nvPr/>
      </p:nvGrpSpPr>
      <p:grpSpPr>
        <a:xfrm>
          <a:off x="0" y="0"/>
          <a:ext cx="0" cy="0"/>
          <a:chOff x="0" y="0"/>
          <a:chExt cx="0" cy="0"/>
        </a:xfrm>
      </p:grpSpPr>
      <p:sp>
        <p:nvSpPr>
          <p:cNvPr id="165" name="Google Shape;165;p7"/>
          <p:cNvSpPr/>
          <p:nvPr/>
        </p:nvSpPr>
        <p:spPr>
          <a:xfrm>
            <a:off x="812721" y="812719"/>
            <a:ext cx="10883556" cy="5003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F2A43"/>
              </a:buClr>
              <a:buSzPts val="3400"/>
              <a:buFont typeface="Rubik"/>
              <a:buNone/>
            </a:pPr>
            <a:r>
              <a:rPr b="1" i="0" lang="en-US" sz="3400" u="none" cap="none" strike="noStrike">
                <a:solidFill>
                  <a:srgbClr val="0F2A43"/>
                </a:solidFill>
                <a:latin typeface="Rubik"/>
                <a:ea typeface="Rubik"/>
                <a:cs typeface="Rubik"/>
                <a:sym typeface="Rubik"/>
              </a:rPr>
              <a:t>Every table gets a health score</a:t>
            </a:r>
            <a:endParaRPr b="0" i="0" sz="3400" u="none" cap="none" strike="noStrike">
              <a:solidFill>
                <a:schemeClr val="dk1"/>
              </a:solidFill>
              <a:latin typeface="Calibri"/>
              <a:ea typeface="Calibri"/>
              <a:cs typeface="Calibri"/>
              <a:sym typeface="Calibri"/>
            </a:endParaRPr>
          </a:p>
        </p:txBody>
      </p:sp>
      <p:sp>
        <p:nvSpPr>
          <p:cNvPr id="166" name="Google Shape;166;p7"/>
          <p:cNvSpPr/>
          <p:nvPr/>
        </p:nvSpPr>
        <p:spPr>
          <a:xfrm>
            <a:off x="812721" y="1541621"/>
            <a:ext cx="3301960" cy="2666643"/>
          </a:xfrm>
          <a:prstGeom prst="roundRect">
            <a:avLst>
              <a:gd fmla="val 5715" name="adj"/>
            </a:avLst>
          </a:prstGeom>
          <a:solidFill>
            <a:srgbClr val="0B223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7"/>
          <p:cNvSpPr/>
          <p:nvPr/>
        </p:nvSpPr>
        <p:spPr>
          <a:xfrm>
            <a:off x="1066681" y="1795580"/>
            <a:ext cx="2877861"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CUSTOMERS, before fixes</a:t>
            </a:r>
            <a:endParaRPr b="0" i="0" sz="1300" u="none" cap="none" strike="noStrike">
              <a:solidFill>
                <a:schemeClr val="dk1"/>
              </a:solidFill>
              <a:latin typeface="Calibri"/>
              <a:ea typeface="Calibri"/>
              <a:cs typeface="Calibri"/>
              <a:sym typeface="Calibri"/>
            </a:endParaRPr>
          </a:p>
        </p:txBody>
      </p:sp>
      <p:sp>
        <p:nvSpPr>
          <p:cNvPr id="168" name="Google Shape;168;p7"/>
          <p:cNvSpPr/>
          <p:nvPr/>
        </p:nvSpPr>
        <p:spPr>
          <a:xfrm>
            <a:off x="1066681" y="2102879"/>
            <a:ext cx="2877861" cy="9779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3FC1F0"/>
              </a:buClr>
              <a:buSzPts val="7500"/>
              <a:buFont typeface="Rubik"/>
              <a:buNone/>
            </a:pPr>
            <a:r>
              <a:rPr b="1" i="0" lang="en-US" sz="7500" u="none" cap="none" strike="noStrike">
                <a:solidFill>
                  <a:srgbClr val="3FC1F0"/>
                </a:solidFill>
                <a:latin typeface="Rubik"/>
                <a:ea typeface="Rubik"/>
                <a:cs typeface="Rubik"/>
                <a:sym typeface="Rubik"/>
              </a:rPr>
              <a:t>85.3</a:t>
            </a:r>
            <a:endParaRPr b="0" i="0" sz="7500" u="none" cap="none" strike="noStrike">
              <a:solidFill>
                <a:schemeClr val="dk1"/>
              </a:solidFill>
              <a:latin typeface="Calibri"/>
              <a:ea typeface="Calibri"/>
              <a:cs typeface="Calibri"/>
              <a:sym typeface="Calibri"/>
            </a:endParaRPr>
          </a:p>
        </p:txBody>
      </p:sp>
      <p:sp>
        <p:nvSpPr>
          <p:cNvPr id="169" name="Google Shape;169;p7"/>
          <p:cNvSpPr/>
          <p:nvPr/>
        </p:nvSpPr>
        <p:spPr>
          <a:xfrm>
            <a:off x="1066681" y="3131579"/>
            <a:ext cx="2877861"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AF2F8"/>
              </a:buClr>
              <a:buSzPts val="1400"/>
              <a:buFont typeface="IBM Plex Sans"/>
              <a:buNone/>
            </a:pPr>
            <a:r>
              <a:rPr b="0" i="0" lang="en-US" sz="1400" u="none" cap="none" strike="noStrike">
                <a:solidFill>
                  <a:srgbClr val="EAF2F8"/>
                </a:solidFill>
                <a:latin typeface="IBM Plex Sans"/>
                <a:ea typeface="IBM Plex Sans"/>
                <a:cs typeface="IBM Plex Sans"/>
                <a:sym typeface="IBM Plex Sans"/>
              </a:rPr>
              <a:t>health score out of 100</a:t>
            </a:r>
            <a:endParaRPr b="0" i="0" sz="1400" u="none" cap="none" strike="noStrike">
              <a:solidFill>
                <a:schemeClr val="dk1"/>
              </a:solidFill>
              <a:latin typeface="Calibri"/>
              <a:ea typeface="Calibri"/>
              <a:cs typeface="Calibri"/>
              <a:sym typeface="Calibri"/>
            </a:endParaRPr>
          </a:p>
        </p:txBody>
      </p:sp>
      <p:sp>
        <p:nvSpPr>
          <p:cNvPr id="170" name="Google Shape;170;p7"/>
          <p:cNvSpPr/>
          <p:nvPr/>
        </p:nvSpPr>
        <p:spPr>
          <a:xfrm>
            <a:off x="1066681" y="3456620"/>
            <a:ext cx="2877861" cy="5230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AF2F8"/>
              </a:buClr>
              <a:buSzPts val="1400"/>
              <a:buFont typeface="IBM Plex Sans"/>
              <a:buNone/>
            </a:pPr>
            <a:r>
              <a:rPr b="0" i="0" lang="en-US" sz="1400" u="none" cap="none" strike="noStrike">
                <a:solidFill>
                  <a:srgbClr val="EAF2F8"/>
                </a:solidFill>
                <a:latin typeface="IBM Plex Sans"/>
                <a:ea typeface="IBM Plex Sans"/>
                <a:cs typeface="IBM Plex Sans"/>
                <a:sym typeface="IBM Plex Sans"/>
              </a:rPr>
              <a:t>1,753 of 5,100 rows have at least one issue</a:t>
            </a:r>
            <a:endParaRPr b="0" i="0" sz="1400" u="none" cap="none" strike="noStrike">
              <a:solidFill>
                <a:schemeClr val="dk1"/>
              </a:solidFill>
              <a:latin typeface="Calibri"/>
              <a:ea typeface="Calibri"/>
              <a:cs typeface="Calibri"/>
              <a:sym typeface="Calibri"/>
            </a:endParaRPr>
          </a:p>
        </p:txBody>
      </p:sp>
      <p:sp>
        <p:nvSpPr>
          <p:cNvPr id="171" name="Google Shape;171;p7"/>
          <p:cNvSpPr/>
          <p:nvPr/>
        </p:nvSpPr>
        <p:spPr>
          <a:xfrm>
            <a:off x="4320977" y="1544796"/>
            <a:ext cx="7055128" cy="2660293"/>
          </a:xfrm>
          <a:prstGeom prst="roundRect">
            <a:avLst>
              <a:gd fmla="val 5609" name="adj"/>
            </a:avLst>
          </a:prstGeom>
          <a:solidFill>
            <a:srgbClr val="FAFCFD"/>
          </a:solidFill>
          <a:ln cap="flat" cmpd="sng" w="9525">
            <a:solidFill>
              <a:srgbClr val="D5E0E8"/>
            </a:solidFill>
            <a:prstDash val="solid"/>
            <a:round/>
            <a:headEnd len="sm" w="sm" type="none"/>
            <a:tailEnd len="sm" w="sm" type="none"/>
          </a:ln>
          <a:effectLst>
            <a:outerShdw blurRad="127000" rotWithShape="0" algn="bl" dir="5400000" dist="38100">
              <a:srgbClr val="0F2A43">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7"/>
          <p:cNvSpPr/>
          <p:nvPr/>
        </p:nvSpPr>
        <p:spPr>
          <a:xfrm>
            <a:off x="4528542" y="1752361"/>
            <a:ext cx="6839197" cy="28436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F2A43"/>
              </a:buClr>
              <a:buSzPts val="1700"/>
              <a:buFont typeface="Rubik"/>
              <a:buNone/>
            </a:pPr>
            <a:r>
              <a:rPr b="1" i="0" lang="en-US" sz="1700" u="none" cap="none" strike="noStrike">
                <a:solidFill>
                  <a:srgbClr val="0F2A43"/>
                </a:solidFill>
                <a:latin typeface="Rubik"/>
                <a:ea typeface="Rubik"/>
                <a:cs typeface="Rubik"/>
                <a:sym typeface="Rubik"/>
              </a:rPr>
              <a:t>Quality by dimension</a:t>
            </a:r>
            <a:endParaRPr b="0" i="0" sz="1700" u="none" cap="none" strike="noStrike">
              <a:solidFill>
                <a:schemeClr val="dk1"/>
              </a:solidFill>
              <a:latin typeface="Calibri"/>
              <a:ea typeface="Calibri"/>
              <a:cs typeface="Calibri"/>
              <a:sym typeface="Calibri"/>
            </a:endParaRPr>
          </a:p>
        </p:txBody>
      </p:sp>
      <p:sp>
        <p:nvSpPr>
          <p:cNvPr id="173" name="Google Shape;173;p7"/>
          <p:cNvSpPr/>
          <p:nvPr/>
        </p:nvSpPr>
        <p:spPr>
          <a:xfrm>
            <a:off x="4528542" y="2087522"/>
            <a:ext cx="157480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400"/>
              <a:buFont typeface="IBM Plex Sans"/>
              <a:buNone/>
            </a:pPr>
            <a:r>
              <a:rPr b="0" i="0" lang="en-US" sz="1400" u="none" cap="none" strike="noStrike">
                <a:solidFill>
                  <a:srgbClr val="0F2A43"/>
                </a:solidFill>
                <a:latin typeface="IBM Plex Sans"/>
                <a:ea typeface="IBM Plex Sans"/>
                <a:cs typeface="IBM Plex Sans"/>
                <a:sym typeface="IBM Plex Sans"/>
              </a:rPr>
              <a:t>Validity</a:t>
            </a:r>
            <a:endParaRPr b="0" i="0" sz="1400" u="none" cap="none" strike="noStrike">
              <a:solidFill>
                <a:schemeClr val="dk1"/>
              </a:solidFill>
              <a:latin typeface="Calibri"/>
              <a:ea typeface="Calibri"/>
              <a:cs typeface="Calibri"/>
              <a:sym typeface="Calibri"/>
            </a:endParaRPr>
          </a:p>
        </p:txBody>
      </p:sp>
      <p:sp>
        <p:nvSpPr>
          <p:cNvPr id="174" name="Google Shape;174;p7"/>
          <p:cNvSpPr/>
          <p:nvPr/>
        </p:nvSpPr>
        <p:spPr>
          <a:xfrm>
            <a:off x="6179463" y="2123002"/>
            <a:ext cx="3555921" cy="177760"/>
          </a:xfrm>
          <a:prstGeom prst="roundRect">
            <a:avLst>
              <a:gd fmla="val 50000" name="adj"/>
            </a:avLst>
          </a:prstGeom>
          <a:solidFill>
            <a:srgbClr val="DCE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7"/>
          <p:cNvSpPr/>
          <p:nvPr/>
        </p:nvSpPr>
        <p:spPr>
          <a:xfrm>
            <a:off x="6179463" y="2123002"/>
            <a:ext cx="2755821" cy="177760"/>
          </a:xfrm>
          <a:prstGeom prst="roundRect">
            <a:avLst>
              <a:gd fmla="val 50000" name="adj"/>
            </a:avLst>
          </a:prstGeom>
          <a:solidFill>
            <a:srgbClr val="D98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7"/>
          <p:cNvSpPr/>
          <p:nvPr/>
        </p:nvSpPr>
        <p:spPr>
          <a:xfrm>
            <a:off x="9862304" y="2087522"/>
            <a:ext cx="68576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400"/>
              <a:buFont typeface="IBM Plex Sans"/>
              <a:buNone/>
            </a:pPr>
            <a:r>
              <a:rPr b="1" i="0" lang="en-US" sz="1400" u="none" cap="none" strike="noStrike">
                <a:solidFill>
                  <a:srgbClr val="0F2A43"/>
                </a:solidFill>
                <a:latin typeface="IBM Plex Sans"/>
                <a:ea typeface="IBM Plex Sans"/>
                <a:cs typeface="IBM Plex Sans"/>
                <a:sym typeface="IBM Plex Sans"/>
              </a:rPr>
              <a:t>77.5</a:t>
            </a:r>
            <a:endParaRPr b="0" i="0" sz="1400" u="none" cap="none" strike="noStrike">
              <a:solidFill>
                <a:schemeClr val="dk1"/>
              </a:solidFill>
              <a:latin typeface="Calibri"/>
              <a:ea typeface="Calibri"/>
              <a:cs typeface="Calibri"/>
              <a:sym typeface="Calibri"/>
            </a:endParaRPr>
          </a:p>
        </p:txBody>
      </p:sp>
      <p:sp>
        <p:nvSpPr>
          <p:cNvPr id="177" name="Google Shape;177;p7"/>
          <p:cNvSpPr/>
          <p:nvPr/>
        </p:nvSpPr>
        <p:spPr>
          <a:xfrm>
            <a:off x="4528542" y="2476023"/>
            <a:ext cx="157480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400"/>
              <a:buFont typeface="IBM Plex Sans"/>
              <a:buNone/>
            </a:pPr>
            <a:r>
              <a:rPr b="0" i="0" lang="en-US" sz="1400" u="none" cap="none" strike="noStrike">
                <a:solidFill>
                  <a:srgbClr val="0F2A43"/>
                </a:solidFill>
                <a:latin typeface="IBM Plex Sans"/>
                <a:ea typeface="IBM Plex Sans"/>
                <a:cs typeface="IBM Plex Sans"/>
                <a:sym typeface="IBM Plex Sans"/>
              </a:rPr>
              <a:t>Uniqueness</a:t>
            </a:r>
            <a:endParaRPr b="0" i="0" sz="1400" u="none" cap="none" strike="noStrike">
              <a:solidFill>
                <a:schemeClr val="dk1"/>
              </a:solidFill>
              <a:latin typeface="Calibri"/>
              <a:ea typeface="Calibri"/>
              <a:cs typeface="Calibri"/>
              <a:sym typeface="Calibri"/>
            </a:endParaRPr>
          </a:p>
        </p:txBody>
      </p:sp>
      <p:sp>
        <p:nvSpPr>
          <p:cNvPr id="178" name="Google Shape;178;p7"/>
          <p:cNvSpPr/>
          <p:nvPr/>
        </p:nvSpPr>
        <p:spPr>
          <a:xfrm>
            <a:off x="6179463" y="2511503"/>
            <a:ext cx="3555921" cy="177760"/>
          </a:xfrm>
          <a:prstGeom prst="roundRect">
            <a:avLst>
              <a:gd fmla="val 50000" name="adj"/>
            </a:avLst>
          </a:prstGeom>
          <a:solidFill>
            <a:srgbClr val="DCE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7"/>
          <p:cNvSpPr/>
          <p:nvPr/>
        </p:nvSpPr>
        <p:spPr>
          <a:xfrm>
            <a:off x="6179463" y="2511503"/>
            <a:ext cx="2857500" cy="177760"/>
          </a:xfrm>
          <a:prstGeom prst="roundRect">
            <a:avLst>
              <a:gd fmla="val 50000" name="adj"/>
            </a:avLst>
          </a:prstGeom>
          <a:solidFill>
            <a:srgbClr val="D98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7"/>
          <p:cNvSpPr/>
          <p:nvPr/>
        </p:nvSpPr>
        <p:spPr>
          <a:xfrm>
            <a:off x="9862304" y="2476023"/>
            <a:ext cx="68576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400"/>
              <a:buFont typeface="IBM Plex Sans"/>
              <a:buNone/>
            </a:pPr>
            <a:r>
              <a:rPr b="1" i="0" lang="en-US" sz="1400" u="none" cap="none" strike="noStrike">
                <a:solidFill>
                  <a:srgbClr val="0F2A43"/>
                </a:solidFill>
                <a:latin typeface="IBM Plex Sans"/>
                <a:ea typeface="IBM Plex Sans"/>
                <a:cs typeface="IBM Plex Sans"/>
                <a:sym typeface="IBM Plex Sans"/>
              </a:rPr>
              <a:t>80.4</a:t>
            </a:r>
            <a:endParaRPr b="0" i="0" sz="1400" u="none" cap="none" strike="noStrike">
              <a:solidFill>
                <a:schemeClr val="dk1"/>
              </a:solidFill>
              <a:latin typeface="Calibri"/>
              <a:ea typeface="Calibri"/>
              <a:cs typeface="Calibri"/>
              <a:sym typeface="Calibri"/>
            </a:endParaRPr>
          </a:p>
        </p:txBody>
      </p:sp>
      <p:sp>
        <p:nvSpPr>
          <p:cNvPr id="181" name="Google Shape;181;p7"/>
          <p:cNvSpPr/>
          <p:nvPr/>
        </p:nvSpPr>
        <p:spPr>
          <a:xfrm>
            <a:off x="4528542" y="2864523"/>
            <a:ext cx="157480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400"/>
              <a:buFont typeface="IBM Plex Sans"/>
              <a:buNone/>
            </a:pPr>
            <a:r>
              <a:rPr b="0" i="0" lang="en-US" sz="1400" u="none" cap="none" strike="noStrike">
                <a:solidFill>
                  <a:srgbClr val="0F2A43"/>
                </a:solidFill>
                <a:latin typeface="IBM Plex Sans"/>
                <a:ea typeface="IBM Plex Sans"/>
                <a:cs typeface="IBM Plex Sans"/>
                <a:sym typeface="IBM Plex Sans"/>
              </a:rPr>
              <a:t>Consistency</a:t>
            </a:r>
            <a:endParaRPr b="0" i="0" sz="1400" u="none" cap="none" strike="noStrike">
              <a:solidFill>
                <a:schemeClr val="dk1"/>
              </a:solidFill>
              <a:latin typeface="Calibri"/>
              <a:ea typeface="Calibri"/>
              <a:cs typeface="Calibri"/>
              <a:sym typeface="Calibri"/>
            </a:endParaRPr>
          </a:p>
        </p:txBody>
      </p:sp>
      <p:sp>
        <p:nvSpPr>
          <p:cNvPr id="182" name="Google Shape;182;p7"/>
          <p:cNvSpPr/>
          <p:nvPr/>
        </p:nvSpPr>
        <p:spPr>
          <a:xfrm>
            <a:off x="6179463" y="2900003"/>
            <a:ext cx="3555921" cy="177760"/>
          </a:xfrm>
          <a:prstGeom prst="roundRect">
            <a:avLst>
              <a:gd fmla="val 50000" name="adj"/>
            </a:avLst>
          </a:prstGeom>
          <a:solidFill>
            <a:srgbClr val="DCE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7"/>
          <p:cNvSpPr/>
          <p:nvPr/>
        </p:nvSpPr>
        <p:spPr>
          <a:xfrm>
            <a:off x="6179463" y="2900003"/>
            <a:ext cx="2920960" cy="177760"/>
          </a:xfrm>
          <a:prstGeom prst="roundRect">
            <a:avLst>
              <a:gd fmla="val 50000" name="adj"/>
            </a:avLst>
          </a:prstGeom>
          <a:solidFill>
            <a:srgbClr val="D98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7"/>
          <p:cNvSpPr/>
          <p:nvPr/>
        </p:nvSpPr>
        <p:spPr>
          <a:xfrm>
            <a:off x="9862304" y="2864523"/>
            <a:ext cx="68576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400"/>
              <a:buFont typeface="IBM Plex Sans"/>
              <a:buNone/>
            </a:pPr>
            <a:r>
              <a:rPr b="1" i="0" lang="en-US" sz="1400" u="none" cap="none" strike="noStrike">
                <a:solidFill>
                  <a:srgbClr val="0F2A43"/>
                </a:solidFill>
                <a:latin typeface="IBM Plex Sans"/>
                <a:ea typeface="IBM Plex Sans"/>
                <a:cs typeface="IBM Plex Sans"/>
                <a:sym typeface="IBM Plex Sans"/>
              </a:rPr>
              <a:t>82.1</a:t>
            </a:r>
            <a:endParaRPr b="0" i="0" sz="1400" u="none" cap="none" strike="noStrike">
              <a:solidFill>
                <a:schemeClr val="dk1"/>
              </a:solidFill>
              <a:latin typeface="Calibri"/>
              <a:ea typeface="Calibri"/>
              <a:cs typeface="Calibri"/>
              <a:sym typeface="Calibri"/>
            </a:endParaRPr>
          </a:p>
        </p:txBody>
      </p:sp>
      <p:sp>
        <p:nvSpPr>
          <p:cNvPr id="185" name="Google Shape;185;p7"/>
          <p:cNvSpPr/>
          <p:nvPr/>
        </p:nvSpPr>
        <p:spPr>
          <a:xfrm>
            <a:off x="4528542" y="3253023"/>
            <a:ext cx="157480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400"/>
              <a:buFont typeface="IBM Plex Sans"/>
              <a:buNone/>
            </a:pPr>
            <a:r>
              <a:rPr b="0" i="0" lang="en-US" sz="1400" u="none" cap="none" strike="noStrike">
                <a:solidFill>
                  <a:srgbClr val="0F2A43"/>
                </a:solidFill>
                <a:latin typeface="IBM Plex Sans"/>
                <a:ea typeface="IBM Plex Sans"/>
                <a:cs typeface="IBM Plex Sans"/>
                <a:sym typeface="IBM Plex Sans"/>
              </a:rPr>
              <a:t>Completeness</a:t>
            </a:r>
            <a:endParaRPr b="0" i="0" sz="1400" u="none" cap="none" strike="noStrike">
              <a:solidFill>
                <a:schemeClr val="dk1"/>
              </a:solidFill>
              <a:latin typeface="Calibri"/>
              <a:ea typeface="Calibri"/>
              <a:cs typeface="Calibri"/>
              <a:sym typeface="Calibri"/>
            </a:endParaRPr>
          </a:p>
        </p:txBody>
      </p:sp>
      <p:sp>
        <p:nvSpPr>
          <p:cNvPr id="186" name="Google Shape;186;p7"/>
          <p:cNvSpPr/>
          <p:nvPr/>
        </p:nvSpPr>
        <p:spPr>
          <a:xfrm>
            <a:off x="6179463" y="3288506"/>
            <a:ext cx="3555921" cy="177760"/>
          </a:xfrm>
          <a:prstGeom prst="roundRect">
            <a:avLst>
              <a:gd fmla="val 50000" name="adj"/>
            </a:avLst>
          </a:prstGeom>
          <a:solidFill>
            <a:srgbClr val="DCE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7"/>
          <p:cNvSpPr/>
          <p:nvPr/>
        </p:nvSpPr>
        <p:spPr>
          <a:xfrm>
            <a:off x="6179463" y="3288506"/>
            <a:ext cx="3289221" cy="177760"/>
          </a:xfrm>
          <a:prstGeom prst="roundRect">
            <a:avLst>
              <a:gd fmla="val 50000" name="adj"/>
            </a:avLst>
          </a:prstGeom>
          <a:solidFill>
            <a:srgbClr val="0A79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7"/>
          <p:cNvSpPr/>
          <p:nvPr/>
        </p:nvSpPr>
        <p:spPr>
          <a:xfrm>
            <a:off x="9862304" y="3253023"/>
            <a:ext cx="68576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400"/>
              <a:buFont typeface="IBM Plex Sans"/>
              <a:buNone/>
            </a:pPr>
            <a:r>
              <a:rPr b="1" i="0" lang="en-US" sz="1400" u="none" cap="none" strike="noStrike">
                <a:solidFill>
                  <a:srgbClr val="0F2A43"/>
                </a:solidFill>
                <a:latin typeface="IBM Plex Sans"/>
                <a:ea typeface="IBM Plex Sans"/>
                <a:cs typeface="IBM Plex Sans"/>
                <a:sym typeface="IBM Plex Sans"/>
              </a:rPr>
              <a:t>92.5</a:t>
            </a:r>
            <a:endParaRPr b="0" i="0" sz="1400" u="none" cap="none" strike="noStrike">
              <a:solidFill>
                <a:schemeClr val="dk1"/>
              </a:solidFill>
              <a:latin typeface="Calibri"/>
              <a:ea typeface="Calibri"/>
              <a:cs typeface="Calibri"/>
              <a:sym typeface="Calibri"/>
            </a:endParaRPr>
          </a:p>
        </p:txBody>
      </p:sp>
      <p:sp>
        <p:nvSpPr>
          <p:cNvPr id="189" name="Google Shape;189;p7"/>
          <p:cNvSpPr/>
          <p:nvPr/>
        </p:nvSpPr>
        <p:spPr>
          <a:xfrm>
            <a:off x="4528542" y="3641527"/>
            <a:ext cx="157480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400"/>
              <a:buFont typeface="IBM Plex Sans"/>
              <a:buNone/>
            </a:pPr>
            <a:r>
              <a:rPr b="0" i="0" lang="en-US" sz="1400" u="none" cap="none" strike="noStrike">
                <a:solidFill>
                  <a:srgbClr val="0F2A43"/>
                </a:solidFill>
                <a:latin typeface="IBM Plex Sans"/>
                <a:ea typeface="IBM Plex Sans"/>
                <a:cs typeface="IBM Plex Sans"/>
                <a:sym typeface="IBM Plex Sans"/>
              </a:rPr>
              <a:t>Accuracy</a:t>
            </a:r>
            <a:endParaRPr b="0" i="0" sz="1400" u="none" cap="none" strike="noStrike">
              <a:solidFill>
                <a:schemeClr val="dk1"/>
              </a:solidFill>
              <a:latin typeface="Calibri"/>
              <a:ea typeface="Calibri"/>
              <a:cs typeface="Calibri"/>
              <a:sym typeface="Calibri"/>
            </a:endParaRPr>
          </a:p>
        </p:txBody>
      </p:sp>
      <p:sp>
        <p:nvSpPr>
          <p:cNvPr id="190" name="Google Shape;190;p7"/>
          <p:cNvSpPr/>
          <p:nvPr/>
        </p:nvSpPr>
        <p:spPr>
          <a:xfrm>
            <a:off x="6179463" y="3677007"/>
            <a:ext cx="3555921" cy="177760"/>
          </a:xfrm>
          <a:prstGeom prst="roundRect">
            <a:avLst>
              <a:gd fmla="val 50000" name="adj"/>
            </a:avLst>
          </a:prstGeom>
          <a:solidFill>
            <a:srgbClr val="DCE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7"/>
          <p:cNvSpPr/>
          <p:nvPr/>
        </p:nvSpPr>
        <p:spPr>
          <a:xfrm>
            <a:off x="6179463" y="3677007"/>
            <a:ext cx="3429000" cy="177760"/>
          </a:xfrm>
          <a:prstGeom prst="roundRect">
            <a:avLst>
              <a:gd fmla="val 50000" name="adj"/>
            </a:avLst>
          </a:prstGeom>
          <a:solidFill>
            <a:srgbClr val="0A79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7"/>
          <p:cNvSpPr/>
          <p:nvPr/>
        </p:nvSpPr>
        <p:spPr>
          <a:xfrm>
            <a:off x="9862304" y="3641527"/>
            <a:ext cx="68576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400"/>
              <a:buFont typeface="IBM Plex Sans"/>
              <a:buNone/>
            </a:pPr>
            <a:r>
              <a:rPr b="1" i="0" lang="en-US" sz="1400" u="none" cap="none" strike="noStrike">
                <a:solidFill>
                  <a:srgbClr val="0F2A43"/>
                </a:solidFill>
                <a:latin typeface="IBM Plex Sans"/>
                <a:ea typeface="IBM Plex Sans"/>
                <a:cs typeface="IBM Plex Sans"/>
                <a:sym typeface="IBM Plex Sans"/>
              </a:rPr>
              <a:t>96.5</a:t>
            </a:r>
            <a:endParaRPr b="0" i="0" sz="1400" u="none" cap="none" strike="noStrike">
              <a:solidFill>
                <a:schemeClr val="dk1"/>
              </a:solidFill>
              <a:latin typeface="Calibri"/>
              <a:ea typeface="Calibri"/>
              <a:cs typeface="Calibri"/>
              <a:sym typeface="Calibri"/>
            </a:endParaRPr>
          </a:p>
        </p:txBody>
      </p:sp>
      <p:sp>
        <p:nvSpPr>
          <p:cNvPr id="193" name="Google Shape;193;p7"/>
          <p:cNvSpPr/>
          <p:nvPr/>
        </p:nvSpPr>
        <p:spPr>
          <a:xfrm>
            <a:off x="812721" y="4462224"/>
            <a:ext cx="10883556"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400"/>
              <a:buFont typeface="JetBrains Mono"/>
              <a:buNone/>
            </a:pPr>
            <a:r>
              <a:rPr b="0" i="0" lang="en-US" sz="1400" u="none" cap="none" strike="noStrike">
                <a:solidFill>
                  <a:srgbClr val="0F2A43"/>
                </a:solidFill>
                <a:latin typeface="JetBrains Mono"/>
                <a:ea typeface="JetBrains Mono"/>
                <a:cs typeface="JetBrains Mono"/>
                <a:sym typeface="JetBrains Mono"/>
              </a:rPr>
              <a:t>rule score = 1 - (share of bad rows x strictness)</a:t>
            </a:r>
            <a:endParaRPr b="0" i="0" sz="1400" u="none" cap="none" strike="noStrike">
              <a:solidFill>
                <a:schemeClr val="dk1"/>
              </a:solidFill>
              <a:latin typeface="Calibri"/>
              <a:ea typeface="Calibri"/>
              <a:cs typeface="Calibri"/>
              <a:sym typeface="Calibri"/>
            </a:endParaRPr>
          </a:p>
        </p:txBody>
      </p:sp>
      <p:sp>
        <p:nvSpPr>
          <p:cNvPr id="194" name="Google Shape;194;p7"/>
          <p:cNvSpPr/>
          <p:nvPr/>
        </p:nvSpPr>
        <p:spPr>
          <a:xfrm>
            <a:off x="812721" y="6238280"/>
            <a:ext cx="719446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Agentic Data Quality Guardian · CoCoQuest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199" name="Shape 199"/>
        <p:cNvGrpSpPr/>
        <p:nvPr/>
      </p:nvGrpSpPr>
      <p:grpSpPr>
        <a:xfrm>
          <a:off x="0" y="0"/>
          <a:ext cx="0" cy="0"/>
          <a:chOff x="0" y="0"/>
          <a:chExt cx="0" cy="0"/>
        </a:xfrm>
      </p:grpSpPr>
      <p:sp>
        <p:nvSpPr>
          <p:cNvPr id="200" name="Google Shape;200;p8"/>
          <p:cNvSpPr/>
          <p:nvPr/>
        </p:nvSpPr>
        <p:spPr>
          <a:xfrm>
            <a:off x="812721" y="812719"/>
            <a:ext cx="10883556" cy="5003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F2A43"/>
              </a:buClr>
              <a:buSzPts val="3400"/>
              <a:buFont typeface="Rubik"/>
              <a:buNone/>
            </a:pPr>
            <a:r>
              <a:rPr b="1" i="0" lang="en-US" sz="3400" u="none" cap="none" strike="noStrike">
                <a:solidFill>
                  <a:srgbClr val="0F2A43"/>
                </a:solidFill>
                <a:latin typeface="Rubik"/>
                <a:ea typeface="Rubik"/>
                <a:cs typeface="Rubik"/>
                <a:sym typeface="Rubik"/>
              </a:rPr>
              <a:t>Three sources of fixes, always reviewed</a:t>
            </a:r>
            <a:endParaRPr b="0" i="0" sz="3400" u="none" cap="none" strike="noStrike">
              <a:solidFill>
                <a:schemeClr val="dk1"/>
              </a:solidFill>
              <a:latin typeface="Calibri"/>
              <a:ea typeface="Calibri"/>
              <a:cs typeface="Calibri"/>
              <a:sym typeface="Calibri"/>
            </a:endParaRPr>
          </a:p>
        </p:txBody>
      </p:sp>
      <p:sp>
        <p:nvSpPr>
          <p:cNvPr id="201" name="Google Shape;201;p8"/>
          <p:cNvSpPr/>
          <p:nvPr/>
        </p:nvSpPr>
        <p:spPr>
          <a:xfrm>
            <a:off x="815896" y="1544796"/>
            <a:ext cx="3380383" cy="2312511"/>
          </a:xfrm>
          <a:prstGeom prst="roundRect">
            <a:avLst>
              <a:gd fmla="val 6453" name="adj"/>
            </a:avLst>
          </a:prstGeom>
          <a:solidFill>
            <a:srgbClr val="FAFCFD"/>
          </a:solidFill>
          <a:ln cap="flat" cmpd="sng" w="9525">
            <a:solidFill>
              <a:srgbClr val="D5E0E8"/>
            </a:solidFill>
            <a:prstDash val="solid"/>
            <a:round/>
            <a:headEnd len="sm" w="sm" type="none"/>
            <a:tailEnd len="sm" w="sm" type="none"/>
          </a:ln>
          <a:effectLst>
            <a:outerShdw blurRad="127000" rotWithShape="0" algn="bl" dir="5400000" dist="38100">
              <a:srgbClr val="0F2A43">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8"/>
          <p:cNvSpPr/>
          <p:nvPr/>
        </p:nvSpPr>
        <p:spPr>
          <a:xfrm>
            <a:off x="1023461" y="1752361"/>
            <a:ext cx="3054209" cy="635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A79AD"/>
              </a:buClr>
              <a:buSzPts val="4800"/>
              <a:buFont typeface="Rubik"/>
              <a:buNone/>
            </a:pPr>
            <a:r>
              <a:rPr b="1" i="0" lang="en-US" sz="4800" u="none" cap="none" strike="noStrike">
                <a:solidFill>
                  <a:srgbClr val="0A79AD"/>
                </a:solidFill>
                <a:latin typeface="Rubik"/>
                <a:ea typeface="Rubik"/>
                <a:cs typeface="Rubik"/>
                <a:sym typeface="Rubik"/>
              </a:rPr>
              <a:t>18</a:t>
            </a:r>
            <a:endParaRPr b="0" i="0" sz="4800" u="none" cap="none" strike="noStrike">
              <a:solidFill>
                <a:schemeClr val="dk1"/>
              </a:solidFill>
              <a:latin typeface="Calibri"/>
              <a:ea typeface="Calibri"/>
              <a:cs typeface="Calibri"/>
              <a:sym typeface="Calibri"/>
            </a:endParaRPr>
          </a:p>
        </p:txBody>
      </p:sp>
      <p:sp>
        <p:nvSpPr>
          <p:cNvPr id="203" name="Google Shape;203;p8"/>
          <p:cNvSpPr/>
          <p:nvPr/>
        </p:nvSpPr>
        <p:spPr>
          <a:xfrm>
            <a:off x="1023461" y="2438161"/>
            <a:ext cx="3054209" cy="26924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F2A43"/>
              </a:buClr>
              <a:buSzPts val="1600"/>
              <a:buFont typeface="Rubik"/>
              <a:buNone/>
            </a:pPr>
            <a:r>
              <a:rPr b="1" i="0" lang="en-US" sz="1600" u="none" cap="none" strike="noStrike">
                <a:solidFill>
                  <a:srgbClr val="0F2A43"/>
                </a:solidFill>
                <a:latin typeface="Rubik"/>
                <a:ea typeface="Rubik"/>
                <a:cs typeface="Rubik"/>
                <a:sym typeface="Rubik"/>
              </a:rPr>
              <a:t>Ready-made recipes</a:t>
            </a:r>
            <a:endParaRPr b="0" i="0" sz="1600" u="none" cap="none" strike="noStrike">
              <a:solidFill>
                <a:schemeClr val="dk1"/>
              </a:solidFill>
              <a:latin typeface="Calibri"/>
              <a:ea typeface="Calibri"/>
              <a:cs typeface="Calibri"/>
              <a:sym typeface="Calibri"/>
            </a:endParaRPr>
          </a:p>
        </p:txBody>
      </p:sp>
      <p:sp>
        <p:nvSpPr>
          <p:cNvPr id="204" name="Google Shape;204;p8"/>
          <p:cNvSpPr/>
          <p:nvPr/>
        </p:nvSpPr>
        <p:spPr>
          <a:xfrm>
            <a:off x="1023461" y="2758201"/>
            <a:ext cx="3054209" cy="91694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Trim spaces, remove duplicates, standardise spelling, normalise phone numbers. Same input, same output, easy to explain.</a:t>
            </a:r>
            <a:endParaRPr b="0" i="0" sz="1300" u="none" cap="none" strike="noStrike">
              <a:solidFill>
                <a:schemeClr val="dk1"/>
              </a:solidFill>
              <a:latin typeface="Calibri"/>
              <a:ea typeface="Calibri"/>
              <a:cs typeface="Calibri"/>
              <a:sym typeface="Calibri"/>
            </a:endParaRPr>
          </a:p>
        </p:txBody>
      </p:sp>
      <p:sp>
        <p:nvSpPr>
          <p:cNvPr id="205" name="Google Shape;205;p8"/>
          <p:cNvSpPr/>
          <p:nvPr/>
        </p:nvSpPr>
        <p:spPr>
          <a:xfrm>
            <a:off x="4405749" y="1544796"/>
            <a:ext cx="3380502" cy="2312511"/>
          </a:xfrm>
          <a:prstGeom prst="roundRect">
            <a:avLst>
              <a:gd fmla="val 6453" name="adj"/>
            </a:avLst>
          </a:prstGeom>
          <a:solidFill>
            <a:srgbClr val="FAFCFD"/>
          </a:solidFill>
          <a:ln cap="flat" cmpd="sng" w="9525">
            <a:solidFill>
              <a:srgbClr val="D5E0E8"/>
            </a:solidFill>
            <a:prstDash val="solid"/>
            <a:round/>
            <a:headEnd len="sm" w="sm" type="none"/>
            <a:tailEnd len="sm" w="sm" type="none"/>
          </a:ln>
          <a:effectLst>
            <a:outerShdw blurRad="127000" rotWithShape="0" algn="bl" dir="5400000" dist="38100">
              <a:srgbClr val="0F2A43">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8"/>
          <p:cNvSpPr/>
          <p:nvPr/>
        </p:nvSpPr>
        <p:spPr>
          <a:xfrm>
            <a:off x="4613315" y="1752361"/>
            <a:ext cx="3054332" cy="635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A79AD"/>
              </a:buClr>
              <a:buSzPts val="4800"/>
              <a:buFont typeface="Rubik"/>
              <a:buNone/>
            </a:pPr>
            <a:r>
              <a:rPr b="1" i="0" lang="en-US" sz="4800" u="none" cap="none" strike="noStrike">
                <a:solidFill>
                  <a:srgbClr val="0A79AD"/>
                </a:solidFill>
                <a:latin typeface="Rubik"/>
                <a:ea typeface="Rubik"/>
                <a:cs typeface="Rubik"/>
                <a:sym typeface="Rubik"/>
              </a:rPr>
              <a:t>2</a:t>
            </a:r>
            <a:endParaRPr b="0" i="0" sz="4800" u="none" cap="none" strike="noStrike">
              <a:solidFill>
                <a:schemeClr val="dk1"/>
              </a:solidFill>
              <a:latin typeface="Calibri"/>
              <a:ea typeface="Calibri"/>
              <a:cs typeface="Calibri"/>
              <a:sym typeface="Calibri"/>
            </a:endParaRPr>
          </a:p>
        </p:txBody>
      </p:sp>
      <p:sp>
        <p:nvSpPr>
          <p:cNvPr id="207" name="Google Shape;207;p8"/>
          <p:cNvSpPr/>
          <p:nvPr/>
        </p:nvSpPr>
        <p:spPr>
          <a:xfrm>
            <a:off x="4613315" y="2438161"/>
            <a:ext cx="3054332" cy="26924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F2A43"/>
              </a:buClr>
              <a:buSzPts val="1600"/>
              <a:buFont typeface="Rubik"/>
              <a:buNone/>
            </a:pPr>
            <a:r>
              <a:rPr b="1" i="0" lang="en-US" sz="1600" u="none" cap="none" strike="noStrike">
                <a:solidFill>
                  <a:srgbClr val="0F2A43"/>
                </a:solidFill>
                <a:latin typeface="Rubik"/>
                <a:ea typeface="Rubik"/>
                <a:cs typeface="Rubik"/>
                <a:sym typeface="Rubik"/>
              </a:rPr>
              <a:t>Written by Cortex AI</a:t>
            </a:r>
            <a:endParaRPr b="0" i="0" sz="1600" u="none" cap="none" strike="noStrike">
              <a:solidFill>
                <a:schemeClr val="dk1"/>
              </a:solidFill>
              <a:latin typeface="Calibri"/>
              <a:ea typeface="Calibri"/>
              <a:cs typeface="Calibri"/>
              <a:sym typeface="Calibri"/>
            </a:endParaRPr>
          </a:p>
        </p:txBody>
      </p:sp>
      <p:sp>
        <p:nvSpPr>
          <p:cNvPr id="208" name="Google Shape;208;p8"/>
          <p:cNvSpPr/>
          <p:nvPr/>
        </p:nvSpPr>
        <p:spPr>
          <a:xfrm>
            <a:off x="4613315" y="2758201"/>
            <a:ext cx="3054332" cy="69405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Custom business rules such as signed up before age 18. The guardrail checks the SQL before you see it.</a:t>
            </a:r>
            <a:endParaRPr b="0" i="0" sz="1300" u="none" cap="none" strike="noStrike">
              <a:solidFill>
                <a:schemeClr val="dk1"/>
              </a:solidFill>
              <a:latin typeface="Calibri"/>
              <a:ea typeface="Calibri"/>
              <a:cs typeface="Calibri"/>
              <a:sym typeface="Calibri"/>
            </a:endParaRPr>
          </a:p>
        </p:txBody>
      </p:sp>
      <p:sp>
        <p:nvSpPr>
          <p:cNvPr id="209" name="Google Shape;209;p8"/>
          <p:cNvSpPr/>
          <p:nvPr/>
        </p:nvSpPr>
        <p:spPr>
          <a:xfrm>
            <a:off x="7995722" y="1544796"/>
            <a:ext cx="3380383" cy="2312511"/>
          </a:xfrm>
          <a:prstGeom prst="roundRect">
            <a:avLst>
              <a:gd fmla="val 6453" name="adj"/>
            </a:avLst>
          </a:prstGeom>
          <a:solidFill>
            <a:srgbClr val="FAFCFD"/>
          </a:solidFill>
          <a:ln cap="flat" cmpd="sng" w="9525">
            <a:solidFill>
              <a:srgbClr val="D5E0E8"/>
            </a:solidFill>
            <a:prstDash val="solid"/>
            <a:round/>
            <a:headEnd len="sm" w="sm" type="none"/>
            <a:tailEnd len="sm" w="sm" type="none"/>
          </a:ln>
          <a:effectLst>
            <a:outerShdw blurRad="127000" rotWithShape="0" algn="bl" dir="5400000" dist="38100">
              <a:srgbClr val="0F2A43">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8"/>
          <p:cNvSpPr/>
          <p:nvPr/>
        </p:nvSpPr>
        <p:spPr>
          <a:xfrm>
            <a:off x="8203288" y="1752361"/>
            <a:ext cx="3054209" cy="635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A79AD"/>
              </a:buClr>
              <a:buSzPts val="4800"/>
              <a:buFont typeface="Rubik"/>
              <a:buNone/>
            </a:pPr>
            <a:r>
              <a:rPr b="1" i="0" lang="en-US" sz="4800" u="none" cap="none" strike="noStrike">
                <a:solidFill>
                  <a:srgbClr val="0A79AD"/>
                </a:solidFill>
                <a:latin typeface="Rubik"/>
                <a:ea typeface="Rubik"/>
                <a:cs typeface="Rubik"/>
                <a:sym typeface="Rubik"/>
              </a:rPr>
              <a:t>4</a:t>
            </a:r>
            <a:endParaRPr b="0" i="0" sz="4800" u="none" cap="none" strike="noStrike">
              <a:solidFill>
                <a:schemeClr val="dk1"/>
              </a:solidFill>
              <a:latin typeface="Calibri"/>
              <a:ea typeface="Calibri"/>
              <a:cs typeface="Calibri"/>
              <a:sym typeface="Calibri"/>
            </a:endParaRPr>
          </a:p>
        </p:txBody>
      </p:sp>
      <p:sp>
        <p:nvSpPr>
          <p:cNvPr id="211" name="Google Shape;211;p8"/>
          <p:cNvSpPr/>
          <p:nvPr/>
        </p:nvSpPr>
        <p:spPr>
          <a:xfrm>
            <a:off x="8203288" y="2438161"/>
            <a:ext cx="3054209" cy="26924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F2A43"/>
              </a:buClr>
              <a:buSzPts val="1600"/>
              <a:buFont typeface="Rubik"/>
              <a:buNone/>
            </a:pPr>
            <a:r>
              <a:rPr b="1" i="0" lang="en-US" sz="1600" u="none" cap="none" strike="noStrike">
                <a:solidFill>
                  <a:srgbClr val="0F2A43"/>
                </a:solidFill>
                <a:latin typeface="Rubik"/>
                <a:ea typeface="Rubik"/>
                <a:cs typeface="Rubik"/>
                <a:sym typeface="Rubik"/>
              </a:rPr>
              <a:t>Left for people</a:t>
            </a:r>
            <a:endParaRPr b="0" i="0" sz="1600" u="none" cap="none" strike="noStrike">
              <a:solidFill>
                <a:schemeClr val="dk1"/>
              </a:solidFill>
              <a:latin typeface="Calibri"/>
              <a:ea typeface="Calibri"/>
              <a:cs typeface="Calibri"/>
              <a:sym typeface="Calibri"/>
            </a:endParaRPr>
          </a:p>
        </p:txBody>
      </p:sp>
      <p:sp>
        <p:nvSpPr>
          <p:cNvPr id="212" name="Google Shape;212;p8"/>
          <p:cNvSpPr/>
          <p:nvPr/>
        </p:nvSpPr>
        <p:spPr>
          <a:xfrm>
            <a:off x="8203288" y="2758201"/>
            <a:ext cx="3054209" cy="69405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Missing values and outliers are never guessed. The app explains why a human must decide.</a:t>
            </a:r>
            <a:endParaRPr b="0" i="0" sz="1300" u="none" cap="none" strike="noStrike">
              <a:solidFill>
                <a:schemeClr val="dk1"/>
              </a:solidFill>
              <a:latin typeface="Calibri"/>
              <a:ea typeface="Calibri"/>
              <a:cs typeface="Calibri"/>
              <a:sym typeface="Calibri"/>
            </a:endParaRPr>
          </a:p>
        </p:txBody>
      </p:sp>
      <p:sp>
        <p:nvSpPr>
          <p:cNvPr id="213" name="Google Shape;213;p8"/>
          <p:cNvSpPr/>
          <p:nvPr/>
        </p:nvSpPr>
        <p:spPr>
          <a:xfrm>
            <a:off x="812721" y="4114443"/>
            <a:ext cx="1762125" cy="332542"/>
          </a:xfrm>
          <a:prstGeom prst="roundRect">
            <a:avLst>
              <a:gd fmla="val 50000" name="adj"/>
            </a:avLst>
          </a:prstGeom>
          <a:solidFill>
            <a:srgbClr val="D9F2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8"/>
          <p:cNvSpPr/>
          <p:nvPr/>
        </p:nvSpPr>
        <p:spPr>
          <a:xfrm>
            <a:off x="952421" y="4165243"/>
            <a:ext cx="1533525" cy="25634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6B45"/>
              </a:buClr>
              <a:buSzPts val="1300"/>
              <a:buFont typeface="IBM Plex Sans"/>
              <a:buNone/>
            </a:pPr>
            <a:r>
              <a:rPr b="1" i="0" lang="en-US" sz="1300" u="none" cap="none" strike="noStrike">
                <a:solidFill>
                  <a:srgbClr val="146B45"/>
                </a:solidFill>
                <a:latin typeface="IBM Plex Sans"/>
                <a:ea typeface="IBM Plex Sans"/>
                <a:cs typeface="IBM Plex Sans"/>
                <a:sym typeface="IBM Plex Sans"/>
              </a:rPr>
              <a:t>LOW: safe clean-up</a:t>
            </a:r>
            <a:endParaRPr b="0" i="0" sz="1300" u="none" cap="none" strike="noStrike">
              <a:solidFill>
                <a:schemeClr val="dk1"/>
              </a:solidFill>
              <a:latin typeface="Calibri"/>
              <a:ea typeface="Calibri"/>
              <a:cs typeface="Calibri"/>
              <a:sym typeface="Calibri"/>
            </a:endParaRPr>
          </a:p>
        </p:txBody>
      </p:sp>
      <p:sp>
        <p:nvSpPr>
          <p:cNvPr id="215" name="Google Shape;215;p8"/>
          <p:cNvSpPr/>
          <p:nvPr/>
        </p:nvSpPr>
        <p:spPr>
          <a:xfrm>
            <a:off x="2676406" y="4114443"/>
            <a:ext cx="2207657" cy="332542"/>
          </a:xfrm>
          <a:prstGeom prst="roundRect">
            <a:avLst>
              <a:gd fmla="val 50000" name="adj"/>
            </a:avLst>
          </a:prstGeom>
          <a:solidFill>
            <a:srgbClr val="FBE8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8"/>
          <p:cNvSpPr/>
          <p:nvPr/>
        </p:nvSpPr>
        <p:spPr>
          <a:xfrm>
            <a:off x="2816106" y="4165243"/>
            <a:ext cx="1986105" cy="25634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4B00"/>
              </a:buClr>
              <a:buSzPts val="1300"/>
              <a:buFont typeface="IBM Plex Sans"/>
              <a:buNone/>
            </a:pPr>
            <a:r>
              <a:rPr b="1" i="0" lang="en-US" sz="1300" u="none" cap="none" strike="noStrike">
                <a:solidFill>
                  <a:srgbClr val="8A4B00"/>
                </a:solidFill>
                <a:latin typeface="IBM Plex Sans"/>
                <a:ea typeface="IBM Plex Sans"/>
                <a:cs typeface="IBM Plex Sans"/>
                <a:sym typeface="IBM Plex Sans"/>
              </a:rPr>
              <a:t>MEDIUM: changes values</a:t>
            </a:r>
            <a:endParaRPr b="0" i="0" sz="1300" u="none" cap="none" strike="noStrike">
              <a:solidFill>
                <a:schemeClr val="dk1"/>
              </a:solidFill>
              <a:latin typeface="Calibri"/>
              <a:ea typeface="Calibri"/>
              <a:cs typeface="Calibri"/>
              <a:sym typeface="Calibri"/>
            </a:endParaRPr>
          </a:p>
        </p:txBody>
      </p:sp>
      <p:sp>
        <p:nvSpPr>
          <p:cNvPr id="217" name="Google Shape;217;p8"/>
          <p:cNvSpPr/>
          <p:nvPr/>
        </p:nvSpPr>
        <p:spPr>
          <a:xfrm>
            <a:off x="4985623" y="4114443"/>
            <a:ext cx="1774389" cy="332542"/>
          </a:xfrm>
          <a:prstGeom prst="roundRect">
            <a:avLst>
              <a:gd fmla="val 50000" name="adj"/>
            </a:avLst>
          </a:prstGeom>
          <a:solidFill>
            <a:srgbClr val="F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8"/>
          <p:cNvSpPr/>
          <p:nvPr/>
        </p:nvSpPr>
        <p:spPr>
          <a:xfrm>
            <a:off x="5125323" y="4165243"/>
            <a:ext cx="1545789" cy="25634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E2020"/>
              </a:buClr>
              <a:buSzPts val="1300"/>
              <a:buFont typeface="IBM Plex Sans"/>
              <a:buNone/>
            </a:pPr>
            <a:r>
              <a:rPr b="1" i="0" lang="en-US" sz="1300" u="none" cap="none" strike="noStrike">
                <a:solidFill>
                  <a:srgbClr val="9E2020"/>
                </a:solidFill>
                <a:latin typeface="IBM Plex Sans"/>
                <a:ea typeface="IBM Plex Sans"/>
                <a:cs typeface="IBM Plex Sans"/>
                <a:sym typeface="IBM Plex Sans"/>
              </a:rPr>
              <a:t>HIGH: deletes rows</a:t>
            </a:r>
            <a:endParaRPr b="0" i="0" sz="1300" u="none" cap="none" strike="noStrike">
              <a:solidFill>
                <a:schemeClr val="dk1"/>
              </a:solidFill>
              <a:latin typeface="Calibri"/>
              <a:ea typeface="Calibri"/>
              <a:cs typeface="Calibri"/>
              <a:sym typeface="Calibri"/>
            </a:endParaRPr>
          </a:p>
        </p:txBody>
      </p:sp>
      <p:sp>
        <p:nvSpPr>
          <p:cNvPr id="219" name="Google Shape;219;p8"/>
          <p:cNvSpPr/>
          <p:nvPr/>
        </p:nvSpPr>
        <p:spPr>
          <a:xfrm>
            <a:off x="6861572" y="4173975"/>
            <a:ext cx="340101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Counts from the test run on both demo tables.</a:t>
            </a:r>
            <a:endParaRPr b="0" i="0" sz="1200" u="none" cap="none" strike="noStrike">
              <a:solidFill>
                <a:schemeClr val="dk1"/>
              </a:solidFill>
              <a:latin typeface="Calibri"/>
              <a:ea typeface="Calibri"/>
              <a:cs typeface="Calibri"/>
              <a:sym typeface="Calibri"/>
            </a:endParaRPr>
          </a:p>
        </p:txBody>
      </p:sp>
      <p:sp>
        <p:nvSpPr>
          <p:cNvPr id="220" name="Google Shape;220;p8"/>
          <p:cNvSpPr/>
          <p:nvPr/>
        </p:nvSpPr>
        <p:spPr>
          <a:xfrm>
            <a:off x="812721" y="6238277"/>
            <a:ext cx="719446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Agentic Data Quality Guardian · CoCoQuest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239"/>
        </a:solidFill>
      </p:bgPr>
    </p:bg>
    <p:spTree>
      <p:nvGrpSpPr>
        <p:cNvPr id="225" name="Shape 225"/>
        <p:cNvGrpSpPr/>
        <p:nvPr/>
      </p:nvGrpSpPr>
      <p:grpSpPr>
        <a:xfrm>
          <a:off x="0" y="0"/>
          <a:ext cx="0" cy="0"/>
          <a:chOff x="0" y="0"/>
          <a:chExt cx="0" cy="0"/>
        </a:xfrm>
      </p:grpSpPr>
      <p:sp>
        <p:nvSpPr>
          <p:cNvPr id="226" name="Google Shape;226;p9"/>
          <p:cNvSpPr/>
          <p:nvPr/>
        </p:nvSpPr>
        <p:spPr>
          <a:xfrm>
            <a:off x="812721" y="812726"/>
            <a:ext cx="10883556" cy="5003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EAF2F8"/>
              </a:buClr>
              <a:buSzPts val="3400"/>
              <a:buFont typeface="Rubik"/>
              <a:buNone/>
            </a:pPr>
            <a:r>
              <a:rPr b="1" i="0" lang="en-US" sz="3400" u="none" cap="none" strike="noStrike">
                <a:solidFill>
                  <a:srgbClr val="EAF2F8"/>
                </a:solidFill>
                <a:latin typeface="Rubik"/>
                <a:ea typeface="Rubik"/>
                <a:cs typeface="Rubik"/>
                <a:sym typeface="Rubik"/>
              </a:rPr>
              <a:t>Safe by design</a:t>
            </a:r>
            <a:endParaRPr b="0" i="0" sz="3400" u="none" cap="none" strike="noStrike">
              <a:solidFill>
                <a:schemeClr val="dk1"/>
              </a:solidFill>
              <a:latin typeface="Calibri"/>
              <a:ea typeface="Calibri"/>
              <a:cs typeface="Calibri"/>
              <a:sym typeface="Calibri"/>
            </a:endParaRPr>
          </a:p>
        </p:txBody>
      </p:sp>
      <p:sp>
        <p:nvSpPr>
          <p:cNvPr id="227" name="Google Shape;227;p9"/>
          <p:cNvSpPr/>
          <p:nvPr/>
        </p:nvSpPr>
        <p:spPr>
          <a:xfrm>
            <a:off x="815896" y="1544799"/>
            <a:ext cx="3397290" cy="1840071"/>
          </a:xfrm>
          <a:prstGeom prst="roundRect">
            <a:avLst>
              <a:gd fmla="val 8110"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9"/>
          <p:cNvSpPr/>
          <p:nvPr/>
        </p:nvSpPr>
        <p:spPr>
          <a:xfrm>
            <a:off x="1023461" y="1752364"/>
            <a:ext cx="355521" cy="355521"/>
          </a:xfrm>
          <a:prstGeom prst="roundRect">
            <a:avLst>
              <a:gd fmla="val 50000" name="adj"/>
            </a:avLst>
          </a:prstGeom>
          <a:solidFill>
            <a:srgbClr val="1B47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ck" id="229" name="Google Shape;229;p9"/>
          <p:cNvPicPr preferRelativeResize="0"/>
          <p:nvPr/>
        </p:nvPicPr>
        <p:blipFill rotWithShape="1">
          <a:blip r:embed="rId3">
            <a:alphaModFix/>
          </a:blip>
          <a:srcRect b="0" l="0" r="0" t="0"/>
          <a:stretch/>
        </p:blipFill>
        <p:spPr>
          <a:xfrm>
            <a:off x="1105972" y="1834877"/>
            <a:ext cx="190500" cy="190500"/>
          </a:xfrm>
          <a:prstGeom prst="rect">
            <a:avLst/>
          </a:prstGeom>
          <a:noFill/>
          <a:ln>
            <a:noFill/>
          </a:ln>
        </p:spPr>
      </p:pic>
      <p:sp>
        <p:nvSpPr>
          <p:cNvPr id="230" name="Google Shape;230;p9"/>
          <p:cNvSpPr/>
          <p:nvPr/>
        </p:nvSpPr>
        <p:spPr>
          <a:xfrm>
            <a:off x="1023461" y="2184084"/>
            <a:ext cx="3071623" cy="26924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600"/>
              <a:buFont typeface="Rubik"/>
              <a:buNone/>
            </a:pPr>
            <a:r>
              <a:rPr b="1" i="0" lang="en-US" sz="1600" u="none" cap="none" strike="noStrike">
                <a:solidFill>
                  <a:srgbClr val="EAF2F8"/>
                </a:solidFill>
                <a:latin typeface="Rubik"/>
                <a:ea typeface="Rubik"/>
                <a:cs typeface="Rubik"/>
                <a:sym typeface="Rubik"/>
              </a:rPr>
              <a:t>Source is never touched</a:t>
            </a:r>
            <a:endParaRPr b="0" i="0" sz="1600" u="none" cap="none" strike="noStrike">
              <a:solidFill>
                <a:schemeClr val="dk1"/>
              </a:solidFill>
              <a:latin typeface="Calibri"/>
              <a:ea typeface="Calibri"/>
              <a:cs typeface="Calibri"/>
              <a:sym typeface="Calibri"/>
            </a:endParaRPr>
          </a:p>
        </p:txBody>
      </p:sp>
      <p:sp>
        <p:nvSpPr>
          <p:cNvPr id="231" name="Google Shape;231;p9"/>
          <p:cNvSpPr/>
          <p:nvPr/>
        </p:nvSpPr>
        <p:spPr>
          <a:xfrm>
            <a:off x="1023461" y="2504126"/>
            <a:ext cx="3071623" cy="454739"/>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Fixes run on a zero-copy clone in the CLEAN schema.</a:t>
            </a:r>
            <a:endParaRPr b="0" i="0" sz="1300" u="none" cap="none" strike="noStrike">
              <a:solidFill>
                <a:schemeClr val="dk1"/>
              </a:solidFill>
              <a:latin typeface="Calibri"/>
              <a:ea typeface="Calibri"/>
              <a:cs typeface="Calibri"/>
              <a:sym typeface="Calibri"/>
            </a:endParaRPr>
          </a:p>
        </p:txBody>
      </p:sp>
      <p:sp>
        <p:nvSpPr>
          <p:cNvPr id="232" name="Google Shape;232;p9"/>
          <p:cNvSpPr/>
          <p:nvPr/>
        </p:nvSpPr>
        <p:spPr>
          <a:xfrm>
            <a:off x="4397296" y="1544799"/>
            <a:ext cx="3397290" cy="1840071"/>
          </a:xfrm>
          <a:prstGeom prst="roundRect">
            <a:avLst>
              <a:gd fmla="val 8110"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9"/>
          <p:cNvSpPr/>
          <p:nvPr/>
        </p:nvSpPr>
        <p:spPr>
          <a:xfrm>
            <a:off x="4604862" y="1752364"/>
            <a:ext cx="355521" cy="355521"/>
          </a:xfrm>
          <a:prstGeom prst="roundRect">
            <a:avLst>
              <a:gd fmla="val 50000" name="adj"/>
            </a:avLst>
          </a:prstGeom>
          <a:solidFill>
            <a:srgbClr val="1B47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Check" id="234" name="Google Shape;234;p9"/>
          <p:cNvPicPr preferRelativeResize="0"/>
          <p:nvPr/>
        </p:nvPicPr>
        <p:blipFill rotWithShape="1">
          <a:blip r:embed="rId4">
            <a:alphaModFix/>
          </a:blip>
          <a:srcRect b="0" l="0" r="0" t="0"/>
          <a:stretch/>
        </p:blipFill>
        <p:spPr>
          <a:xfrm>
            <a:off x="4687372" y="1834877"/>
            <a:ext cx="190500" cy="190500"/>
          </a:xfrm>
          <a:prstGeom prst="rect">
            <a:avLst/>
          </a:prstGeom>
          <a:noFill/>
          <a:ln>
            <a:noFill/>
          </a:ln>
        </p:spPr>
      </p:pic>
      <p:sp>
        <p:nvSpPr>
          <p:cNvPr id="235" name="Google Shape;235;p9"/>
          <p:cNvSpPr/>
          <p:nvPr/>
        </p:nvSpPr>
        <p:spPr>
          <a:xfrm>
            <a:off x="4604862" y="2184084"/>
            <a:ext cx="3071623" cy="5130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600"/>
              <a:buFont typeface="Rubik"/>
              <a:buNone/>
            </a:pPr>
            <a:r>
              <a:rPr b="1" i="0" lang="en-US" sz="1600" u="none" cap="none" strike="noStrike">
                <a:solidFill>
                  <a:srgbClr val="EAF2F8"/>
                </a:solidFill>
                <a:latin typeface="Rubik"/>
                <a:ea typeface="Rubik"/>
                <a:cs typeface="Rubik"/>
                <a:sym typeface="Rubik"/>
              </a:rPr>
              <a:t>A human approves every change</a:t>
            </a:r>
            <a:endParaRPr b="0" i="0" sz="1600" u="none" cap="none" strike="noStrike">
              <a:solidFill>
                <a:schemeClr val="dk1"/>
              </a:solidFill>
              <a:latin typeface="Calibri"/>
              <a:ea typeface="Calibri"/>
              <a:cs typeface="Calibri"/>
              <a:sym typeface="Calibri"/>
            </a:endParaRPr>
          </a:p>
        </p:txBody>
      </p:sp>
      <p:sp>
        <p:nvSpPr>
          <p:cNvPr id="236" name="Google Shape;236;p9"/>
          <p:cNvSpPr/>
          <p:nvPr/>
        </p:nvSpPr>
        <p:spPr>
          <a:xfrm>
            <a:off x="4604862" y="2747963"/>
            <a:ext cx="3071623" cy="454739"/>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Nothing runs until someone ticks approve.</a:t>
            </a:r>
            <a:endParaRPr b="0" i="0" sz="1300" u="none" cap="none" strike="noStrike">
              <a:solidFill>
                <a:schemeClr val="dk1"/>
              </a:solidFill>
              <a:latin typeface="Calibri"/>
              <a:ea typeface="Calibri"/>
              <a:cs typeface="Calibri"/>
              <a:sym typeface="Calibri"/>
            </a:endParaRPr>
          </a:p>
        </p:txBody>
      </p:sp>
      <p:sp>
        <p:nvSpPr>
          <p:cNvPr id="237" name="Google Shape;237;p9"/>
          <p:cNvSpPr/>
          <p:nvPr/>
        </p:nvSpPr>
        <p:spPr>
          <a:xfrm>
            <a:off x="7978696" y="1544799"/>
            <a:ext cx="3397409" cy="1840071"/>
          </a:xfrm>
          <a:prstGeom prst="roundRect">
            <a:avLst>
              <a:gd fmla="val 8110"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9"/>
          <p:cNvSpPr/>
          <p:nvPr/>
        </p:nvSpPr>
        <p:spPr>
          <a:xfrm>
            <a:off x="8186262" y="1752364"/>
            <a:ext cx="355521" cy="355521"/>
          </a:xfrm>
          <a:prstGeom prst="roundRect">
            <a:avLst>
              <a:gd fmla="val 50000" name="adj"/>
            </a:avLst>
          </a:prstGeom>
          <a:solidFill>
            <a:srgbClr val="1B47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Verified" id="239" name="Google Shape;239;p9"/>
          <p:cNvPicPr preferRelativeResize="0"/>
          <p:nvPr/>
        </p:nvPicPr>
        <p:blipFill rotWithShape="1">
          <a:blip r:embed="rId5">
            <a:alphaModFix/>
          </a:blip>
          <a:srcRect b="0" l="0" r="0" t="0"/>
          <a:stretch/>
        </p:blipFill>
        <p:spPr>
          <a:xfrm>
            <a:off x="8268772" y="1834877"/>
            <a:ext cx="190500" cy="190500"/>
          </a:xfrm>
          <a:prstGeom prst="rect">
            <a:avLst/>
          </a:prstGeom>
          <a:noFill/>
          <a:ln>
            <a:noFill/>
          </a:ln>
        </p:spPr>
      </p:pic>
      <p:sp>
        <p:nvSpPr>
          <p:cNvPr id="240" name="Google Shape;240;p9"/>
          <p:cNvSpPr/>
          <p:nvPr/>
        </p:nvSpPr>
        <p:spPr>
          <a:xfrm>
            <a:off x="8186262" y="2184084"/>
            <a:ext cx="3071746" cy="26924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600"/>
              <a:buFont typeface="Rubik"/>
              <a:buNone/>
            </a:pPr>
            <a:r>
              <a:rPr b="1" i="0" lang="en-US" sz="1600" u="none" cap="none" strike="noStrike">
                <a:solidFill>
                  <a:srgbClr val="EAF2F8"/>
                </a:solidFill>
                <a:latin typeface="Rubik"/>
                <a:ea typeface="Rubik"/>
                <a:cs typeface="Rubik"/>
                <a:sym typeface="Rubik"/>
              </a:rPr>
              <a:t>SQL guardrail</a:t>
            </a:r>
            <a:endParaRPr b="0" i="0" sz="1600" u="none" cap="none" strike="noStrike">
              <a:solidFill>
                <a:schemeClr val="dk1"/>
              </a:solidFill>
              <a:latin typeface="Calibri"/>
              <a:ea typeface="Calibri"/>
              <a:cs typeface="Calibri"/>
              <a:sym typeface="Calibri"/>
            </a:endParaRPr>
          </a:p>
        </p:txBody>
      </p:sp>
      <p:sp>
        <p:nvSpPr>
          <p:cNvPr id="241" name="Google Shape;241;p9"/>
          <p:cNvSpPr/>
          <p:nvPr/>
        </p:nvSpPr>
        <p:spPr>
          <a:xfrm>
            <a:off x="8186262" y="2504126"/>
            <a:ext cx="3071746" cy="454739"/>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Only UPDATE, DELETE and CREATE OR REPLACE TABLE on the sandbox table.</a:t>
            </a:r>
            <a:endParaRPr b="0" i="0" sz="1300" u="none" cap="none" strike="noStrike">
              <a:solidFill>
                <a:schemeClr val="dk1"/>
              </a:solidFill>
              <a:latin typeface="Calibri"/>
              <a:ea typeface="Calibri"/>
              <a:cs typeface="Calibri"/>
              <a:sym typeface="Calibri"/>
            </a:endParaRPr>
          </a:p>
        </p:txBody>
      </p:sp>
      <p:sp>
        <p:nvSpPr>
          <p:cNvPr id="242" name="Google Shape;242;p9"/>
          <p:cNvSpPr/>
          <p:nvPr/>
        </p:nvSpPr>
        <p:spPr>
          <a:xfrm>
            <a:off x="815896" y="3568979"/>
            <a:ext cx="3397290" cy="1596231"/>
          </a:xfrm>
          <a:prstGeom prst="roundRect">
            <a:avLst>
              <a:gd fmla="val 9349"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9"/>
          <p:cNvSpPr/>
          <p:nvPr/>
        </p:nvSpPr>
        <p:spPr>
          <a:xfrm>
            <a:off x="1023461" y="3776545"/>
            <a:ext cx="355521" cy="355521"/>
          </a:xfrm>
          <a:prstGeom prst="roundRect">
            <a:avLst>
              <a:gd fmla="val 50000" name="adj"/>
            </a:avLst>
          </a:prstGeom>
          <a:solidFill>
            <a:srgbClr val="1B47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Warning" id="244" name="Google Shape;244;p9"/>
          <p:cNvPicPr preferRelativeResize="0"/>
          <p:nvPr/>
        </p:nvPicPr>
        <p:blipFill rotWithShape="1">
          <a:blip r:embed="rId6">
            <a:alphaModFix/>
          </a:blip>
          <a:srcRect b="0" l="0" r="0" t="0"/>
          <a:stretch/>
        </p:blipFill>
        <p:spPr>
          <a:xfrm>
            <a:off x="1105972" y="3859057"/>
            <a:ext cx="190500" cy="190500"/>
          </a:xfrm>
          <a:prstGeom prst="rect">
            <a:avLst/>
          </a:prstGeom>
          <a:noFill/>
          <a:ln>
            <a:noFill/>
          </a:ln>
        </p:spPr>
      </p:pic>
      <p:sp>
        <p:nvSpPr>
          <p:cNvPr id="245" name="Google Shape;245;p9"/>
          <p:cNvSpPr/>
          <p:nvPr/>
        </p:nvSpPr>
        <p:spPr>
          <a:xfrm>
            <a:off x="1023461" y="4208264"/>
            <a:ext cx="3071623" cy="26924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600"/>
              <a:buFont typeface="Rubik"/>
              <a:buNone/>
            </a:pPr>
            <a:r>
              <a:rPr b="1" i="0" lang="en-US" sz="1600" u="none" cap="none" strike="noStrike">
                <a:solidFill>
                  <a:srgbClr val="EAF2F8"/>
                </a:solidFill>
                <a:latin typeface="Rubik"/>
                <a:ea typeface="Rubik"/>
                <a:cs typeface="Rubik"/>
                <a:sym typeface="Rubik"/>
              </a:rPr>
              <a:t>AI treated as untrusted</a:t>
            </a:r>
            <a:endParaRPr b="0" i="0" sz="1600" u="none" cap="none" strike="noStrike">
              <a:solidFill>
                <a:schemeClr val="dk1"/>
              </a:solidFill>
              <a:latin typeface="Calibri"/>
              <a:ea typeface="Calibri"/>
              <a:cs typeface="Calibri"/>
              <a:sym typeface="Calibri"/>
            </a:endParaRPr>
          </a:p>
        </p:txBody>
      </p:sp>
      <p:sp>
        <p:nvSpPr>
          <p:cNvPr id="246" name="Google Shape;246;p9"/>
          <p:cNvSpPr/>
          <p:nvPr/>
        </p:nvSpPr>
        <p:spPr>
          <a:xfrm>
            <a:off x="1023461" y="4528307"/>
            <a:ext cx="3071623" cy="454739"/>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Table values are marked as data, not instructions.</a:t>
            </a:r>
            <a:endParaRPr b="0" i="0" sz="1300" u="none" cap="none" strike="noStrike">
              <a:solidFill>
                <a:schemeClr val="dk1"/>
              </a:solidFill>
              <a:latin typeface="Calibri"/>
              <a:ea typeface="Calibri"/>
              <a:cs typeface="Calibri"/>
              <a:sym typeface="Calibri"/>
            </a:endParaRPr>
          </a:p>
        </p:txBody>
      </p:sp>
      <p:sp>
        <p:nvSpPr>
          <p:cNvPr id="247" name="Google Shape;247;p9"/>
          <p:cNvSpPr/>
          <p:nvPr/>
        </p:nvSpPr>
        <p:spPr>
          <a:xfrm>
            <a:off x="4397296" y="3568979"/>
            <a:ext cx="3397290" cy="1596231"/>
          </a:xfrm>
          <a:prstGeom prst="roundRect">
            <a:avLst>
              <a:gd fmla="val 9349"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9"/>
          <p:cNvSpPr/>
          <p:nvPr/>
        </p:nvSpPr>
        <p:spPr>
          <a:xfrm>
            <a:off x="4604862" y="3776545"/>
            <a:ext cx="355521" cy="355521"/>
          </a:xfrm>
          <a:prstGeom prst="roundRect">
            <a:avLst>
              <a:gd fmla="val 50000" name="adj"/>
            </a:avLst>
          </a:prstGeom>
          <a:solidFill>
            <a:srgbClr val="1B47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Cloud" id="249" name="Google Shape;249;p9"/>
          <p:cNvPicPr preferRelativeResize="0"/>
          <p:nvPr/>
        </p:nvPicPr>
        <p:blipFill rotWithShape="1">
          <a:blip r:embed="rId7">
            <a:alphaModFix/>
          </a:blip>
          <a:srcRect b="0" l="0" r="0" t="0"/>
          <a:stretch/>
        </p:blipFill>
        <p:spPr>
          <a:xfrm>
            <a:off x="4687372" y="3859057"/>
            <a:ext cx="190500" cy="190500"/>
          </a:xfrm>
          <a:prstGeom prst="rect">
            <a:avLst/>
          </a:prstGeom>
          <a:noFill/>
          <a:ln>
            <a:noFill/>
          </a:ln>
        </p:spPr>
      </p:pic>
      <p:sp>
        <p:nvSpPr>
          <p:cNvPr id="250" name="Google Shape;250;p9"/>
          <p:cNvSpPr/>
          <p:nvPr/>
        </p:nvSpPr>
        <p:spPr>
          <a:xfrm>
            <a:off x="4604862" y="4208264"/>
            <a:ext cx="3071623" cy="26924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600"/>
              <a:buFont typeface="Rubik"/>
              <a:buNone/>
            </a:pPr>
            <a:r>
              <a:rPr b="1" i="0" lang="en-US" sz="1600" u="none" cap="none" strike="noStrike">
                <a:solidFill>
                  <a:srgbClr val="EAF2F8"/>
                </a:solidFill>
                <a:latin typeface="Rubik"/>
                <a:ea typeface="Rubik"/>
                <a:cs typeface="Rubik"/>
                <a:sym typeface="Rubik"/>
              </a:rPr>
              <a:t>Data stays in Snowflake</a:t>
            </a:r>
            <a:endParaRPr b="0" i="0" sz="1600" u="none" cap="none" strike="noStrike">
              <a:solidFill>
                <a:schemeClr val="dk1"/>
              </a:solidFill>
              <a:latin typeface="Calibri"/>
              <a:ea typeface="Calibri"/>
              <a:cs typeface="Calibri"/>
              <a:sym typeface="Calibri"/>
            </a:endParaRPr>
          </a:p>
        </p:txBody>
      </p:sp>
      <p:sp>
        <p:nvSpPr>
          <p:cNvPr id="251" name="Google Shape;251;p9"/>
          <p:cNvSpPr/>
          <p:nvPr/>
        </p:nvSpPr>
        <p:spPr>
          <a:xfrm>
            <a:off x="4604862" y="4528307"/>
            <a:ext cx="3071623" cy="24007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Cortex AI runs inside the platform.</a:t>
            </a:r>
            <a:endParaRPr b="0" i="0" sz="1300" u="none" cap="none" strike="noStrike">
              <a:solidFill>
                <a:schemeClr val="dk1"/>
              </a:solidFill>
              <a:latin typeface="Calibri"/>
              <a:ea typeface="Calibri"/>
              <a:cs typeface="Calibri"/>
              <a:sym typeface="Calibri"/>
            </a:endParaRPr>
          </a:p>
        </p:txBody>
      </p:sp>
      <p:sp>
        <p:nvSpPr>
          <p:cNvPr id="252" name="Google Shape;252;p9"/>
          <p:cNvSpPr/>
          <p:nvPr/>
        </p:nvSpPr>
        <p:spPr>
          <a:xfrm>
            <a:off x="7978696" y="3568979"/>
            <a:ext cx="3397409" cy="1596231"/>
          </a:xfrm>
          <a:prstGeom prst="roundRect">
            <a:avLst>
              <a:gd fmla="val 9349"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9"/>
          <p:cNvSpPr/>
          <p:nvPr/>
        </p:nvSpPr>
        <p:spPr>
          <a:xfrm>
            <a:off x="8186262" y="3776545"/>
            <a:ext cx="355521" cy="355521"/>
          </a:xfrm>
          <a:prstGeom prst="roundRect">
            <a:avLst>
              <a:gd fmla="val 50000" name="adj"/>
            </a:avLst>
          </a:prstGeom>
          <a:solidFill>
            <a:srgbClr val="1B477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Book" id="254" name="Google Shape;254;p9"/>
          <p:cNvPicPr preferRelativeResize="0"/>
          <p:nvPr/>
        </p:nvPicPr>
        <p:blipFill rotWithShape="1">
          <a:blip r:embed="rId8">
            <a:alphaModFix/>
          </a:blip>
          <a:srcRect b="0" l="0" r="0" t="0"/>
          <a:stretch/>
        </p:blipFill>
        <p:spPr>
          <a:xfrm>
            <a:off x="8268772" y="3859057"/>
            <a:ext cx="190500" cy="190500"/>
          </a:xfrm>
          <a:prstGeom prst="rect">
            <a:avLst/>
          </a:prstGeom>
          <a:noFill/>
          <a:ln>
            <a:noFill/>
          </a:ln>
        </p:spPr>
      </p:pic>
      <p:sp>
        <p:nvSpPr>
          <p:cNvPr id="255" name="Google Shape;255;p9"/>
          <p:cNvSpPr/>
          <p:nvPr/>
        </p:nvSpPr>
        <p:spPr>
          <a:xfrm>
            <a:off x="8186262" y="4208264"/>
            <a:ext cx="3071746" cy="26924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600"/>
              <a:buFont typeface="Rubik"/>
              <a:buNone/>
            </a:pPr>
            <a:r>
              <a:rPr b="1" i="0" lang="en-US" sz="1600" u="none" cap="none" strike="noStrike">
                <a:solidFill>
                  <a:srgbClr val="EAF2F8"/>
                </a:solidFill>
                <a:latin typeface="Rubik"/>
                <a:ea typeface="Rubik"/>
                <a:cs typeface="Rubik"/>
                <a:sym typeface="Rubik"/>
              </a:rPr>
              <a:t>Full audit trail</a:t>
            </a:r>
            <a:endParaRPr b="0" i="0" sz="1600" u="none" cap="none" strike="noStrike">
              <a:solidFill>
                <a:schemeClr val="dk1"/>
              </a:solidFill>
              <a:latin typeface="Calibri"/>
              <a:ea typeface="Calibri"/>
              <a:cs typeface="Calibri"/>
              <a:sym typeface="Calibri"/>
            </a:endParaRPr>
          </a:p>
        </p:txBody>
      </p:sp>
      <p:sp>
        <p:nvSpPr>
          <p:cNvPr id="256" name="Google Shape;256;p9"/>
          <p:cNvSpPr/>
          <p:nvPr/>
        </p:nvSpPr>
        <p:spPr>
          <a:xfrm>
            <a:off x="8186262" y="4528307"/>
            <a:ext cx="3071746" cy="454739"/>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User, role, SQL, rows changed, before and after.</a:t>
            </a:r>
            <a:endParaRPr b="0" i="0" sz="1300" u="none" cap="none" strike="noStrike">
              <a:solidFill>
                <a:schemeClr val="dk1"/>
              </a:solidFill>
              <a:latin typeface="Calibri"/>
              <a:ea typeface="Calibri"/>
              <a:cs typeface="Calibri"/>
              <a:sym typeface="Calibri"/>
            </a:endParaRPr>
          </a:p>
        </p:txBody>
      </p:sp>
      <p:sp>
        <p:nvSpPr>
          <p:cNvPr id="257" name="Google Shape;257;p9"/>
          <p:cNvSpPr/>
          <p:nvPr/>
        </p:nvSpPr>
        <p:spPr>
          <a:xfrm>
            <a:off x="812721" y="5422348"/>
            <a:ext cx="10883556" cy="3275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FC1F0"/>
              </a:buClr>
              <a:buSzPts val="1700"/>
              <a:buFont typeface="IBM Plex Sans"/>
              <a:buNone/>
            </a:pPr>
            <a:r>
              <a:rPr b="1" i="0" lang="en-US" sz="1700" u="none" cap="none" strike="noStrike">
                <a:solidFill>
                  <a:srgbClr val="3FC1F0"/>
                </a:solidFill>
                <a:latin typeface="IBM Plex Sans"/>
                <a:ea typeface="IBM Plex Sans"/>
                <a:cs typeface="IBM Plex Sans"/>
                <a:sym typeface="IBM Plex Sans"/>
              </a:rPr>
              <a:t>6 of 6 hostile AI answers were blocked in testing.</a:t>
            </a:r>
            <a:endParaRPr b="0" i="0" sz="1700" u="none" cap="none" strike="noStrike">
              <a:solidFill>
                <a:schemeClr val="dk1"/>
              </a:solidFill>
              <a:latin typeface="Calibri"/>
              <a:ea typeface="Calibri"/>
              <a:cs typeface="Calibri"/>
              <a:sym typeface="Calibri"/>
            </a:endParaRPr>
          </a:p>
        </p:txBody>
      </p:sp>
      <p:sp>
        <p:nvSpPr>
          <p:cNvPr id="258" name="Google Shape;258;p9"/>
          <p:cNvSpPr/>
          <p:nvPr/>
        </p:nvSpPr>
        <p:spPr>
          <a:xfrm>
            <a:off x="812721" y="6238280"/>
            <a:ext cx="719446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DB6CC"/>
              </a:buClr>
              <a:buSzPts val="1200"/>
              <a:buFont typeface="IBM Plex Sans"/>
              <a:buNone/>
            </a:pPr>
            <a:r>
              <a:rPr b="0" i="0" lang="en-US" sz="1200" u="none" cap="none" strike="noStrike">
                <a:solidFill>
                  <a:srgbClr val="9DB6CC"/>
                </a:solidFill>
                <a:latin typeface="IBM Plex Sans"/>
                <a:ea typeface="IBM Plex Sans"/>
                <a:cs typeface="IBM Plex Sans"/>
                <a:sym typeface="IBM Plex Sans"/>
              </a:rPr>
              <a:t>Agentic Data Quality Guardian · CoCoQuest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263" name="Shape 263"/>
        <p:cNvGrpSpPr/>
        <p:nvPr/>
      </p:nvGrpSpPr>
      <p:grpSpPr>
        <a:xfrm>
          <a:off x="0" y="0"/>
          <a:ext cx="0" cy="0"/>
          <a:chOff x="0" y="0"/>
          <a:chExt cx="0" cy="0"/>
        </a:xfrm>
      </p:grpSpPr>
      <p:sp>
        <p:nvSpPr>
          <p:cNvPr id="264" name="Google Shape;264;p10"/>
          <p:cNvSpPr/>
          <p:nvPr/>
        </p:nvSpPr>
        <p:spPr>
          <a:xfrm>
            <a:off x="812721" y="812726"/>
            <a:ext cx="10883556" cy="5003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F2A43"/>
              </a:buClr>
              <a:buSzPts val="3400"/>
              <a:buFont typeface="Rubik"/>
              <a:buNone/>
            </a:pPr>
            <a:r>
              <a:rPr b="1" i="0" lang="en-US" sz="3400" u="none" cap="none" strike="noStrike">
                <a:solidFill>
                  <a:srgbClr val="0F2A43"/>
                </a:solidFill>
                <a:latin typeface="Rubik"/>
                <a:ea typeface="Rubik"/>
                <a:cs typeface="Rubik"/>
                <a:sym typeface="Rubik"/>
              </a:rPr>
              <a:t>The guardrail in action</a:t>
            </a:r>
            <a:endParaRPr b="0" i="0" sz="3400" u="none" cap="none" strike="noStrike">
              <a:solidFill>
                <a:schemeClr val="dk1"/>
              </a:solidFill>
              <a:latin typeface="Calibri"/>
              <a:ea typeface="Calibri"/>
              <a:cs typeface="Calibri"/>
              <a:sym typeface="Calibri"/>
            </a:endParaRPr>
          </a:p>
        </p:txBody>
      </p:sp>
      <p:sp>
        <p:nvSpPr>
          <p:cNvPr id="265" name="Google Shape;265;p10"/>
          <p:cNvSpPr/>
          <p:nvPr/>
        </p:nvSpPr>
        <p:spPr>
          <a:xfrm>
            <a:off x="815896" y="1544799"/>
            <a:ext cx="5175369" cy="2954735"/>
          </a:xfrm>
          <a:prstGeom prst="roundRect">
            <a:avLst>
              <a:gd fmla="val 5050" name="adj"/>
            </a:avLst>
          </a:prstGeom>
          <a:solidFill>
            <a:srgbClr val="FAFCFD"/>
          </a:solidFill>
          <a:ln cap="flat" cmpd="sng" w="9525">
            <a:solidFill>
              <a:srgbClr val="D5E0E8"/>
            </a:solidFill>
            <a:prstDash val="solid"/>
            <a:round/>
            <a:headEnd len="sm" w="sm" type="none"/>
            <a:tailEnd len="sm" w="sm" type="none"/>
          </a:ln>
          <a:effectLst>
            <a:outerShdw blurRad="127000" rotWithShape="0" algn="bl" dir="5400000" dist="38100">
              <a:srgbClr val="0F2A43">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0"/>
          <p:cNvSpPr/>
          <p:nvPr/>
        </p:nvSpPr>
        <p:spPr>
          <a:xfrm>
            <a:off x="1023461" y="1752364"/>
            <a:ext cx="950595" cy="350282"/>
          </a:xfrm>
          <a:prstGeom prst="roundRect">
            <a:avLst>
              <a:gd fmla="val 50000" name="adj"/>
            </a:avLst>
          </a:prstGeom>
          <a:solidFill>
            <a:srgbClr val="D9F2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0"/>
          <p:cNvSpPr/>
          <p:nvPr/>
        </p:nvSpPr>
        <p:spPr>
          <a:xfrm>
            <a:off x="1163161" y="1803164"/>
            <a:ext cx="721995" cy="27408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6B45"/>
              </a:buClr>
              <a:buSzPts val="1400"/>
              <a:buFont typeface="IBM Plex Sans"/>
              <a:buNone/>
            </a:pPr>
            <a:r>
              <a:rPr b="1" i="0" lang="en-US" sz="1400" u="none" cap="none" strike="noStrike">
                <a:solidFill>
                  <a:srgbClr val="146B45"/>
                </a:solidFill>
                <a:latin typeface="IBM Plex Sans"/>
                <a:ea typeface="IBM Plex Sans"/>
                <a:cs typeface="IBM Plex Sans"/>
                <a:sym typeface="IBM Plex Sans"/>
              </a:rPr>
              <a:t>Allowed</a:t>
            </a:r>
            <a:endParaRPr b="0" i="0" sz="1400" u="none" cap="none" strike="noStrike">
              <a:solidFill>
                <a:schemeClr val="dk1"/>
              </a:solidFill>
              <a:latin typeface="Calibri"/>
              <a:ea typeface="Calibri"/>
              <a:cs typeface="Calibri"/>
              <a:sym typeface="Calibri"/>
            </a:endParaRPr>
          </a:p>
        </p:txBody>
      </p:sp>
      <p:sp>
        <p:nvSpPr>
          <p:cNvPr id="268" name="Google Shape;268;p10"/>
          <p:cNvSpPr/>
          <p:nvPr/>
        </p:nvSpPr>
        <p:spPr>
          <a:xfrm>
            <a:off x="1023461" y="2178844"/>
            <a:ext cx="3060096"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300"/>
              <a:buFont typeface="JetBrains Mono"/>
              <a:buNone/>
            </a:pPr>
            <a:r>
              <a:rPr b="1" i="0" lang="en-US" sz="1300" u="none" cap="none" strike="noStrike">
                <a:solidFill>
                  <a:srgbClr val="0F2A43"/>
                </a:solidFill>
                <a:latin typeface="JetBrains Mono"/>
                <a:ea typeface="JetBrains Mono"/>
                <a:cs typeface="JetBrains Mono"/>
                <a:sym typeface="JetBrains Mono"/>
              </a:rPr>
              <a:t>UPDATE CLEAN.CUSTOMERS SET ...</a:t>
            </a:r>
            <a:endParaRPr b="0" i="0" sz="1300" u="none" cap="none" strike="noStrike">
              <a:solidFill>
                <a:schemeClr val="dk1"/>
              </a:solidFill>
              <a:latin typeface="Calibri"/>
              <a:ea typeface="Calibri"/>
              <a:cs typeface="Calibri"/>
              <a:sym typeface="Calibri"/>
            </a:endParaRPr>
          </a:p>
        </p:txBody>
      </p:sp>
      <p:sp>
        <p:nvSpPr>
          <p:cNvPr id="269" name="Google Shape;269;p10"/>
          <p:cNvSpPr/>
          <p:nvPr/>
        </p:nvSpPr>
        <p:spPr>
          <a:xfrm>
            <a:off x="1023461" y="2486149"/>
            <a:ext cx="3468100"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300"/>
              <a:buFont typeface="JetBrains Mono"/>
              <a:buNone/>
            </a:pPr>
            <a:r>
              <a:rPr b="1" i="0" lang="en-US" sz="1300" u="none" cap="none" strike="noStrike">
                <a:solidFill>
                  <a:srgbClr val="0F2A43"/>
                </a:solidFill>
                <a:latin typeface="JetBrains Mono"/>
                <a:ea typeface="JetBrains Mono"/>
                <a:cs typeface="JetBrains Mono"/>
                <a:sym typeface="JetBrains Mono"/>
              </a:rPr>
              <a:t>DELETE FROM CLEAN.ORDERS WHERE ...</a:t>
            </a:r>
            <a:endParaRPr b="0" i="0" sz="1300" u="none" cap="none" strike="noStrike">
              <a:solidFill>
                <a:schemeClr val="dk1"/>
              </a:solidFill>
              <a:latin typeface="Calibri"/>
              <a:ea typeface="Calibri"/>
              <a:cs typeface="Calibri"/>
              <a:sym typeface="Calibri"/>
            </a:endParaRPr>
          </a:p>
        </p:txBody>
      </p:sp>
      <p:sp>
        <p:nvSpPr>
          <p:cNvPr id="270" name="Google Shape;270;p10"/>
          <p:cNvSpPr/>
          <p:nvPr/>
        </p:nvSpPr>
        <p:spPr>
          <a:xfrm>
            <a:off x="1023461" y="2793448"/>
            <a:ext cx="4903045" cy="48760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300"/>
              <a:buFont typeface="JetBrains Mono"/>
              <a:buNone/>
            </a:pPr>
            <a:r>
              <a:rPr b="1" i="0" lang="en-US" sz="1300" u="none" cap="none" strike="noStrike">
                <a:solidFill>
                  <a:srgbClr val="0F2A43"/>
                </a:solidFill>
                <a:latin typeface="JetBrains Mono"/>
                <a:ea typeface="JetBrains Mono"/>
                <a:cs typeface="JetBrains Mono"/>
                <a:sym typeface="JetBrains Mono"/>
              </a:rPr>
              <a:t>CREATE OR REPLACE TABLE CLEAN.CUSTOMERS AS SELECT ...</a:t>
            </a:r>
            <a:endParaRPr b="0" i="0" sz="1300" u="none" cap="none" strike="noStrike">
              <a:solidFill>
                <a:schemeClr val="dk1"/>
              </a:solidFill>
              <a:latin typeface="Calibri"/>
              <a:ea typeface="Calibri"/>
              <a:cs typeface="Calibri"/>
              <a:sym typeface="Calibri"/>
            </a:endParaRPr>
          </a:p>
        </p:txBody>
      </p:sp>
      <p:sp>
        <p:nvSpPr>
          <p:cNvPr id="271" name="Google Shape;271;p10"/>
          <p:cNvSpPr/>
          <p:nvPr/>
        </p:nvSpPr>
        <p:spPr>
          <a:xfrm>
            <a:off x="1023461" y="3331846"/>
            <a:ext cx="3784620" cy="24828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Only on the sandbox copy of the table being fixed.</a:t>
            </a:r>
            <a:endParaRPr b="0" i="0" sz="1300" u="none" cap="none" strike="noStrike">
              <a:solidFill>
                <a:schemeClr val="dk1"/>
              </a:solidFill>
              <a:latin typeface="Calibri"/>
              <a:ea typeface="Calibri"/>
              <a:cs typeface="Calibri"/>
              <a:sym typeface="Calibri"/>
            </a:endParaRPr>
          </a:p>
        </p:txBody>
      </p:sp>
      <p:sp>
        <p:nvSpPr>
          <p:cNvPr id="272" name="Google Shape;272;p10"/>
          <p:cNvSpPr/>
          <p:nvPr/>
        </p:nvSpPr>
        <p:spPr>
          <a:xfrm>
            <a:off x="6200735" y="1544799"/>
            <a:ext cx="5175369" cy="2954735"/>
          </a:xfrm>
          <a:prstGeom prst="roundRect">
            <a:avLst>
              <a:gd fmla="val 5050" name="adj"/>
            </a:avLst>
          </a:prstGeom>
          <a:solidFill>
            <a:srgbClr val="FAFCFD"/>
          </a:solidFill>
          <a:ln cap="flat" cmpd="sng" w="9525">
            <a:solidFill>
              <a:srgbClr val="D5E0E8"/>
            </a:solidFill>
            <a:prstDash val="solid"/>
            <a:round/>
            <a:headEnd len="sm" w="sm" type="none"/>
            <a:tailEnd len="sm" w="sm" type="none"/>
          </a:ln>
          <a:effectLst>
            <a:outerShdw blurRad="127000" rotWithShape="0" algn="bl" dir="5400000" dist="38100">
              <a:srgbClr val="0F2A43">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0"/>
          <p:cNvSpPr/>
          <p:nvPr/>
        </p:nvSpPr>
        <p:spPr>
          <a:xfrm>
            <a:off x="6408301" y="1752364"/>
            <a:ext cx="942261" cy="350282"/>
          </a:xfrm>
          <a:prstGeom prst="roundRect">
            <a:avLst>
              <a:gd fmla="val 50000" name="adj"/>
            </a:avLst>
          </a:prstGeom>
          <a:solidFill>
            <a:srgbClr val="F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0"/>
          <p:cNvSpPr/>
          <p:nvPr/>
        </p:nvSpPr>
        <p:spPr>
          <a:xfrm>
            <a:off x="6548001" y="1803164"/>
            <a:ext cx="713661" cy="27408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E2020"/>
              </a:buClr>
              <a:buSzPts val="1400"/>
              <a:buFont typeface="IBM Plex Sans"/>
              <a:buNone/>
            </a:pPr>
            <a:r>
              <a:rPr b="1" i="0" lang="en-US" sz="1400" u="none" cap="none" strike="noStrike">
                <a:solidFill>
                  <a:srgbClr val="9E2020"/>
                </a:solidFill>
                <a:latin typeface="IBM Plex Sans"/>
                <a:ea typeface="IBM Plex Sans"/>
                <a:cs typeface="IBM Plex Sans"/>
                <a:sym typeface="IBM Plex Sans"/>
              </a:rPr>
              <a:t>Blocked</a:t>
            </a:r>
            <a:endParaRPr b="0" i="0" sz="1400" u="none" cap="none" strike="noStrike">
              <a:solidFill>
                <a:schemeClr val="dk1"/>
              </a:solidFill>
              <a:latin typeface="Calibri"/>
              <a:ea typeface="Calibri"/>
              <a:cs typeface="Calibri"/>
              <a:sym typeface="Calibri"/>
            </a:endParaRPr>
          </a:p>
        </p:txBody>
      </p:sp>
      <p:sp>
        <p:nvSpPr>
          <p:cNvPr id="275" name="Google Shape;275;p10"/>
          <p:cNvSpPr/>
          <p:nvPr/>
        </p:nvSpPr>
        <p:spPr>
          <a:xfrm>
            <a:off x="6408301" y="2178844"/>
            <a:ext cx="1963622"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300"/>
              <a:buFont typeface="JetBrains Mono"/>
              <a:buNone/>
            </a:pPr>
            <a:r>
              <a:rPr b="1" i="0" lang="en-US" sz="1300" u="none" cap="none" strike="noStrike">
                <a:solidFill>
                  <a:srgbClr val="0F2A43"/>
                </a:solidFill>
                <a:latin typeface="JetBrains Mono"/>
                <a:ea typeface="JetBrains Mono"/>
                <a:cs typeface="JetBrains Mono"/>
                <a:sym typeface="JetBrains Mono"/>
              </a:rPr>
              <a:t>DROP TABLE ...</a:t>
            </a:r>
            <a:endParaRPr b="0" i="0" sz="1300" u="none" cap="none" strike="noStrike">
              <a:solidFill>
                <a:schemeClr val="dk1"/>
              </a:solidFill>
              <a:latin typeface="Calibri"/>
              <a:ea typeface="Calibri"/>
              <a:cs typeface="Calibri"/>
              <a:sym typeface="Calibri"/>
            </a:endParaRPr>
          </a:p>
        </p:txBody>
      </p:sp>
      <p:sp>
        <p:nvSpPr>
          <p:cNvPr id="276" name="Google Shape;276;p10"/>
          <p:cNvSpPr/>
          <p:nvPr/>
        </p:nvSpPr>
        <p:spPr>
          <a:xfrm>
            <a:off x="6408301" y="2435306"/>
            <a:ext cx="1963622" cy="24007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Not an allowed statement</a:t>
            </a:r>
            <a:endParaRPr b="0" i="0" sz="1300" u="none" cap="none" strike="noStrike">
              <a:solidFill>
                <a:schemeClr val="dk1"/>
              </a:solidFill>
              <a:latin typeface="Calibri"/>
              <a:ea typeface="Calibri"/>
              <a:cs typeface="Calibri"/>
              <a:sym typeface="Calibri"/>
            </a:endParaRPr>
          </a:p>
        </p:txBody>
      </p:sp>
      <p:sp>
        <p:nvSpPr>
          <p:cNvPr id="277" name="Google Shape;277;p10"/>
          <p:cNvSpPr/>
          <p:nvPr/>
        </p:nvSpPr>
        <p:spPr>
          <a:xfrm>
            <a:off x="6408301" y="2726178"/>
            <a:ext cx="2550059"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300"/>
              <a:buFont typeface="JetBrains Mono"/>
              <a:buNone/>
            </a:pPr>
            <a:r>
              <a:rPr b="1" i="0" lang="en-US" sz="1300" u="none" cap="none" strike="noStrike">
                <a:solidFill>
                  <a:srgbClr val="0F2A43"/>
                </a:solidFill>
                <a:latin typeface="JetBrains Mono"/>
                <a:ea typeface="JetBrains Mono"/>
                <a:cs typeface="JetBrains Mono"/>
                <a:sym typeface="JetBrains Mono"/>
              </a:rPr>
              <a:t>UPDATE RAW.ORDERS SET ...</a:t>
            </a:r>
            <a:endParaRPr b="0" i="0" sz="1300" u="none" cap="none" strike="noStrike">
              <a:solidFill>
                <a:schemeClr val="dk1"/>
              </a:solidFill>
              <a:latin typeface="Calibri"/>
              <a:ea typeface="Calibri"/>
              <a:cs typeface="Calibri"/>
              <a:sym typeface="Calibri"/>
            </a:endParaRPr>
          </a:p>
        </p:txBody>
      </p:sp>
      <p:sp>
        <p:nvSpPr>
          <p:cNvPr id="278" name="Google Shape;278;p10"/>
          <p:cNvSpPr/>
          <p:nvPr/>
        </p:nvSpPr>
        <p:spPr>
          <a:xfrm>
            <a:off x="6408301" y="2982640"/>
            <a:ext cx="2550059" cy="24007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The source table is protected</a:t>
            </a:r>
            <a:endParaRPr b="0" i="0" sz="1300" u="none" cap="none" strike="noStrike">
              <a:solidFill>
                <a:schemeClr val="dk1"/>
              </a:solidFill>
              <a:latin typeface="Calibri"/>
              <a:ea typeface="Calibri"/>
              <a:cs typeface="Calibri"/>
              <a:sym typeface="Calibri"/>
            </a:endParaRPr>
          </a:p>
        </p:txBody>
      </p:sp>
      <p:sp>
        <p:nvSpPr>
          <p:cNvPr id="279" name="Google Shape;279;p10"/>
          <p:cNvSpPr/>
          <p:nvPr/>
        </p:nvSpPr>
        <p:spPr>
          <a:xfrm>
            <a:off x="6408301" y="3273506"/>
            <a:ext cx="3242085"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300"/>
              <a:buFont typeface="JetBrains Mono"/>
              <a:buNone/>
            </a:pPr>
            <a:r>
              <a:rPr b="1" i="0" lang="en-US" sz="1300" u="none" cap="none" strike="noStrike">
                <a:solidFill>
                  <a:srgbClr val="0F2A43"/>
                </a:solidFill>
                <a:latin typeface="JetBrains Mono"/>
                <a:ea typeface="JetBrains Mono"/>
                <a:cs typeface="JetBrains Mono"/>
                <a:sym typeface="JetBrains Mono"/>
              </a:rPr>
              <a:t>UPDATE ...; GRANT ALL ...</a:t>
            </a:r>
            <a:endParaRPr b="0" i="0" sz="1300" u="none" cap="none" strike="noStrike">
              <a:solidFill>
                <a:schemeClr val="dk1"/>
              </a:solidFill>
              <a:latin typeface="Calibri"/>
              <a:ea typeface="Calibri"/>
              <a:cs typeface="Calibri"/>
              <a:sym typeface="Calibri"/>
            </a:endParaRPr>
          </a:p>
        </p:txBody>
      </p:sp>
      <p:sp>
        <p:nvSpPr>
          <p:cNvPr id="280" name="Google Shape;280;p10"/>
          <p:cNvSpPr/>
          <p:nvPr/>
        </p:nvSpPr>
        <p:spPr>
          <a:xfrm>
            <a:off x="6408301" y="3529967"/>
            <a:ext cx="3242085" cy="24007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Forbidden keyword in a chained statement</a:t>
            </a:r>
            <a:endParaRPr b="0" i="0" sz="1300" u="none" cap="none" strike="noStrike">
              <a:solidFill>
                <a:schemeClr val="dk1"/>
              </a:solidFill>
              <a:latin typeface="Calibri"/>
              <a:ea typeface="Calibri"/>
              <a:cs typeface="Calibri"/>
              <a:sym typeface="Calibri"/>
            </a:endParaRPr>
          </a:p>
        </p:txBody>
      </p:sp>
      <p:sp>
        <p:nvSpPr>
          <p:cNvPr id="281" name="Google Shape;281;p10"/>
          <p:cNvSpPr/>
          <p:nvPr/>
        </p:nvSpPr>
        <p:spPr>
          <a:xfrm>
            <a:off x="6408301" y="3820840"/>
            <a:ext cx="2045787"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300"/>
              <a:buFont typeface="JetBrains Mono"/>
              <a:buNone/>
            </a:pPr>
            <a:r>
              <a:rPr b="1" i="0" lang="en-US" sz="1300" u="none" cap="none" strike="noStrike">
                <a:solidFill>
                  <a:srgbClr val="0F2A43"/>
                </a:solidFill>
                <a:latin typeface="JetBrains Mono"/>
                <a:ea typeface="JetBrains Mono"/>
                <a:cs typeface="JetBrains Mono"/>
                <a:sym typeface="JetBrains Mono"/>
              </a:rPr>
              <a:t>-- harmless comment</a:t>
            </a:r>
            <a:endParaRPr b="0" i="0" sz="1300" u="none" cap="none" strike="noStrike">
              <a:solidFill>
                <a:schemeClr val="dk1"/>
              </a:solidFill>
              <a:latin typeface="Calibri"/>
              <a:ea typeface="Calibri"/>
              <a:cs typeface="Calibri"/>
              <a:sym typeface="Calibri"/>
            </a:endParaRPr>
          </a:p>
        </p:txBody>
      </p:sp>
      <p:sp>
        <p:nvSpPr>
          <p:cNvPr id="282" name="Google Shape;282;p10"/>
          <p:cNvSpPr/>
          <p:nvPr/>
        </p:nvSpPr>
        <p:spPr>
          <a:xfrm>
            <a:off x="6408301" y="4077295"/>
            <a:ext cx="2045787" cy="24007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F6479"/>
              </a:buClr>
              <a:buSzPts val="1300"/>
              <a:buFont typeface="IBM Plex Sans"/>
              <a:buNone/>
            </a:pPr>
            <a:r>
              <a:rPr b="0" i="0" lang="en-US" sz="1300" u="none" cap="none" strike="noStrike">
                <a:solidFill>
                  <a:srgbClr val="4F6479"/>
                </a:solidFill>
                <a:latin typeface="IBM Plex Sans"/>
                <a:ea typeface="IBM Plex Sans"/>
                <a:cs typeface="IBM Plex Sans"/>
                <a:sym typeface="IBM Plex Sans"/>
              </a:rPr>
              <a:t>Comments are not allowed</a:t>
            </a:r>
            <a:endParaRPr b="0" i="0" sz="1300" u="none" cap="none" strike="noStrike">
              <a:solidFill>
                <a:schemeClr val="dk1"/>
              </a:solidFill>
              <a:latin typeface="Calibri"/>
              <a:ea typeface="Calibri"/>
              <a:cs typeface="Calibri"/>
              <a:sym typeface="Calibri"/>
            </a:endParaRPr>
          </a:p>
        </p:txBody>
      </p:sp>
      <p:sp>
        <p:nvSpPr>
          <p:cNvPr id="283" name="Google Shape;283;p10"/>
          <p:cNvSpPr/>
          <p:nvPr/>
        </p:nvSpPr>
        <p:spPr>
          <a:xfrm>
            <a:off x="812721" y="4756671"/>
            <a:ext cx="10883556"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400"/>
              <a:buFont typeface="IBM Plex Sans"/>
              <a:buNone/>
            </a:pPr>
            <a:r>
              <a:rPr b="0" i="0" lang="en-US" sz="1400" u="none" cap="none" strike="noStrike">
                <a:solidFill>
                  <a:srgbClr val="0F2A43"/>
                </a:solidFill>
                <a:latin typeface="IBM Plex Sans"/>
                <a:ea typeface="IBM Plex Sans"/>
                <a:cs typeface="IBM Plex Sans"/>
                <a:sym typeface="IBM Plex Sans"/>
              </a:rPr>
              <a:t>Checked when a fix is generated, when you edit it, and again at the moment it runs. Names are shortened here for readability.</a:t>
            </a:r>
            <a:endParaRPr b="0" i="0" sz="1400" u="none" cap="none" strike="noStrike">
              <a:solidFill>
                <a:schemeClr val="dk1"/>
              </a:solidFill>
              <a:latin typeface="Calibri"/>
              <a:ea typeface="Calibri"/>
              <a:cs typeface="Calibri"/>
              <a:sym typeface="Calibri"/>
            </a:endParaRPr>
          </a:p>
        </p:txBody>
      </p:sp>
      <p:sp>
        <p:nvSpPr>
          <p:cNvPr id="284" name="Google Shape;284;p10"/>
          <p:cNvSpPr/>
          <p:nvPr/>
        </p:nvSpPr>
        <p:spPr>
          <a:xfrm>
            <a:off x="812721" y="6238280"/>
            <a:ext cx="719446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Agentic Data Quality Guardian · CoCoQuest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289" name="Shape 289"/>
        <p:cNvGrpSpPr/>
        <p:nvPr/>
      </p:nvGrpSpPr>
      <p:grpSpPr>
        <a:xfrm>
          <a:off x="0" y="0"/>
          <a:ext cx="0" cy="0"/>
          <a:chOff x="0" y="0"/>
          <a:chExt cx="0" cy="0"/>
        </a:xfrm>
      </p:grpSpPr>
      <p:sp>
        <p:nvSpPr>
          <p:cNvPr id="290" name="Google Shape;290;p11"/>
          <p:cNvSpPr/>
          <p:nvPr/>
        </p:nvSpPr>
        <p:spPr>
          <a:xfrm>
            <a:off x="812721" y="812726"/>
            <a:ext cx="10883556" cy="5003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F2A43"/>
              </a:buClr>
              <a:buSzPts val="3400"/>
              <a:buFont typeface="Rubik"/>
              <a:buNone/>
            </a:pPr>
            <a:r>
              <a:rPr b="1" i="0" lang="en-US" sz="3400" u="none" cap="none" strike="noStrike">
                <a:solidFill>
                  <a:srgbClr val="0F2A43"/>
                </a:solidFill>
                <a:latin typeface="Rubik"/>
                <a:ea typeface="Rubik"/>
                <a:cs typeface="Rubik"/>
                <a:sym typeface="Rubik"/>
              </a:rPr>
              <a:t>Apply to the sandbox, then prove it worked</a:t>
            </a:r>
            <a:endParaRPr b="0" i="0" sz="3400" u="none" cap="none" strike="noStrike">
              <a:solidFill>
                <a:schemeClr val="dk1"/>
              </a:solidFill>
              <a:latin typeface="Calibri"/>
              <a:ea typeface="Calibri"/>
              <a:cs typeface="Calibri"/>
              <a:sym typeface="Calibri"/>
            </a:endParaRPr>
          </a:p>
        </p:txBody>
      </p:sp>
      <p:sp>
        <p:nvSpPr>
          <p:cNvPr id="291" name="Google Shape;291;p11"/>
          <p:cNvSpPr/>
          <p:nvPr/>
        </p:nvSpPr>
        <p:spPr>
          <a:xfrm>
            <a:off x="812721" y="1541624"/>
            <a:ext cx="4825960" cy="3492341"/>
          </a:xfrm>
          <a:prstGeom prst="roundRect">
            <a:avLst>
              <a:gd fmla="val 4364" name="adj"/>
            </a:avLst>
          </a:prstGeom>
          <a:solidFill>
            <a:srgbClr val="0B223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1"/>
          <p:cNvSpPr/>
          <p:nvPr/>
        </p:nvSpPr>
        <p:spPr>
          <a:xfrm>
            <a:off x="1066681" y="1795587"/>
            <a:ext cx="4447581"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CUSTOMERS health score</a:t>
            </a:r>
            <a:endParaRPr b="0" i="0" sz="1300" u="none" cap="none" strike="noStrike">
              <a:solidFill>
                <a:schemeClr val="dk1"/>
              </a:solidFill>
              <a:latin typeface="Calibri"/>
              <a:ea typeface="Calibri"/>
              <a:cs typeface="Calibri"/>
              <a:sym typeface="Calibri"/>
            </a:endParaRPr>
          </a:p>
        </p:txBody>
      </p:sp>
      <p:sp>
        <p:nvSpPr>
          <p:cNvPr id="293" name="Google Shape;293;p11"/>
          <p:cNvSpPr/>
          <p:nvPr/>
        </p:nvSpPr>
        <p:spPr>
          <a:xfrm>
            <a:off x="1066681" y="2128242"/>
            <a:ext cx="1596231" cy="72394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EAF2F8"/>
              </a:buClr>
              <a:buSzPts val="5500"/>
              <a:buFont typeface="Rubik"/>
              <a:buNone/>
            </a:pPr>
            <a:r>
              <a:rPr b="1" i="0" lang="en-US" sz="5500" u="none" cap="none" strike="noStrike">
                <a:solidFill>
                  <a:srgbClr val="EAF2F8"/>
                </a:solidFill>
                <a:latin typeface="Rubik"/>
                <a:ea typeface="Rubik"/>
                <a:cs typeface="Rubik"/>
                <a:sym typeface="Rubik"/>
              </a:rPr>
              <a:t>85.3</a:t>
            </a:r>
            <a:endParaRPr b="0" i="0" sz="5500" u="none" cap="none" strike="noStrike">
              <a:solidFill>
                <a:schemeClr val="dk1"/>
              </a:solidFill>
              <a:latin typeface="Calibri"/>
              <a:ea typeface="Calibri"/>
              <a:cs typeface="Calibri"/>
              <a:sym typeface="Calibri"/>
            </a:endParaRPr>
          </a:p>
        </p:txBody>
      </p:sp>
      <p:pic>
        <p:nvPicPr>
          <p:cNvPr descr="arrow-right" id="294" name="Google Shape;294;p11"/>
          <p:cNvPicPr preferRelativeResize="0"/>
          <p:nvPr/>
        </p:nvPicPr>
        <p:blipFill rotWithShape="1">
          <a:blip r:embed="rId3">
            <a:alphaModFix/>
          </a:blip>
          <a:srcRect b="0" l="-5" r="-5" t="0"/>
          <a:stretch/>
        </p:blipFill>
        <p:spPr>
          <a:xfrm>
            <a:off x="2764512" y="2318742"/>
            <a:ext cx="507921" cy="317421"/>
          </a:xfrm>
          <a:prstGeom prst="rect">
            <a:avLst/>
          </a:prstGeom>
          <a:noFill/>
          <a:ln>
            <a:noFill/>
          </a:ln>
        </p:spPr>
      </p:pic>
      <p:sp>
        <p:nvSpPr>
          <p:cNvPr id="295" name="Google Shape;295;p11"/>
          <p:cNvSpPr/>
          <p:nvPr/>
        </p:nvSpPr>
        <p:spPr>
          <a:xfrm>
            <a:off x="3424833" y="2128242"/>
            <a:ext cx="1586349" cy="72394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3FC1F0"/>
              </a:buClr>
              <a:buSzPts val="5500"/>
              <a:buFont typeface="Rubik"/>
              <a:buNone/>
            </a:pPr>
            <a:r>
              <a:rPr b="1" i="0" lang="en-US" sz="5500" u="none" cap="none" strike="noStrike">
                <a:solidFill>
                  <a:srgbClr val="3FC1F0"/>
                </a:solidFill>
                <a:latin typeface="Rubik"/>
                <a:ea typeface="Rubik"/>
                <a:cs typeface="Rubik"/>
                <a:sym typeface="Rubik"/>
              </a:rPr>
              <a:t>93.0</a:t>
            </a:r>
            <a:endParaRPr b="0" i="0" sz="5500" u="none" cap="none" strike="noStrike">
              <a:solidFill>
                <a:schemeClr val="dk1"/>
              </a:solidFill>
              <a:latin typeface="Calibri"/>
              <a:ea typeface="Calibri"/>
              <a:cs typeface="Calibri"/>
              <a:sym typeface="Calibri"/>
            </a:endParaRPr>
          </a:p>
        </p:txBody>
      </p:sp>
      <p:sp>
        <p:nvSpPr>
          <p:cNvPr id="296" name="Google Shape;296;p11"/>
          <p:cNvSpPr/>
          <p:nvPr/>
        </p:nvSpPr>
        <p:spPr>
          <a:xfrm>
            <a:off x="1066681" y="2928342"/>
            <a:ext cx="4447581"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AF2F8"/>
              </a:buClr>
              <a:buSzPts val="1300"/>
              <a:buFont typeface="IBM Plex Sans"/>
              <a:buNone/>
            </a:pPr>
            <a:r>
              <a:rPr b="0" i="0" lang="en-US" sz="1300" u="none" cap="none" strike="noStrike">
                <a:solidFill>
                  <a:srgbClr val="EAF2F8"/>
                </a:solidFill>
                <a:latin typeface="IBM Plex Sans"/>
                <a:ea typeface="IBM Plex Sans"/>
                <a:cs typeface="IBM Plex Sans"/>
                <a:sym typeface="IBM Plex Sans"/>
              </a:rPr>
              <a:t>Rows: 5,100 to 5,000 (100 duplicates removed)</a:t>
            </a:r>
            <a:endParaRPr b="0" i="0" sz="1300" u="none" cap="none" strike="noStrike">
              <a:solidFill>
                <a:schemeClr val="dk1"/>
              </a:solidFill>
              <a:latin typeface="Calibri"/>
              <a:ea typeface="Calibri"/>
              <a:cs typeface="Calibri"/>
              <a:sym typeface="Calibri"/>
            </a:endParaRPr>
          </a:p>
        </p:txBody>
      </p:sp>
      <p:sp>
        <p:nvSpPr>
          <p:cNvPr id="297" name="Google Shape;297;p11"/>
          <p:cNvSpPr/>
          <p:nvPr/>
        </p:nvSpPr>
        <p:spPr>
          <a:xfrm>
            <a:off x="1066681" y="3261004"/>
            <a:ext cx="4447581"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AF2F8"/>
              </a:buClr>
              <a:buSzPts val="1300"/>
              <a:buFont typeface="IBM Plex Sans"/>
              <a:buNone/>
            </a:pPr>
            <a:r>
              <a:rPr b="0" i="0" lang="en-US" sz="1300" u="none" cap="none" strike="noStrike">
                <a:solidFill>
                  <a:srgbClr val="EAF2F8"/>
                </a:solidFill>
                <a:latin typeface="IBM Plex Sans"/>
                <a:ea typeface="IBM Plex Sans"/>
                <a:cs typeface="IBM Plex Sans"/>
                <a:sym typeface="IBM Plex Sans"/>
              </a:rPr>
              <a:t>Rows with issues: 1,753 to 880</a:t>
            </a:r>
            <a:endParaRPr b="0" i="0" sz="1300" u="none" cap="none" strike="noStrike">
              <a:solidFill>
                <a:schemeClr val="dk1"/>
              </a:solidFill>
              <a:latin typeface="Calibri"/>
              <a:ea typeface="Calibri"/>
              <a:cs typeface="Calibri"/>
              <a:sym typeface="Calibri"/>
            </a:endParaRPr>
          </a:p>
        </p:txBody>
      </p:sp>
      <p:sp>
        <p:nvSpPr>
          <p:cNvPr id="298" name="Google Shape;298;p11"/>
          <p:cNvSpPr/>
          <p:nvPr/>
        </p:nvSpPr>
        <p:spPr>
          <a:xfrm>
            <a:off x="1066681" y="3593666"/>
            <a:ext cx="4447581"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AF2F8"/>
              </a:buClr>
              <a:buSzPts val="1300"/>
              <a:buFont typeface="IBM Plex Sans"/>
              <a:buNone/>
            </a:pPr>
            <a:r>
              <a:rPr b="0" i="0" lang="en-US" sz="1300" u="none" cap="none" strike="noStrike">
                <a:solidFill>
                  <a:srgbClr val="EAF2F8"/>
                </a:solidFill>
                <a:latin typeface="IBM Plex Sans"/>
                <a:ea typeface="IBM Plex Sans"/>
                <a:cs typeface="IBM Plex Sans"/>
                <a:sym typeface="IBM Plex Sans"/>
              </a:rPr>
              <a:t>Failing rules: 18 to 7</a:t>
            </a:r>
            <a:endParaRPr b="0" i="0" sz="1300" u="none" cap="none" strike="noStrike">
              <a:solidFill>
                <a:schemeClr val="dk1"/>
              </a:solidFill>
              <a:latin typeface="Calibri"/>
              <a:ea typeface="Calibri"/>
              <a:cs typeface="Calibri"/>
              <a:sym typeface="Calibri"/>
            </a:endParaRPr>
          </a:p>
        </p:txBody>
      </p:sp>
      <p:sp>
        <p:nvSpPr>
          <p:cNvPr id="299" name="Google Shape;299;p11"/>
          <p:cNvSpPr/>
          <p:nvPr/>
        </p:nvSpPr>
        <p:spPr>
          <a:xfrm>
            <a:off x="5844977" y="1544799"/>
            <a:ext cx="5531128" cy="3485991"/>
          </a:xfrm>
          <a:prstGeom prst="roundRect">
            <a:avLst>
              <a:gd fmla="val 4281" name="adj"/>
            </a:avLst>
          </a:prstGeom>
          <a:solidFill>
            <a:srgbClr val="FAFCFD"/>
          </a:solidFill>
          <a:ln cap="flat" cmpd="sng" w="9525">
            <a:solidFill>
              <a:srgbClr val="D5E0E8"/>
            </a:solidFill>
            <a:prstDash val="solid"/>
            <a:round/>
            <a:headEnd len="sm" w="sm" type="none"/>
            <a:tailEnd len="sm" w="sm" type="none"/>
          </a:ln>
          <a:effectLst>
            <a:outerShdw blurRad="127000" rotWithShape="0" algn="bl" dir="5400000" dist="38100">
              <a:srgbClr val="0F2A43">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1"/>
          <p:cNvSpPr/>
          <p:nvPr/>
        </p:nvSpPr>
        <p:spPr>
          <a:xfrm>
            <a:off x="6052543" y="1782843"/>
            <a:ext cx="152400" cy="152400"/>
          </a:xfrm>
          <a:prstGeom prst="roundRect">
            <a:avLst>
              <a:gd fmla="val 25000" name="adj"/>
            </a:avLst>
          </a:prstGeom>
          <a:solidFill>
            <a:srgbClr val="9DB2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11"/>
          <p:cNvSpPr/>
          <p:nvPr/>
        </p:nvSpPr>
        <p:spPr>
          <a:xfrm>
            <a:off x="6357343" y="1752364"/>
            <a:ext cx="507048"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200"/>
              <a:buFont typeface="IBM Plex Sans"/>
              <a:buNone/>
            </a:pPr>
            <a:r>
              <a:rPr b="0" i="0" lang="en-US" sz="1200" u="none" cap="none" strike="noStrike">
                <a:solidFill>
                  <a:srgbClr val="0F2A43"/>
                </a:solidFill>
                <a:latin typeface="IBM Plex Sans"/>
                <a:ea typeface="IBM Plex Sans"/>
                <a:cs typeface="IBM Plex Sans"/>
                <a:sym typeface="IBM Plex Sans"/>
              </a:rPr>
              <a:t>Before</a:t>
            </a:r>
            <a:endParaRPr b="0" i="0" sz="1200" u="none" cap="none" strike="noStrike">
              <a:solidFill>
                <a:schemeClr val="dk1"/>
              </a:solidFill>
              <a:latin typeface="Calibri"/>
              <a:ea typeface="Calibri"/>
              <a:cs typeface="Calibri"/>
              <a:sym typeface="Calibri"/>
            </a:endParaRPr>
          </a:p>
        </p:txBody>
      </p:sp>
      <p:sp>
        <p:nvSpPr>
          <p:cNvPr id="302" name="Google Shape;302;p11"/>
          <p:cNvSpPr/>
          <p:nvPr/>
        </p:nvSpPr>
        <p:spPr>
          <a:xfrm>
            <a:off x="6965990" y="1782843"/>
            <a:ext cx="152400" cy="152400"/>
          </a:xfrm>
          <a:prstGeom prst="roundRect">
            <a:avLst>
              <a:gd fmla="val 25000" name="adj"/>
            </a:avLst>
          </a:prstGeom>
          <a:solidFill>
            <a:srgbClr val="0A79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11"/>
          <p:cNvSpPr/>
          <p:nvPr/>
        </p:nvSpPr>
        <p:spPr>
          <a:xfrm>
            <a:off x="7270790" y="1752364"/>
            <a:ext cx="39036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200"/>
              <a:buFont typeface="IBM Plex Sans"/>
              <a:buNone/>
            </a:pPr>
            <a:r>
              <a:rPr b="0" i="0" lang="en-US" sz="1200" u="none" cap="none" strike="noStrike">
                <a:solidFill>
                  <a:srgbClr val="0F2A43"/>
                </a:solidFill>
                <a:latin typeface="IBM Plex Sans"/>
                <a:ea typeface="IBM Plex Sans"/>
                <a:cs typeface="IBM Plex Sans"/>
                <a:sym typeface="IBM Plex Sans"/>
              </a:rPr>
              <a:t>After</a:t>
            </a:r>
            <a:endParaRPr b="0" i="0" sz="1200" u="none" cap="none" strike="noStrike">
              <a:solidFill>
                <a:schemeClr val="dk1"/>
              </a:solidFill>
              <a:latin typeface="Calibri"/>
              <a:ea typeface="Calibri"/>
              <a:cs typeface="Calibri"/>
              <a:sym typeface="Calibri"/>
            </a:endParaRPr>
          </a:p>
        </p:txBody>
      </p:sp>
      <p:sp>
        <p:nvSpPr>
          <p:cNvPr id="304" name="Google Shape;304;p11"/>
          <p:cNvSpPr/>
          <p:nvPr/>
        </p:nvSpPr>
        <p:spPr>
          <a:xfrm>
            <a:off x="6052543" y="2158727"/>
            <a:ext cx="1257260"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300"/>
              <a:buFont typeface="IBM Plex Sans"/>
              <a:buNone/>
            </a:pPr>
            <a:r>
              <a:rPr b="0" i="0" lang="en-US" sz="1300" u="none" cap="none" strike="noStrike">
                <a:solidFill>
                  <a:srgbClr val="0F2A43"/>
                </a:solidFill>
                <a:latin typeface="IBM Plex Sans"/>
                <a:ea typeface="IBM Plex Sans"/>
                <a:cs typeface="IBM Plex Sans"/>
                <a:sym typeface="IBM Plex Sans"/>
              </a:rPr>
              <a:t>Validity</a:t>
            </a:r>
            <a:endParaRPr b="0" i="0" sz="1300" u="none" cap="none" strike="noStrike">
              <a:solidFill>
                <a:schemeClr val="dk1"/>
              </a:solidFill>
              <a:latin typeface="Calibri"/>
              <a:ea typeface="Calibri"/>
              <a:cs typeface="Calibri"/>
              <a:sym typeface="Calibri"/>
            </a:endParaRPr>
          </a:p>
        </p:txBody>
      </p:sp>
      <p:sp>
        <p:nvSpPr>
          <p:cNvPr id="305" name="Google Shape;305;p11"/>
          <p:cNvSpPr/>
          <p:nvPr/>
        </p:nvSpPr>
        <p:spPr>
          <a:xfrm>
            <a:off x="7360563" y="2085144"/>
            <a:ext cx="2412921" cy="126921"/>
          </a:xfrm>
          <a:prstGeom prst="roundRect">
            <a:avLst>
              <a:gd fmla="val 50000" name="adj"/>
            </a:avLst>
          </a:prstGeom>
          <a:solidFill>
            <a:srgbClr val="DCE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1"/>
          <p:cNvSpPr/>
          <p:nvPr/>
        </p:nvSpPr>
        <p:spPr>
          <a:xfrm>
            <a:off x="7360563" y="2085144"/>
            <a:ext cx="1866900" cy="126921"/>
          </a:xfrm>
          <a:prstGeom prst="roundRect">
            <a:avLst>
              <a:gd fmla="val 50000" name="adj"/>
            </a:avLst>
          </a:prstGeom>
          <a:solidFill>
            <a:srgbClr val="9DB2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11"/>
          <p:cNvSpPr/>
          <p:nvPr/>
        </p:nvSpPr>
        <p:spPr>
          <a:xfrm>
            <a:off x="9862304" y="2041922"/>
            <a:ext cx="622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200"/>
              <a:buFont typeface="IBM Plex Sans"/>
              <a:buNone/>
            </a:pPr>
            <a:r>
              <a:rPr b="1" i="0" lang="en-US" sz="1200" u="none" cap="none" strike="noStrike">
                <a:solidFill>
                  <a:srgbClr val="0F2A43"/>
                </a:solidFill>
                <a:latin typeface="IBM Plex Sans"/>
                <a:ea typeface="IBM Plex Sans"/>
                <a:cs typeface="IBM Plex Sans"/>
                <a:sym typeface="IBM Plex Sans"/>
              </a:rPr>
              <a:t>77.5</a:t>
            </a:r>
            <a:endParaRPr b="0" i="0" sz="1200" u="none" cap="none" strike="noStrike">
              <a:solidFill>
                <a:schemeClr val="dk1"/>
              </a:solidFill>
              <a:latin typeface="Calibri"/>
              <a:ea typeface="Calibri"/>
              <a:cs typeface="Calibri"/>
              <a:sym typeface="Calibri"/>
            </a:endParaRPr>
          </a:p>
        </p:txBody>
      </p:sp>
      <p:sp>
        <p:nvSpPr>
          <p:cNvPr id="308" name="Google Shape;308;p11"/>
          <p:cNvSpPr/>
          <p:nvPr/>
        </p:nvSpPr>
        <p:spPr>
          <a:xfrm>
            <a:off x="7360563" y="2336602"/>
            <a:ext cx="2412921" cy="126921"/>
          </a:xfrm>
          <a:prstGeom prst="roundRect">
            <a:avLst>
              <a:gd fmla="val 50000" name="adj"/>
            </a:avLst>
          </a:prstGeom>
          <a:solidFill>
            <a:srgbClr val="DCE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1"/>
          <p:cNvSpPr/>
          <p:nvPr/>
        </p:nvSpPr>
        <p:spPr>
          <a:xfrm>
            <a:off x="7360563" y="2336602"/>
            <a:ext cx="2412921" cy="126921"/>
          </a:xfrm>
          <a:prstGeom prst="roundRect">
            <a:avLst>
              <a:gd fmla="val 50000" name="adj"/>
            </a:avLst>
          </a:prstGeom>
          <a:solidFill>
            <a:srgbClr val="0A79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11"/>
          <p:cNvSpPr/>
          <p:nvPr/>
        </p:nvSpPr>
        <p:spPr>
          <a:xfrm>
            <a:off x="9862304" y="2293386"/>
            <a:ext cx="622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200"/>
              <a:buFont typeface="IBM Plex Sans"/>
              <a:buNone/>
            </a:pPr>
            <a:r>
              <a:rPr b="1" i="0" lang="en-US" sz="1200" u="none" cap="none" strike="noStrike">
                <a:solidFill>
                  <a:srgbClr val="0F2A43"/>
                </a:solidFill>
                <a:latin typeface="IBM Plex Sans"/>
                <a:ea typeface="IBM Plex Sans"/>
                <a:cs typeface="IBM Plex Sans"/>
                <a:sym typeface="IBM Plex Sans"/>
              </a:rPr>
              <a:t>100.0</a:t>
            </a:r>
            <a:endParaRPr b="0" i="0" sz="1200" u="none" cap="none" strike="noStrike">
              <a:solidFill>
                <a:schemeClr val="dk1"/>
              </a:solidFill>
              <a:latin typeface="Calibri"/>
              <a:ea typeface="Calibri"/>
              <a:cs typeface="Calibri"/>
              <a:sym typeface="Calibri"/>
            </a:endParaRPr>
          </a:p>
        </p:txBody>
      </p:sp>
      <p:sp>
        <p:nvSpPr>
          <p:cNvPr id="311" name="Google Shape;311;p11"/>
          <p:cNvSpPr/>
          <p:nvPr/>
        </p:nvSpPr>
        <p:spPr>
          <a:xfrm>
            <a:off x="6052543" y="2737842"/>
            <a:ext cx="1257260"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300"/>
              <a:buFont typeface="IBM Plex Sans"/>
              <a:buNone/>
            </a:pPr>
            <a:r>
              <a:rPr b="0" i="0" lang="en-US" sz="1300" u="none" cap="none" strike="noStrike">
                <a:solidFill>
                  <a:srgbClr val="0F2A43"/>
                </a:solidFill>
                <a:latin typeface="IBM Plex Sans"/>
                <a:ea typeface="IBM Plex Sans"/>
                <a:cs typeface="IBM Plex Sans"/>
                <a:sym typeface="IBM Plex Sans"/>
              </a:rPr>
              <a:t>Uniqueness</a:t>
            </a:r>
            <a:endParaRPr b="0" i="0" sz="1300" u="none" cap="none" strike="noStrike">
              <a:solidFill>
                <a:schemeClr val="dk1"/>
              </a:solidFill>
              <a:latin typeface="Calibri"/>
              <a:ea typeface="Calibri"/>
              <a:cs typeface="Calibri"/>
              <a:sym typeface="Calibri"/>
            </a:endParaRPr>
          </a:p>
        </p:txBody>
      </p:sp>
      <p:sp>
        <p:nvSpPr>
          <p:cNvPr id="312" name="Google Shape;312;p11"/>
          <p:cNvSpPr/>
          <p:nvPr/>
        </p:nvSpPr>
        <p:spPr>
          <a:xfrm>
            <a:off x="7360563" y="2664265"/>
            <a:ext cx="2412921" cy="126921"/>
          </a:xfrm>
          <a:prstGeom prst="roundRect">
            <a:avLst>
              <a:gd fmla="val 50000" name="adj"/>
            </a:avLst>
          </a:prstGeom>
          <a:solidFill>
            <a:srgbClr val="DCE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11"/>
          <p:cNvSpPr/>
          <p:nvPr/>
        </p:nvSpPr>
        <p:spPr>
          <a:xfrm>
            <a:off x="7360563" y="2664265"/>
            <a:ext cx="1943100" cy="126921"/>
          </a:xfrm>
          <a:prstGeom prst="roundRect">
            <a:avLst>
              <a:gd fmla="val 50000" name="adj"/>
            </a:avLst>
          </a:prstGeom>
          <a:solidFill>
            <a:srgbClr val="9DB2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1"/>
          <p:cNvSpPr/>
          <p:nvPr/>
        </p:nvSpPr>
        <p:spPr>
          <a:xfrm>
            <a:off x="9862304" y="2621043"/>
            <a:ext cx="622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200"/>
              <a:buFont typeface="IBM Plex Sans"/>
              <a:buNone/>
            </a:pPr>
            <a:r>
              <a:rPr b="1" i="0" lang="en-US" sz="1200" u="none" cap="none" strike="noStrike">
                <a:solidFill>
                  <a:srgbClr val="0F2A43"/>
                </a:solidFill>
                <a:latin typeface="IBM Plex Sans"/>
                <a:ea typeface="IBM Plex Sans"/>
                <a:cs typeface="IBM Plex Sans"/>
                <a:sym typeface="IBM Plex Sans"/>
              </a:rPr>
              <a:t>80.4</a:t>
            </a:r>
            <a:endParaRPr b="0" i="0" sz="1200" u="none" cap="none" strike="noStrike">
              <a:solidFill>
                <a:schemeClr val="dk1"/>
              </a:solidFill>
              <a:latin typeface="Calibri"/>
              <a:ea typeface="Calibri"/>
              <a:cs typeface="Calibri"/>
              <a:sym typeface="Calibri"/>
            </a:endParaRPr>
          </a:p>
        </p:txBody>
      </p:sp>
      <p:sp>
        <p:nvSpPr>
          <p:cNvPr id="315" name="Google Shape;315;p11"/>
          <p:cNvSpPr/>
          <p:nvPr/>
        </p:nvSpPr>
        <p:spPr>
          <a:xfrm>
            <a:off x="7360563" y="2915723"/>
            <a:ext cx="2412921" cy="126921"/>
          </a:xfrm>
          <a:prstGeom prst="roundRect">
            <a:avLst>
              <a:gd fmla="val 50000" name="adj"/>
            </a:avLst>
          </a:prstGeom>
          <a:solidFill>
            <a:srgbClr val="DCE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11"/>
          <p:cNvSpPr/>
          <p:nvPr/>
        </p:nvSpPr>
        <p:spPr>
          <a:xfrm>
            <a:off x="7360563" y="2915723"/>
            <a:ext cx="2412921" cy="126921"/>
          </a:xfrm>
          <a:prstGeom prst="roundRect">
            <a:avLst>
              <a:gd fmla="val 50000" name="adj"/>
            </a:avLst>
          </a:prstGeom>
          <a:solidFill>
            <a:srgbClr val="0A79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1"/>
          <p:cNvSpPr/>
          <p:nvPr/>
        </p:nvSpPr>
        <p:spPr>
          <a:xfrm>
            <a:off x="9862304" y="2872507"/>
            <a:ext cx="622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200"/>
              <a:buFont typeface="IBM Plex Sans"/>
              <a:buNone/>
            </a:pPr>
            <a:r>
              <a:rPr b="1" i="0" lang="en-US" sz="1200" u="none" cap="none" strike="noStrike">
                <a:solidFill>
                  <a:srgbClr val="0F2A43"/>
                </a:solidFill>
                <a:latin typeface="IBM Plex Sans"/>
                <a:ea typeface="IBM Plex Sans"/>
                <a:cs typeface="IBM Plex Sans"/>
                <a:sym typeface="IBM Plex Sans"/>
              </a:rPr>
              <a:t>100.0</a:t>
            </a:r>
            <a:endParaRPr b="0" i="0" sz="1200" u="none" cap="none" strike="noStrike">
              <a:solidFill>
                <a:schemeClr val="dk1"/>
              </a:solidFill>
              <a:latin typeface="Calibri"/>
              <a:ea typeface="Calibri"/>
              <a:cs typeface="Calibri"/>
              <a:sym typeface="Calibri"/>
            </a:endParaRPr>
          </a:p>
        </p:txBody>
      </p:sp>
      <p:sp>
        <p:nvSpPr>
          <p:cNvPr id="318" name="Google Shape;318;p11"/>
          <p:cNvSpPr/>
          <p:nvPr/>
        </p:nvSpPr>
        <p:spPr>
          <a:xfrm>
            <a:off x="6052543" y="3316963"/>
            <a:ext cx="1257260"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300"/>
              <a:buFont typeface="IBM Plex Sans"/>
              <a:buNone/>
            </a:pPr>
            <a:r>
              <a:rPr b="0" i="0" lang="en-US" sz="1300" u="none" cap="none" strike="noStrike">
                <a:solidFill>
                  <a:srgbClr val="0F2A43"/>
                </a:solidFill>
                <a:latin typeface="IBM Plex Sans"/>
                <a:ea typeface="IBM Plex Sans"/>
                <a:cs typeface="IBM Plex Sans"/>
                <a:sym typeface="IBM Plex Sans"/>
              </a:rPr>
              <a:t>Consistency</a:t>
            </a:r>
            <a:endParaRPr b="0" i="0" sz="1300" u="none" cap="none" strike="noStrike">
              <a:solidFill>
                <a:schemeClr val="dk1"/>
              </a:solidFill>
              <a:latin typeface="Calibri"/>
              <a:ea typeface="Calibri"/>
              <a:cs typeface="Calibri"/>
              <a:sym typeface="Calibri"/>
            </a:endParaRPr>
          </a:p>
        </p:txBody>
      </p:sp>
      <p:sp>
        <p:nvSpPr>
          <p:cNvPr id="319" name="Google Shape;319;p11"/>
          <p:cNvSpPr/>
          <p:nvPr/>
        </p:nvSpPr>
        <p:spPr>
          <a:xfrm>
            <a:off x="7360563" y="3243387"/>
            <a:ext cx="2412921" cy="126921"/>
          </a:xfrm>
          <a:prstGeom prst="roundRect">
            <a:avLst>
              <a:gd fmla="val 50000" name="adj"/>
            </a:avLst>
          </a:prstGeom>
          <a:solidFill>
            <a:srgbClr val="DCE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1"/>
          <p:cNvSpPr/>
          <p:nvPr/>
        </p:nvSpPr>
        <p:spPr>
          <a:xfrm>
            <a:off x="7360563" y="3243387"/>
            <a:ext cx="1981200" cy="126921"/>
          </a:xfrm>
          <a:prstGeom prst="roundRect">
            <a:avLst>
              <a:gd fmla="val 50000" name="adj"/>
            </a:avLst>
          </a:prstGeom>
          <a:solidFill>
            <a:srgbClr val="9DB2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1"/>
          <p:cNvSpPr/>
          <p:nvPr/>
        </p:nvSpPr>
        <p:spPr>
          <a:xfrm>
            <a:off x="9862304" y="3200164"/>
            <a:ext cx="622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200"/>
              <a:buFont typeface="IBM Plex Sans"/>
              <a:buNone/>
            </a:pPr>
            <a:r>
              <a:rPr b="1" i="0" lang="en-US" sz="1200" u="none" cap="none" strike="noStrike">
                <a:solidFill>
                  <a:srgbClr val="0F2A43"/>
                </a:solidFill>
                <a:latin typeface="IBM Plex Sans"/>
                <a:ea typeface="IBM Plex Sans"/>
                <a:cs typeface="IBM Plex Sans"/>
                <a:sym typeface="IBM Plex Sans"/>
              </a:rPr>
              <a:t>82.1</a:t>
            </a:r>
            <a:endParaRPr b="0" i="0" sz="1200" u="none" cap="none" strike="noStrike">
              <a:solidFill>
                <a:schemeClr val="dk1"/>
              </a:solidFill>
              <a:latin typeface="Calibri"/>
              <a:ea typeface="Calibri"/>
              <a:cs typeface="Calibri"/>
              <a:sym typeface="Calibri"/>
            </a:endParaRPr>
          </a:p>
        </p:txBody>
      </p:sp>
      <p:sp>
        <p:nvSpPr>
          <p:cNvPr id="322" name="Google Shape;322;p11"/>
          <p:cNvSpPr/>
          <p:nvPr/>
        </p:nvSpPr>
        <p:spPr>
          <a:xfrm>
            <a:off x="7360563" y="3494844"/>
            <a:ext cx="2412921" cy="126921"/>
          </a:xfrm>
          <a:prstGeom prst="roundRect">
            <a:avLst>
              <a:gd fmla="val 50000" name="adj"/>
            </a:avLst>
          </a:prstGeom>
          <a:solidFill>
            <a:srgbClr val="DCE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11"/>
          <p:cNvSpPr/>
          <p:nvPr/>
        </p:nvSpPr>
        <p:spPr>
          <a:xfrm>
            <a:off x="7360563" y="3494844"/>
            <a:ext cx="2412921" cy="126921"/>
          </a:xfrm>
          <a:prstGeom prst="roundRect">
            <a:avLst>
              <a:gd fmla="val 50000" name="adj"/>
            </a:avLst>
          </a:prstGeom>
          <a:solidFill>
            <a:srgbClr val="0A79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1"/>
          <p:cNvSpPr/>
          <p:nvPr/>
        </p:nvSpPr>
        <p:spPr>
          <a:xfrm>
            <a:off x="9862304" y="3451622"/>
            <a:ext cx="622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200"/>
              <a:buFont typeface="IBM Plex Sans"/>
              <a:buNone/>
            </a:pPr>
            <a:r>
              <a:rPr b="1" i="0" lang="en-US" sz="1200" u="none" cap="none" strike="noStrike">
                <a:solidFill>
                  <a:srgbClr val="0F2A43"/>
                </a:solidFill>
                <a:latin typeface="IBM Plex Sans"/>
                <a:ea typeface="IBM Plex Sans"/>
                <a:cs typeface="IBM Plex Sans"/>
                <a:sym typeface="IBM Plex Sans"/>
              </a:rPr>
              <a:t>100.0</a:t>
            </a:r>
            <a:endParaRPr b="0" i="0" sz="1200" u="none" cap="none" strike="noStrike">
              <a:solidFill>
                <a:schemeClr val="dk1"/>
              </a:solidFill>
              <a:latin typeface="Calibri"/>
              <a:ea typeface="Calibri"/>
              <a:cs typeface="Calibri"/>
              <a:sym typeface="Calibri"/>
            </a:endParaRPr>
          </a:p>
        </p:txBody>
      </p:sp>
      <p:sp>
        <p:nvSpPr>
          <p:cNvPr id="325" name="Google Shape;325;p11"/>
          <p:cNvSpPr/>
          <p:nvPr/>
        </p:nvSpPr>
        <p:spPr>
          <a:xfrm>
            <a:off x="6052543" y="3896085"/>
            <a:ext cx="1257260"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300"/>
              <a:buFont typeface="IBM Plex Sans"/>
              <a:buNone/>
            </a:pPr>
            <a:r>
              <a:rPr b="0" i="0" lang="en-US" sz="1300" u="none" cap="none" strike="noStrike">
                <a:solidFill>
                  <a:srgbClr val="0F2A43"/>
                </a:solidFill>
                <a:latin typeface="IBM Plex Sans"/>
                <a:ea typeface="IBM Plex Sans"/>
                <a:cs typeface="IBM Plex Sans"/>
                <a:sym typeface="IBM Plex Sans"/>
              </a:rPr>
              <a:t>Completeness</a:t>
            </a:r>
            <a:endParaRPr b="0" i="0" sz="1300" u="none" cap="none" strike="noStrike">
              <a:solidFill>
                <a:schemeClr val="dk1"/>
              </a:solidFill>
              <a:latin typeface="Calibri"/>
              <a:ea typeface="Calibri"/>
              <a:cs typeface="Calibri"/>
              <a:sym typeface="Calibri"/>
            </a:endParaRPr>
          </a:p>
        </p:txBody>
      </p:sp>
      <p:sp>
        <p:nvSpPr>
          <p:cNvPr id="326" name="Google Shape;326;p11"/>
          <p:cNvSpPr/>
          <p:nvPr/>
        </p:nvSpPr>
        <p:spPr>
          <a:xfrm>
            <a:off x="7360563" y="3822502"/>
            <a:ext cx="2412921" cy="126921"/>
          </a:xfrm>
          <a:prstGeom prst="roundRect">
            <a:avLst>
              <a:gd fmla="val 50000" name="adj"/>
            </a:avLst>
          </a:prstGeom>
          <a:solidFill>
            <a:srgbClr val="DCE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11"/>
          <p:cNvSpPr/>
          <p:nvPr/>
        </p:nvSpPr>
        <p:spPr>
          <a:xfrm>
            <a:off x="7360563" y="3822502"/>
            <a:ext cx="2235160" cy="126921"/>
          </a:xfrm>
          <a:prstGeom prst="roundRect">
            <a:avLst>
              <a:gd fmla="val 50000" name="adj"/>
            </a:avLst>
          </a:prstGeom>
          <a:solidFill>
            <a:srgbClr val="9DB2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1"/>
          <p:cNvSpPr/>
          <p:nvPr/>
        </p:nvSpPr>
        <p:spPr>
          <a:xfrm>
            <a:off x="9862304" y="3779286"/>
            <a:ext cx="622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200"/>
              <a:buFont typeface="IBM Plex Sans"/>
              <a:buNone/>
            </a:pPr>
            <a:r>
              <a:rPr b="1" i="0" lang="en-US" sz="1200" u="none" cap="none" strike="noStrike">
                <a:solidFill>
                  <a:srgbClr val="0F2A43"/>
                </a:solidFill>
                <a:latin typeface="IBM Plex Sans"/>
                <a:ea typeface="IBM Plex Sans"/>
                <a:cs typeface="IBM Plex Sans"/>
                <a:sym typeface="IBM Plex Sans"/>
              </a:rPr>
              <a:t>92.5</a:t>
            </a:r>
            <a:endParaRPr b="0" i="0" sz="1200" u="none" cap="none" strike="noStrike">
              <a:solidFill>
                <a:schemeClr val="dk1"/>
              </a:solidFill>
              <a:latin typeface="Calibri"/>
              <a:ea typeface="Calibri"/>
              <a:cs typeface="Calibri"/>
              <a:sym typeface="Calibri"/>
            </a:endParaRPr>
          </a:p>
        </p:txBody>
      </p:sp>
      <p:sp>
        <p:nvSpPr>
          <p:cNvPr id="329" name="Google Shape;329;p11"/>
          <p:cNvSpPr/>
          <p:nvPr/>
        </p:nvSpPr>
        <p:spPr>
          <a:xfrm>
            <a:off x="7360563" y="4073965"/>
            <a:ext cx="2412921" cy="126921"/>
          </a:xfrm>
          <a:prstGeom prst="roundRect">
            <a:avLst>
              <a:gd fmla="val 50000" name="adj"/>
            </a:avLst>
          </a:prstGeom>
          <a:solidFill>
            <a:srgbClr val="DCE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1"/>
          <p:cNvSpPr/>
          <p:nvPr/>
        </p:nvSpPr>
        <p:spPr>
          <a:xfrm>
            <a:off x="7360563" y="4073965"/>
            <a:ext cx="2000250" cy="126921"/>
          </a:xfrm>
          <a:prstGeom prst="roundRect">
            <a:avLst>
              <a:gd fmla="val 50000" name="adj"/>
            </a:avLst>
          </a:prstGeom>
          <a:solidFill>
            <a:srgbClr val="D98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11"/>
          <p:cNvSpPr/>
          <p:nvPr/>
        </p:nvSpPr>
        <p:spPr>
          <a:xfrm>
            <a:off x="9862304" y="4030743"/>
            <a:ext cx="622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200"/>
              <a:buFont typeface="IBM Plex Sans"/>
              <a:buNone/>
            </a:pPr>
            <a:r>
              <a:rPr b="1" i="0" lang="en-US" sz="1200" u="none" cap="none" strike="noStrike">
                <a:solidFill>
                  <a:srgbClr val="0F2A43"/>
                </a:solidFill>
                <a:latin typeface="IBM Plex Sans"/>
                <a:ea typeface="IBM Plex Sans"/>
                <a:cs typeface="IBM Plex Sans"/>
                <a:sym typeface="IBM Plex Sans"/>
              </a:rPr>
              <a:t>82.8</a:t>
            </a:r>
            <a:endParaRPr b="0" i="0" sz="1200" u="none" cap="none" strike="noStrike">
              <a:solidFill>
                <a:schemeClr val="dk1"/>
              </a:solidFill>
              <a:latin typeface="Calibri"/>
              <a:ea typeface="Calibri"/>
              <a:cs typeface="Calibri"/>
              <a:sym typeface="Calibri"/>
            </a:endParaRPr>
          </a:p>
        </p:txBody>
      </p:sp>
      <p:sp>
        <p:nvSpPr>
          <p:cNvPr id="332" name="Google Shape;332;p11"/>
          <p:cNvSpPr/>
          <p:nvPr/>
        </p:nvSpPr>
        <p:spPr>
          <a:xfrm>
            <a:off x="6052543" y="4475206"/>
            <a:ext cx="1257260" cy="25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300"/>
              <a:buFont typeface="IBM Plex Sans"/>
              <a:buNone/>
            </a:pPr>
            <a:r>
              <a:rPr b="0" i="0" lang="en-US" sz="1300" u="none" cap="none" strike="noStrike">
                <a:solidFill>
                  <a:srgbClr val="0F2A43"/>
                </a:solidFill>
                <a:latin typeface="IBM Plex Sans"/>
                <a:ea typeface="IBM Plex Sans"/>
                <a:cs typeface="IBM Plex Sans"/>
                <a:sym typeface="IBM Plex Sans"/>
              </a:rPr>
              <a:t>Accuracy</a:t>
            </a:r>
            <a:endParaRPr b="0" i="0" sz="1300" u="none" cap="none" strike="noStrike">
              <a:solidFill>
                <a:schemeClr val="dk1"/>
              </a:solidFill>
              <a:latin typeface="Calibri"/>
              <a:ea typeface="Calibri"/>
              <a:cs typeface="Calibri"/>
              <a:sym typeface="Calibri"/>
            </a:endParaRPr>
          </a:p>
        </p:txBody>
      </p:sp>
      <p:sp>
        <p:nvSpPr>
          <p:cNvPr id="333" name="Google Shape;333;p11"/>
          <p:cNvSpPr/>
          <p:nvPr/>
        </p:nvSpPr>
        <p:spPr>
          <a:xfrm>
            <a:off x="7360563" y="4401623"/>
            <a:ext cx="2412921" cy="126921"/>
          </a:xfrm>
          <a:prstGeom prst="roundRect">
            <a:avLst>
              <a:gd fmla="val 50000" name="adj"/>
            </a:avLst>
          </a:prstGeom>
          <a:solidFill>
            <a:srgbClr val="DCE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1"/>
          <p:cNvSpPr/>
          <p:nvPr/>
        </p:nvSpPr>
        <p:spPr>
          <a:xfrm>
            <a:off x="7360563" y="4401623"/>
            <a:ext cx="2330410" cy="126921"/>
          </a:xfrm>
          <a:prstGeom prst="roundRect">
            <a:avLst>
              <a:gd fmla="val 50000" name="adj"/>
            </a:avLst>
          </a:prstGeom>
          <a:solidFill>
            <a:srgbClr val="9DB2C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1"/>
          <p:cNvSpPr/>
          <p:nvPr/>
        </p:nvSpPr>
        <p:spPr>
          <a:xfrm>
            <a:off x="9862304" y="4358407"/>
            <a:ext cx="622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200"/>
              <a:buFont typeface="IBM Plex Sans"/>
              <a:buNone/>
            </a:pPr>
            <a:r>
              <a:rPr b="1" i="0" lang="en-US" sz="1200" u="none" cap="none" strike="noStrike">
                <a:solidFill>
                  <a:srgbClr val="0F2A43"/>
                </a:solidFill>
                <a:latin typeface="IBM Plex Sans"/>
                <a:ea typeface="IBM Plex Sans"/>
                <a:cs typeface="IBM Plex Sans"/>
                <a:sym typeface="IBM Plex Sans"/>
              </a:rPr>
              <a:t>96.5</a:t>
            </a:r>
            <a:endParaRPr b="0" i="0" sz="1200" u="none" cap="none" strike="noStrike">
              <a:solidFill>
                <a:schemeClr val="dk1"/>
              </a:solidFill>
              <a:latin typeface="Calibri"/>
              <a:ea typeface="Calibri"/>
              <a:cs typeface="Calibri"/>
              <a:sym typeface="Calibri"/>
            </a:endParaRPr>
          </a:p>
        </p:txBody>
      </p:sp>
      <p:sp>
        <p:nvSpPr>
          <p:cNvPr id="336" name="Google Shape;336;p11"/>
          <p:cNvSpPr/>
          <p:nvPr/>
        </p:nvSpPr>
        <p:spPr>
          <a:xfrm>
            <a:off x="7360563" y="4653087"/>
            <a:ext cx="2412921" cy="126921"/>
          </a:xfrm>
          <a:prstGeom prst="roundRect">
            <a:avLst>
              <a:gd fmla="val 50000" name="adj"/>
            </a:avLst>
          </a:prstGeom>
          <a:solidFill>
            <a:srgbClr val="DCE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11"/>
          <p:cNvSpPr/>
          <p:nvPr/>
        </p:nvSpPr>
        <p:spPr>
          <a:xfrm>
            <a:off x="7360563" y="4653087"/>
            <a:ext cx="2324100" cy="126921"/>
          </a:xfrm>
          <a:prstGeom prst="roundRect">
            <a:avLst>
              <a:gd fmla="val 50000" name="adj"/>
            </a:avLst>
          </a:prstGeom>
          <a:solidFill>
            <a:srgbClr val="0A79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11"/>
          <p:cNvSpPr/>
          <p:nvPr/>
        </p:nvSpPr>
        <p:spPr>
          <a:xfrm>
            <a:off x="9862304" y="4609864"/>
            <a:ext cx="622300"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200"/>
              <a:buFont typeface="IBM Plex Sans"/>
              <a:buNone/>
            </a:pPr>
            <a:r>
              <a:rPr b="1" i="0" lang="en-US" sz="1200" u="none" cap="none" strike="noStrike">
                <a:solidFill>
                  <a:srgbClr val="0F2A43"/>
                </a:solidFill>
                <a:latin typeface="IBM Plex Sans"/>
                <a:ea typeface="IBM Plex Sans"/>
                <a:cs typeface="IBM Plex Sans"/>
                <a:sym typeface="IBM Plex Sans"/>
              </a:rPr>
              <a:t>96.4</a:t>
            </a:r>
            <a:endParaRPr b="0" i="0" sz="1200" u="none" cap="none" strike="noStrike">
              <a:solidFill>
                <a:schemeClr val="dk1"/>
              </a:solidFill>
              <a:latin typeface="Calibri"/>
              <a:ea typeface="Calibri"/>
              <a:cs typeface="Calibri"/>
              <a:sym typeface="Calibri"/>
            </a:endParaRPr>
          </a:p>
        </p:txBody>
      </p:sp>
      <p:sp>
        <p:nvSpPr>
          <p:cNvPr id="339" name="Google Shape;339;p11"/>
          <p:cNvSpPr/>
          <p:nvPr/>
        </p:nvSpPr>
        <p:spPr>
          <a:xfrm>
            <a:off x="812721" y="5287925"/>
            <a:ext cx="10883556"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400"/>
              <a:buFont typeface="IBM Plex Sans"/>
              <a:buNone/>
            </a:pPr>
            <a:r>
              <a:rPr b="0" i="0" lang="en-US" sz="1400" u="none" cap="none" strike="noStrike">
                <a:solidFill>
                  <a:srgbClr val="0F2A43"/>
                </a:solidFill>
                <a:latin typeface="IBM Plex Sans"/>
                <a:ea typeface="IBM Plex Sans"/>
                <a:cs typeface="IBM Plex Sans"/>
                <a:sym typeface="IBM Plex Sans"/>
              </a:rPr>
              <a:t>Completeness dips because impossible values are emptied, never invented. The trade-off is shown, not hidden.</a:t>
            </a:r>
            <a:endParaRPr b="0" i="0" sz="1400" u="none" cap="none" strike="noStrike">
              <a:solidFill>
                <a:schemeClr val="dk1"/>
              </a:solidFill>
              <a:latin typeface="Calibri"/>
              <a:ea typeface="Calibri"/>
              <a:cs typeface="Calibri"/>
              <a:sym typeface="Calibri"/>
            </a:endParaRPr>
          </a:p>
        </p:txBody>
      </p:sp>
      <p:sp>
        <p:nvSpPr>
          <p:cNvPr id="340" name="Google Shape;340;p11"/>
          <p:cNvSpPr/>
          <p:nvPr/>
        </p:nvSpPr>
        <p:spPr>
          <a:xfrm>
            <a:off x="812721" y="6238280"/>
            <a:ext cx="719446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Agentic Data Quality Guardian · CoCoQuest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239"/>
        </a:solidFill>
      </p:bgPr>
    </p:bg>
    <p:spTree>
      <p:nvGrpSpPr>
        <p:cNvPr id="345" name="Shape 345"/>
        <p:cNvGrpSpPr/>
        <p:nvPr/>
      </p:nvGrpSpPr>
      <p:grpSpPr>
        <a:xfrm>
          <a:off x="0" y="0"/>
          <a:ext cx="0" cy="0"/>
          <a:chOff x="0" y="0"/>
          <a:chExt cx="0" cy="0"/>
        </a:xfrm>
      </p:grpSpPr>
      <p:sp>
        <p:nvSpPr>
          <p:cNvPr id="346" name="Google Shape;346;p12"/>
          <p:cNvSpPr/>
          <p:nvPr/>
        </p:nvSpPr>
        <p:spPr>
          <a:xfrm>
            <a:off x="812721" y="812726"/>
            <a:ext cx="10883556" cy="5003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EAF2F8"/>
              </a:buClr>
              <a:buSzPts val="3400"/>
              <a:buFont typeface="Rubik"/>
              <a:buNone/>
            </a:pPr>
            <a:r>
              <a:rPr b="1" i="0" lang="en-US" sz="3400" u="none" cap="none" strike="noStrike">
                <a:solidFill>
                  <a:srgbClr val="EAF2F8"/>
                </a:solidFill>
                <a:latin typeface="Rubik"/>
                <a:ea typeface="Rubik"/>
                <a:cs typeface="Rubik"/>
                <a:sym typeface="Rubik"/>
              </a:rPr>
              <a:t>Results on the demo data</a:t>
            </a:r>
            <a:endParaRPr b="0" i="0" sz="3400" u="none" cap="none" strike="noStrike">
              <a:solidFill>
                <a:schemeClr val="dk1"/>
              </a:solidFill>
              <a:latin typeface="Calibri"/>
              <a:ea typeface="Calibri"/>
              <a:cs typeface="Calibri"/>
              <a:sym typeface="Calibri"/>
            </a:endParaRPr>
          </a:p>
        </p:txBody>
      </p:sp>
      <p:graphicFrame>
        <p:nvGraphicFramePr>
          <p:cNvPr id="347" name="Google Shape;347;p12"/>
          <p:cNvGraphicFramePr/>
          <p:nvPr/>
        </p:nvGraphicFramePr>
        <p:xfrm>
          <a:off x="812721" y="1541624"/>
          <a:ext cx="3000000" cy="3000000"/>
        </p:xfrm>
        <a:graphic>
          <a:graphicData uri="http://schemas.openxmlformats.org/drawingml/2006/table">
            <a:tbl>
              <a:tblPr>
                <a:noFill/>
                <a:tableStyleId>{22987BC9-52AB-4815-9B8F-11794E623275}</a:tableStyleId>
              </a:tblPr>
              <a:tblGrid>
                <a:gridCol w="2324650"/>
                <a:gridCol w="2747300"/>
                <a:gridCol w="2113300"/>
                <a:gridCol w="3381300"/>
              </a:tblGrid>
              <a:tr h="487675">
                <a:tc>
                  <a:txBody>
                    <a:bodyPr/>
                    <a:lstStyle/>
                    <a:p>
                      <a:pPr indent="0" lvl="0" marL="0" marR="0" rtl="0" algn="l">
                        <a:lnSpc>
                          <a:spcPct val="140000"/>
                        </a:lnSpc>
                        <a:spcBef>
                          <a:spcPts val="0"/>
                        </a:spcBef>
                        <a:spcAft>
                          <a:spcPts val="0"/>
                        </a:spcAft>
                        <a:buClr>
                          <a:srgbClr val="9DB6CC"/>
                        </a:buClr>
                        <a:buSzPts val="1800"/>
                        <a:buFont typeface="IBM Plex Sans"/>
                        <a:buNone/>
                      </a:pPr>
                      <a:r>
                        <a:rPr b="1" lang="en-US" sz="1800" u="none" cap="none" strike="noStrike">
                          <a:solidFill>
                            <a:srgbClr val="9DB6CC"/>
                          </a:solidFill>
                          <a:latin typeface="IBM Plex Sans"/>
                          <a:ea typeface="IBM Plex Sans"/>
                          <a:cs typeface="IBM Plex Sans"/>
                          <a:sym typeface="IBM Plex Sans"/>
                        </a:rPr>
                        <a:t>Table</a:t>
                      </a:r>
                      <a:endParaRPr sz="1800" u="none" cap="none" strike="noStrike">
                        <a:latin typeface="IBM Plex Sans"/>
                        <a:ea typeface="IBM Plex Sans"/>
                        <a:cs typeface="IBM Plex Sans"/>
                        <a:sym typeface="IBM Plex Sans"/>
                      </a:endParaRPr>
                    </a:p>
                  </a:txBody>
                  <a:tcPr marT="80000" marB="80000" marR="80000" marL="80000">
                    <a:lnL cap="flat" cmpd="sng" w="12700">
                      <a:solidFill>
                        <a:srgbClr val="3C5063"/>
                      </a:solidFill>
                      <a:prstDash val="solid"/>
                      <a:round/>
                      <a:headEnd len="sm" w="sm" type="none"/>
                      <a:tailEnd len="sm" w="sm" type="none"/>
                    </a:lnL>
                    <a:lnR cap="flat" cmpd="sng" w="12700">
                      <a:solidFill>
                        <a:srgbClr val="3C5063"/>
                      </a:solidFill>
                      <a:prstDash val="solid"/>
                      <a:round/>
                      <a:headEnd len="sm" w="sm" type="none"/>
                      <a:tailEnd len="sm" w="sm" type="none"/>
                    </a:lnR>
                    <a:lnT cap="flat" cmpd="sng" w="12700">
                      <a:solidFill>
                        <a:srgbClr val="3C5063"/>
                      </a:solidFill>
                      <a:prstDash val="solid"/>
                      <a:round/>
                      <a:headEnd len="sm" w="sm" type="none"/>
                      <a:tailEnd len="sm" w="sm" type="none"/>
                    </a:lnT>
                    <a:lnB cap="flat" cmpd="sng" w="12700">
                      <a:solidFill>
                        <a:srgbClr val="3C5063"/>
                      </a:solidFill>
                      <a:prstDash val="solid"/>
                      <a:round/>
                      <a:headEnd len="sm" w="sm" type="none"/>
                      <a:tailEnd len="sm" w="sm" type="none"/>
                    </a:lnB>
                    <a:solidFill>
                      <a:srgbClr val="1D3348"/>
                    </a:solidFill>
                  </a:tcPr>
                </a:tc>
                <a:tc>
                  <a:txBody>
                    <a:bodyPr/>
                    <a:lstStyle/>
                    <a:p>
                      <a:pPr indent="0" lvl="0" marL="0" marR="0" rtl="0" algn="l">
                        <a:lnSpc>
                          <a:spcPct val="140000"/>
                        </a:lnSpc>
                        <a:spcBef>
                          <a:spcPts val="0"/>
                        </a:spcBef>
                        <a:spcAft>
                          <a:spcPts val="0"/>
                        </a:spcAft>
                        <a:buClr>
                          <a:srgbClr val="9DB6CC"/>
                        </a:buClr>
                        <a:buSzPts val="1800"/>
                        <a:buFont typeface="IBM Plex Sans"/>
                        <a:buNone/>
                      </a:pPr>
                      <a:r>
                        <a:rPr b="1" lang="en-US" sz="1800" u="none" cap="none" strike="noStrike">
                          <a:solidFill>
                            <a:srgbClr val="9DB6CC"/>
                          </a:solidFill>
                          <a:latin typeface="IBM Plex Sans"/>
                          <a:ea typeface="IBM Plex Sans"/>
                          <a:cs typeface="IBM Plex Sans"/>
                          <a:sym typeface="IBM Plex Sans"/>
                        </a:rPr>
                        <a:t>Health score</a:t>
                      </a:r>
                      <a:endParaRPr sz="1800" u="none" cap="none" strike="noStrike">
                        <a:latin typeface="IBM Plex Sans"/>
                        <a:ea typeface="IBM Plex Sans"/>
                        <a:cs typeface="IBM Plex Sans"/>
                        <a:sym typeface="IBM Plex Sans"/>
                      </a:endParaRPr>
                    </a:p>
                  </a:txBody>
                  <a:tcPr marT="80000" marB="80000" marR="80000" marL="80000">
                    <a:lnL cap="flat" cmpd="sng" w="12700">
                      <a:solidFill>
                        <a:srgbClr val="3C5063"/>
                      </a:solidFill>
                      <a:prstDash val="solid"/>
                      <a:round/>
                      <a:headEnd len="sm" w="sm" type="none"/>
                      <a:tailEnd len="sm" w="sm" type="none"/>
                    </a:lnL>
                    <a:lnR cap="flat" cmpd="sng" w="12700">
                      <a:solidFill>
                        <a:srgbClr val="3C5063"/>
                      </a:solidFill>
                      <a:prstDash val="solid"/>
                      <a:round/>
                      <a:headEnd len="sm" w="sm" type="none"/>
                      <a:tailEnd len="sm" w="sm" type="none"/>
                    </a:lnR>
                    <a:lnT cap="flat" cmpd="sng" w="12700">
                      <a:solidFill>
                        <a:srgbClr val="3C5063"/>
                      </a:solidFill>
                      <a:prstDash val="solid"/>
                      <a:round/>
                      <a:headEnd len="sm" w="sm" type="none"/>
                      <a:tailEnd len="sm" w="sm" type="none"/>
                    </a:lnT>
                    <a:lnB cap="flat" cmpd="sng" w="12700">
                      <a:solidFill>
                        <a:srgbClr val="3C5063"/>
                      </a:solidFill>
                      <a:prstDash val="solid"/>
                      <a:round/>
                      <a:headEnd len="sm" w="sm" type="none"/>
                      <a:tailEnd len="sm" w="sm" type="none"/>
                    </a:lnB>
                    <a:solidFill>
                      <a:srgbClr val="1D3348"/>
                    </a:solidFill>
                  </a:tcPr>
                </a:tc>
                <a:tc>
                  <a:txBody>
                    <a:bodyPr/>
                    <a:lstStyle/>
                    <a:p>
                      <a:pPr indent="0" lvl="0" marL="0" marR="0" rtl="0" algn="l">
                        <a:lnSpc>
                          <a:spcPct val="140000"/>
                        </a:lnSpc>
                        <a:spcBef>
                          <a:spcPts val="0"/>
                        </a:spcBef>
                        <a:spcAft>
                          <a:spcPts val="0"/>
                        </a:spcAft>
                        <a:buClr>
                          <a:srgbClr val="9DB6CC"/>
                        </a:buClr>
                        <a:buSzPts val="1800"/>
                        <a:buFont typeface="IBM Plex Sans"/>
                        <a:buNone/>
                      </a:pPr>
                      <a:r>
                        <a:rPr b="1" lang="en-US" sz="1800" u="none" cap="none" strike="noStrike">
                          <a:solidFill>
                            <a:srgbClr val="9DB6CC"/>
                          </a:solidFill>
                          <a:latin typeface="IBM Plex Sans"/>
                          <a:ea typeface="IBM Plex Sans"/>
                          <a:cs typeface="IBM Plex Sans"/>
                          <a:sym typeface="IBM Plex Sans"/>
                        </a:rPr>
                        <a:t>Failing rules</a:t>
                      </a:r>
                      <a:endParaRPr sz="1800" u="none" cap="none" strike="noStrike">
                        <a:latin typeface="IBM Plex Sans"/>
                        <a:ea typeface="IBM Plex Sans"/>
                        <a:cs typeface="IBM Plex Sans"/>
                        <a:sym typeface="IBM Plex Sans"/>
                      </a:endParaRPr>
                    </a:p>
                  </a:txBody>
                  <a:tcPr marT="80000" marB="80000" marR="80000" marL="80000">
                    <a:lnL cap="flat" cmpd="sng" w="12700">
                      <a:solidFill>
                        <a:srgbClr val="3C5063"/>
                      </a:solidFill>
                      <a:prstDash val="solid"/>
                      <a:round/>
                      <a:headEnd len="sm" w="sm" type="none"/>
                      <a:tailEnd len="sm" w="sm" type="none"/>
                    </a:lnL>
                    <a:lnR cap="flat" cmpd="sng" w="12700">
                      <a:solidFill>
                        <a:srgbClr val="3C5063"/>
                      </a:solidFill>
                      <a:prstDash val="solid"/>
                      <a:round/>
                      <a:headEnd len="sm" w="sm" type="none"/>
                      <a:tailEnd len="sm" w="sm" type="none"/>
                    </a:lnR>
                    <a:lnT cap="flat" cmpd="sng" w="12700">
                      <a:solidFill>
                        <a:srgbClr val="3C5063"/>
                      </a:solidFill>
                      <a:prstDash val="solid"/>
                      <a:round/>
                      <a:headEnd len="sm" w="sm" type="none"/>
                      <a:tailEnd len="sm" w="sm" type="none"/>
                    </a:lnT>
                    <a:lnB cap="flat" cmpd="sng" w="12700">
                      <a:solidFill>
                        <a:srgbClr val="3C5063"/>
                      </a:solidFill>
                      <a:prstDash val="solid"/>
                      <a:round/>
                      <a:headEnd len="sm" w="sm" type="none"/>
                      <a:tailEnd len="sm" w="sm" type="none"/>
                    </a:lnB>
                    <a:solidFill>
                      <a:srgbClr val="1D3348"/>
                    </a:solidFill>
                  </a:tcPr>
                </a:tc>
                <a:tc>
                  <a:txBody>
                    <a:bodyPr/>
                    <a:lstStyle/>
                    <a:p>
                      <a:pPr indent="0" lvl="0" marL="0" marR="0" rtl="0" algn="l">
                        <a:lnSpc>
                          <a:spcPct val="140000"/>
                        </a:lnSpc>
                        <a:spcBef>
                          <a:spcPts val="0"/>
                        </a:spcBef>
                        <a:spcAft>
                          <a:spcPts val="0"/>
                        </a:spcAft>
                        <a:buClr>
                          <a:srgbClr val="9DB6CC"/>
                        </a:buClr>
                        <a:buSzPts val="1800"/>
                        <a:buFont typeface="IBM Plex Sans"/>
                        <a:buNone/>
                      </a:pPr>
                      <a:r>
                        <a:rPr b="1" lang="en-US" sz="1800" u="none" cap="none" strike="noStrike">
                          <a:solidFill>
                            <a:srgbClr val="9DB6CC"/>
                          </a:solidFill>
                          <a:latin typeface="IBM Plex Sans"/>
                          <a:ea typeface="IBM Plex Sans"/>
                          <a:cs typeface="IBM Plex Sans"/>
                          <a:sym typeface="IBM Plex Sans"/>
                        </a:rPr>
                        <a:t>Rows</a:t>
                      </a:r>
                      <a:endParaRPr sz="1800" u="none" cap="none" strike="noStrike">
                        <a:latin typeface="IBM Plex Sans"/>
                        <a:ea typeface="IBM Plex Sans"/>
                        <a:cs typeface="IBM Plex Sans"/>
                        <a:sym typeface="IBM Plex Sans"/>
                      </a:endParaRPr>
                    </a:p>
                  </a:txBody>
                  <a:tcPr marT="80000" marB="80000" marR="80000" marL="80000">
                    <a:lnL cap="flat" cmpd="sng" w="12700">
                      <a:solidFill>
                        <a:srgbClr val="3C5063"/>
                      </a:solidFill>
                      <a:prstDash val="solid"/>
                      <a:round/>
                      <a:headEnd len="sm" w="sm" type="none"/>
                      <a:tailEnd len="sm" w="sm" type="none"/>
                    </a:lnL>
                    <a:lnR cap="flat" cmpd="sng" w="12700">
                      <a:solidFill>
                        <a:srgbClr val="3C5063"/>
                      </a:solidFill>
                      <a:prstDash val="solid"/>
                      <a:round/>
                      <a:headEnd len="sm" w="sm" type="none"/>
                      <a:tailEnd len="sm" w="sm" type="none"/>
                    </a:lnR>
                    <a:lnT cap="flat" cmpd="sng" w="12700">
                      <a:solidFill>
                        <a:srgbClr val="3C5063"/>
                      </a:solidFill>
                      <a:prstDash val="solid"/>
                      <a:round/>
                      <a:headEnd len="sm" w="sm" type="none"/>
                      <a:tailEnd len="sm" w="sm" type="none"/>
                    </a:lnT>
                    <a:lnB cap="flat" cmpd="sng" w="12700">
                      <a:solidFill>
                        <a:srgbClr val="3C5063"/>
                      </a:solidFill>
                      <a:prstDash val="solid"/>
                      <a:round/>
                      <a:headEnd len="sm" w="sm" type="none"/>
                      <a:tailEnd len="sm" w="sm" type="none"/>
                    </a:lnB>
                    <a:solidFill>
                      <a:srgbClr val="1D3348"/>
                    </a:solidFill>
                  </a:tcPr>
                </a:tc>
              </a:tr>
              <a:tr h="487675">
                <a:tc>
                  <a:txBody>
                    <a:bodyPr/>
                    <a:lstStyle/>
                    <a:p>
                      <a:pPr indent="0" lvl="0" marL="0" marR="0" rtl="0" algn="l">
                        <a:lnSpc>
                          <a:spcPct val="140000"/>
                        </a:lnSpc>
                        <a:spcBef>
                          <a:spcPts val="0"/>
                        </a:spcBef>
                        <a:spcAft>
                          <a:spcPts val="0"/>
                        </a:spcAft>
                        <a:buClr>
                          <a:srgbClr val="EAF2F8"/>
                        </a:buClr>
                        <a:buSzPts val="1800"/>
                        <a:buFont typeface="IBM Plex Sans"/>
                        <a:buNone/>
                      </a:pPr>
                      <a:r>
                        <a:rPr lang="en-US" sz="1800" u="none" cap="none" strike="noStrike">
                          <a:solidFill>
                            <a:srgbClr val="EAF2F8"/>
                          </a:solidFill>
                          <a:latin typeface="IBM Plex Sans"/>
                          <a:ea typeface="IBM Plex Sans"/>
                          <a:cs typeface="IBM Plex Sans"/>
                          <a:sym typeface="IBM Plex Sans"/>
                        </a:rPr>
                        <a:t>CUSTOMERS</a:t>
                      </a:r>
                      <a:endParaRPr sz="1800" u="none" cap="none" strike="noStrike">
                        <a:latin typeface="IBM Plex Sans"/>
                        <a:ea typeface="IBM Plex Sans"/>
                        <a:cs typeface="IBM Plex Sans"/>
                        <a:sym typeface="IBM Plex Sans"/>
                      </a:endParaRPr>
                    </a:p>
                  </a:txBody>
                  <a:tcPr marT="80000" marB="80000" marR="80000" marL="80000">
                    <a:lnL cap="flat" cmpd="sng" w="12700">
                      <a:solidFill>
                        <a:srgbClr val="3C5063"/>
                      </a:solidFill>
                      <a:prstDash val="solid"/>
                      <a:round/>
                      <a:headEnd len="sm" w="sm" type="none"/>
                      <a:tailEnd len="sm" w="sm" type="none"/>
                    </a:lnL>
                    <a:lnR cap="flat" cmpd="sng" w="12700">
                      <a:solidFill>
                        <a:srgbClr val="3C5063"/>
                      </a:solidFill>
                      <a:prstDash val="solid"/>
                      <a:round/>
                      <a:headEnd len="sm" w="sm" type="none"/>
                      <a:tailEnd len="sm" w="sm" type="none"/>
                    </a:lnR>
                    <a:lnT cap="flat" cmpd="sng" w="12700">
                      <a:solidFill>
                        <a:srgbClr val="3C5063"/>
                      </a:solidFill>
                      <a:prstDash val="solid"/>
                      <a:round/>
                      <a:headEnd len="sm" w="sm" type="none"/>
                      <a:tailEnd len="sm" w="sm" type="none"/>
                    </a:lnT>
                    <a:lnB cap="flat" cmpd="sng" w="12700">
                      <a:solidFill>
                        <a:srgbClr val="3C5063"/>
                      </a:solidFill>
                      <a:prstDash val="solid"/>
                      <a:round/>
                      <a:headEnd len="sm" w="sm" type="none"/>
                      <a:tailEnd len="sm" w="sm" type="none"/>
                    </a:lnB>
                    <a:solidFill>
                      <a:srgbClr val="123553"/>
                    </a:solidFill>
                  </a:tcPr>
                </a:tc>
                <a:tc>
                  <a:txBody>
                    <a:bodyPr/>
                    <a:lstStyle/>
                    <a:p>
                      <a:pPr indent="0" lvl="0" marL="0" marR="0" rtl="0" algn="l">
                        <a:lnSpc>
                          <a:spcPct val="140000"/>
                        </a:lnSpc>
                        <a:spcBef>
                          <a:spcPts val="0"/>
                        </a:spcBef>
                        <a:spcAft>
                          <a:spcPts val="0"/>
                        </a:spcAft>
                        <a:buClr>
                          <a:srgbClr val="EAF2F8"/>
                        </a:buClr>
                        <a:buSzPts val="1800"/>
                        <a:buFont typeface="IBM Plex Sans"/>
                        <a:buNone/>
                      </a:pPr>
                      <a:r>
                        <a:rPr lang="en-US" sz="1800" u="none" cap="none" strike="noStrike">
                          <a:solidFill>
                            <a:srgbClr val="EAF2F8"/>
                          </a:solidFill>
                          <a:latin typeface="IBM Plex Sans"/>
                          <a:ea typeface="IBM Plex Sans"/>
                          <a:cs typeface="IBM Plex Sans"/>
                          <a:sym typeface="IBM Plex Sans"/>
                        </a:rPr>
                        <a:t>85.3 to 93.0</a:t>
                      </a:r>
                      <a:endParaRPr sz="1800" u="none" cap="none" strike="noStrike">
                        <a:latin typeface="IBM Plex Sans"/>
                        <a:ea typeface="IBM Plex Sans"/>
                        <a:cs typeface="IBM Plex Sans"/>
                        <a:sym typeface="IBM Plex Sans"/>
                      </a:endParaRPr>
                    </a:p>
                  </a:txBody>
                  <a:tcPr marT="80000" marB="80000" marR="80000" marL="80000">
                    <a:lnL cap="flat" cmpd="sng" w="12700">
                      <a:solidFill>
                        <a:srgbClr val="3C5063"/>
                      </a:solidFill>
                      <a:prstDash val="solid"/>
                      <a:round/>
                      <a:headEnd len="sm" w="sm" type="none"/>
                      <a:tailEnd len="sm" w="sm" type="none"/>
                    </a:lnL>
                    <a:lnR cap="flat" cmpd="sng" w="12700">
                      <a:solidFill>
                        <a:srgbClr val="3C5063"/>
                      </a:solidFill>
                      <a:prstDash val="solid"/>
                      <a:round/>
                      <a:headEnd len="sm" w="sm" type="none"/>
                      <a:tailEnd len="sm" w="sm" type="none"/>
                    </a:lnR>
                    <a:lnT cap="flat" cmpd="sng" w="12700">
                      <a:solidFill>
                        <a:srgbClr val="3C5063"/>
                      </a:solidFill>
                      <a:prstDash val="solid"/>
                      <a:round/>
                      <a:headEnd len="sm" w="sm" type="none"/>
                      <a:tailEnd len="sm" w="sm" type="none"/>
                    </a:lnT>
                    <a:lnB cap="flat" cmpd="sng" w="12700">
                      <a:solidFill>
                        <a:srgbClr val="3C5063"/>
                      </a:solidFill>
                      <a:prstDash val="solid"/>
                      <a:round/>
                      <a:headEnd len="sm" w="sm" type="none"/>
                      <a:tailEnd len="sm" w="sm" type="none"/>
                    </a:lnB>
                    <a:solidFill>
                      <a:srgbClr val="123553"/>
                    </a:solidFill>
                  </a:tcPr>
                </a:tc>
                <a:tc>
                  <a:txBody>
                    <a:bodyPr/>
                    <a:lstStyle/>
                    <a:p>
                      <a:pPr indent="0" lvl="0" marL="0" marR="0" rtl="0" algn="l">
                        <a:lnSpc>
                          <a:spcPct val="140000"/>
                        </a:lnSpc>
                        <a:spcBef>
                          <a:spcPts val="0"/>
                        </a:spcBef>
                        <a:spcAft>
                          <a:spcPts val="0"/>
                        </a:spcAft>
                        <a:buClr>
                          <a:srgbClr val="EAF2F8"/>
                        </a:buClr>
                        <a:buSzPts val="1800"/>
                        <a:buFont typeface="IBM Plex Sans"/>
                        <a:buNone/>
                      </a:pPr>
                      <a:r>
                        <a:rPr lang="en-US" sz="1800" u="none" cap="none" strike="noStrike">
                          <a:solidFill>
                            <a:srgbClr val="EAF2F8"/>
                          </a:solidFill>
                          <a:latin typeface="IBM Plex Sans"/>
                          <a:ea typeface="IBM Plex Sans"/>
                          <a:cs typeface="IBM Plex Sans"/>
                          <a:sym typeface="IBM Plex Sans"/>
                        </a:rPr>
                        <a:t>18 to 7</a:t>
                      </a:r>
                      <a:endParaRPr sz="1800" u="none" cap="none" strike="noStrike">
                        <a:latin typeface="IBM Plex Sans"/>
                        <a:ea typeface="IBM Plex Sans"/>
                        <a:cs typeface="IBM Plex Sans"/>
                        <a:sym typeface="IBM Plex Sans"/>
                      </a:endParaRPr>
                    </a:p>
                  </a:txBody>
                  <a:tcPr marT="80000" marB="80000" marR="80000" marL="80000">
                    <a:lnL cap="flat" cmpd="sng" w="12700">
                      <a:solidFill>
                        <a:srgbClr val="3C5063"/>
                      </a:solidFill>
                      <a:prstDash val="solid"/>
                      <a:round/>
                      <a:headEnd len="sm" w="sm" type="none"/>
                      <a:tailEnd len="sm" w="sm" type="none"/>
                    </a:lnL>
                    <a:lnR cap="flat" cmpd="sng" w="12700">
                      <a:solidFill>
                        <a:srgbClr val="3C5063"/>
                      </a:solidFill>
                      <a:prstDash val="solid"/>
                      <a:round/>
                      <a:headEnd len="sm" w="sm" type="none"/>
                      <a:tailEnd len="sm" w="sm" type="none"/>
                    </a:lnR>
                    <a:lnT cap="flat" cmpd="sng" w="12700">
                      <a:solidFill>
                        <a:srgbClr val="3C5063"/>
                      </a:solidFill>
                      <a:prstDash val="solid"/>
                      <a:round/>
                      <a:headEnd len="sm" w="sm" type="none"/>
                      <a:tailEnd len="sm" w="sm" type="none"/>
                    </a:lnT>
                    <a:lnB cap="flat" cmpd="sng" w="12700">
                      <a:solidFill>
                        <a:srgbClr val="3C5063"/>
                      </a:solidFill>
                      <a:prstDash val="solid"/>
                      <a:round/>
                      <a:headEnd len="sm" w="sm" type="none"/>
                      <a:tailEnd len="sm" w="sm" type="none"/>
                    </a:lnB>
                    <a:solidFill>
                      <a:srgbClr val="123553"/>
                    </a:solidFill>
                  </a:tcPr>
                </a:tc>
                <a:tc>
                  <a:txBody>
                    <a:bodyPr/>
                    <a:lstStyle/>
                    <a:p>
                      <a:pPr indent="0" lvl="0" marL="0" marR="0" rtl="0" algn="l">
                        <a:lnSpc>
                          <a:spcPct val="140000"/>
                        </a:lnSpc>
                        <a:spcBef>
                          <a:spcPts val="0"/>
                        </a:spcBef>
                        <a:spcAft>
                          <a:spcPts val="0"/>
                        </a:spcAft>
                        <a:buClr>
                          <a:srgbClr val="EAF2F8"/>
                        </a:buClr>
                        <a:buSzPts val="1800"/>
                        <a:buFont typeface="IBM Plex Sans"/>
                        <a:buNone/>
                      </a:pPr>
                      <a:r>
                        <a:rPr lang="en-US" sz="1800" u="none" cap="none" strike="noStrike">
                          <a:solidFill>
                            <a:srgbClr val="EAF2F8"/>
                          </a:solidFill>
                          <a:latin typeface="IBM Plex Sans"/>
                          <a:ea typeface="IBM Plex Sans"/>
                          <a:cs typeface="IBM Plex Sans"/>
                          <a:sym typeface="IBM Plex Sans"/>
                        </a:rPr>
                        <a:t>5,100 to 5,000</a:t>
                      </a:r>
                      <a:endParaRPr sz="1800" u="none" cap="none" strike="noStrike">
                        <a:latin typeface="IBM Plex Sans"/>
                        <a:ea typeface="IBM Plex Sans"/>
                        <a:cs typeface="IBM Plex Sans"/>
                        <a:sym typeface="IBM Plex Sans"/>
                      </a:endParaRPr>
                    </a:p>
                  </a:txBody>
                  <a:tcPr marT="80000" marB="80000" marR="80000" marL="80000">
                    <a:lnL cap="flat" cmpd="sng" w="12700">
                      <a:solidFill>
                        <a:srgbClr val="3C5063"/>
                      </a:solidFill>
                      <a:prstDash val="solid"/>
                      <a:round/>
                      <a:headEnd len="sm" w="sm" type="none"/>
                      <a:tailEnd len="sm" w="sm" type="none"/>
                    </a:lnL>
                    <a:lnR cap="flat" cmpd="sng" w="12700">
                      <a:solidFill>
                        <a:srgbClr val="3C5063"/>
                      </a:solidFill>
                      <a:prstDash val="solid"/>
                      <a:round/>
                      <a:headEnd len="sm" w="sm" type="none"/>
                      <a:tailEnd len="sm" w="sm" type="none"/>
                    </a:lnR>
                    <a:lnT cap="flat" cmpd="sng" w="12700">
                      <a:solidFill>
                        <a:srgbClr val="3C5063"/>
                      </a:solidFill>
                      <a:prstDash val="solid"/>
                      <a:round/>
                      <a:headEnd len="sm" w="sm" type="none"/>
                      <a:tailEnd len="sm" w="sm" type="none"/>
                    </a:lnT>
                    <a:lnB cap="flat" cmpd="sng" w="12700">
                      <a:solidFill>
                        <a:srgbClr val="3C5063"/>
                      </a:solidFill>
                      <a:prstDash val="solid"/>
                      <a:round/>
                      <a:headEnd len="sm" w="sm" type="none"/>
                      <a:tailEnd len="sm" w="sm" type="none"/>
                    </a:lnB>
                    <a:solidFill>
                      <a:srgbClr val="123553"/>
                    </a:solidFill>
                  </a:tcPr>
                </a:tc>
              </a:tr>
              <a:tr h="487675">
                <a:tc>
                  <a:txBody>
                    <a:bodyPr/>
                    <a:lstStyle/>
                    <a:p>
                      <a:pPr indent="0" lvl="0" marL="0" marR="0" rtl="0" algn="l">
                        <a:lnSpc>
                          <a:spcPct val="140000"/>
                        </a:lnSpc>
                        <a:spcBef>
                          <a:spcPts val="0"/>
                        </a:spcBef>
                        <a:spcAft>
                          <a:spcPts val="0"/>
                        </a:spcAft>
                        <a:buClr>
                          <a:srgbClr val="EAF2F8"/>
                        </a:buClr>
                        <a:buSzPts val="1800"/>
                        <a:buFont typeface="IBM Plex Sans"/>
                        <a:buNone/>
                      </a:pPr>
                      <a:r>
                        <a:rPr lang="en-US" sz="1800" u="none" cap="none" strike="noStrike">
                          <a:solidFill>
                            <a:srgbClr val="EAF2F8"/>
                          </a:solidFill>
                          <a:latin typeface="IBM Plex Sans"/>
                          <a:ea typeface="IBM Plex Sans"/>
                          <a:cs typeface="IBM Plex Sans"/>
                          <a:sym typeface="IBM Plex Sans"/>
                        </a:rPr>
                        <a:t>ORDERS</a:t>
                      </a:r>
                      <a:endParaRPr sz="1800" u="none" cap="none" strike="noStrike">
                        <a:latin typeface="IBM Plex Sans"/>
                        <a:ea typeface="IBM Plex Sans"/>
                        <a:cs typeface="IBM Plex Sans"/>
                        <a:sym typeface="IBM Plex Sans"/>
                      </a:endParaRPr>
                    </a:p>
                  </a:txBody>
                  <a:tcPr marT="80000" marB="80000" marR="80000" marL="80000">
                    <a:lnL cap="flat" cmpd="sng" w="12700">
                      <a:solidFill>
                        <a:srgbClr val="3C5063"/>
                      </a:solidFill>
                      <a:prstDash val="solid"/>
                      <a:round/>
                      <a:headEnd len="sm" w="sm" type="none"/>
                      <a:tailEnd len="sm" w="sm" type="none"/>
                    </a:lnL>
                    <a:lnR cap="flat" cmpd="sng" w="12700">
                      <a:solidFill>
                        <a:srgbClr val="3C5063"/>
                      </a:solidFill>
                      <a:prstDash val="solid"/>
                      <a:round/>
                      <a:headEnd len="sm" w="sm" type="none"/>
                      <a:tailEnd len="sm" w="sm" type="none"/>
                    </a:lnR>
                    <a:lnT cap="flat" cmpd="sng" w="12700">
                      <a:solidFill>
                        <a:srgbClr val="3C5063"/>
                      </a:solidFill>
                      <a:prstDash val="solid"/>
                      <a:round/>
                      <a:headEnd len="sm" w="sm" type="none"/>
                      <a:tailEnd len="sm" w="sm" type="none"/>
                    </a:lnT>
                    <a:lnB cap="flat" cmpd="sng" w="12700">
                      <a:solidFill>
                        <a:srgbClr val="3C5063"/>
                      </a:solidFill>
                      <a:prstDash val="solid"/>
                      <a:round/>
                      <a:headEnd len="sm" w="sm" type="none"/>
                      <a:tailEnd len="sm" w="sm" type="none"/>
                    </a:lnB>
                    <a:solidFill>
                      <a:srgbClr val="123553"/>
                    </a:solidFill>
                  </a:tcPr>
                </a:tc>
                <a:tc>
                  <a:txBody>
                    <a:bodyPr/>
                    <a:lstStyle/>
                    <a:p>
                      <a:pPr indent="0" lvl="0" marL="0" marR="0" rtl="0" algn="l">
                        <a:lnSpc>
                          <a:spcPct val="140000"/>
                        </a:lnSpc>
                        <a:spcBef>
                          <a:spcPts val="0"/>
                        </a:spcBef>
                        <a:spcAft>
                          <a:spcPts val="0"/>
                        </a:spcAft>
                        <a:buClr>
                          <a:srgbClr val="EAF2F8"/>
                        </a:buClr>
                        <a:buSzPts val="1800"/>
                        <a:buFont typeface="IBM Plex Sans"/>
                        <a:buNone/>
                      </a:pPr>
                      <a:r>
                        <a:rPr lang="en-US" sz="1800" u="none" cap="none" strike="noStrike">
                          <a:solidFill>
                            <a:srgbClr val="EAF2F8"/>
                          </a:solidFill>
                          <a:latin typeface="IBM Plex Sans"/>
                          <a:ea typeface="IBM Plex Sans"/>
                          <a:cs typeface="IBM Plex Sans"/>
                          <a:sym typeface="IBM Plex Sans"/>
                        </a:rPr>
                        <a:t>96.4 to 98.4</a:t>
                      </a:r>
                      <a:endParaRPr sz="1800" u="none" cap="none" strike="noStrike">
                        <a:latin typeface="IBM Plex Sans"/>
                        <a:ea typeface="IBM Plex Sans"/>
                        <a:cs typeface="IBM Plex Sans"/>
                        <a:sym typeface="IBM Plex Sans"/>
                      </a:endParaRPr>
                    </a:p>
                  </a:txBody>
                  <a:tcPr marT="80000" marB="80000" marR="80000" marL="80000">
                    <a:lnL cap="flat" cmpd="sng" w="12700">
                      <a:solidFill>
                        <a:srgbClr val="3C5063"/>
                      </a:solidFill>
                      <a:prstDash val="solid"/>
                      <a:round/>
                      <a:headEnd len="sm" w="sm" type="none"/>
                      <a:tailEnd len="sm" w="sm" type="none"/>
                    </a:lnL>
                    <a:lnR cap="flat" cmpd="sng" w="12700">
                      <a:solidFill>
                        <a:srgbClr val="3C5063"/>
                      </a:solidFill>
                      <a:prstDash val="solid"/>
                      <a:round/>
                      <a:headEnd len="sm" w="sm" type="none"/>
                      <a:tailEnd len="sm" w="sm" type="none"/>
                    </a:lnR>
                    <a:lnT cap="flat" cmpd="sng" w="12700">
                      <a:solidFill>
                        <a:srgbClr val="3C5063"/>
                      </a:solidFill>
                      <a:prstDash val="solid"/>
                      <a:round/>
                      <a:headEnd len="sm" w="sm" type="none"/>
                      <a:tailEnd len="sm" w="sm" type="none"/>
                    </a:lnT>
                    <a:lnB cap="flat" cmpd="sng" w="12700">
                      <a:solidFill>
                        <a:srgbClr val="3C5063"/>
                      </a:solidFill>
                      <a:prstDash val="solid"/>
                      <a:round/>
                      <a:headEnd len="sm" w="sm" type="none"/>
                      <a:tailEnd len="sm" w="sm" type="none"/>
                    </a:lnB>
                    <a:solidFill>
                      <a:srgbClr val="123553"/>
                    </a:solidFill>
                  </a:tcPr>
                </a:tc>
                <a:tc>
                  <a:txBody>
                    <a:bodyPr/>
                    <a:lstStyle/>
                    <a:p>
                      <a:pPr indent="0" lvl="0" marL="0" marR="0" rtl="0" algn="l">
                        <a:lnSpc>
                          <a:spcPct val="140000"/>
                        </a:lnSpc>
                        <a:spcBef>
                          <a:spcPts val="0"/>
                        </a:spcBef>
                        <a:spcAft>
                          <a:spcPts val="0"/>
                        </a:spcAft>
                        <a:buClr>
                          <a:srgbClr val="EAF2F8"/>
                        </a:buClr>
                        <a:buSzPts val="1800"/>
                        <a:buFont typeface="IBM Plex Sans"/>
                        <a:buNone/>
                      </a:pPr>
                      <a:r>
                        <a:rPr lang="en-US" sz="1800" u="none" cap="none" strike="noStrike">
                          <a:solidFill>
                            <a:srgbClr val="EAF2F8"/>
                          </a:solidFill>
                          <a:latin typeface="IBM Plex Sans"/>
                          <a:ea typeface="IBM Plex Sans"/>
                          <a:cs typeface="IBM Plex Sans"/>
                          <a:sym typeface="IBM Plex Sans"/>
                        </a:rPr>
                        <a:t>10 to 7</a:t>
                      </a:r>
                      <a:endParaRPr sz="1800" u="none" cap="none" strike="noStrike">
                        <a:latin typeface="IBM Plex Sans"/>
                        <a:ea typeface="IBM Plex Sans"/>
                        <a:cs typeface="IBM Plex Sans"/>
                        <a:sym typeface="IBM Plex Sans"/>
                      </a:endParaRPr>
                    </a:p>
                  </a:txBody>
                  <a:tcPr marT="80000" marB="80000" marR="80000" marL="80000">
                    <a:lnL cap="flat" cmpd="sng" w="12700">
                      <a:solidFill>
                        <a:srgbClr val="3C5063"/>
                      </a:solidFill>
                      <a:prstDash val="solid"/>
                      <a:round/>
                      <a:headEnd len="sm" w="sm" type="none"/>
                      <a:tailEnd len="sm" w="sm" type="none"/>
                    </a:lnL>
                    <a:lnR cap="flat" cmpd="sng" w="12700">
                      <a:solidFill>
                        <a:srgbClr val="3C5063"/>
                      </a:solidFill>
                      <a:prstDash val="solid"/>
                      <a:round/>
                      <a:headEnd len="sm" w="sm" type="none"/>
                      <a:tailEnd len="sm" w="sm" type="none"/>
                    </a:lnR>
                    <a:lnT cap="flat" cmpd="sng" w="12700">
                      <a:solidFill>
                        <a:srgbClr val="3C5063"/>
                      </a:solidFill>
                      <a:prstDash val="solid"/>
                      <a:round/>
                      <a:headEnd len="sm" w="sm" type="none"/>
                      <a:tailEnd len="sm" w="sm" type="none"/>
                    </a:lnT>
                    <a:lnB cap="flat" cmpd="sng" w="12700">
                      <a:solidFill>
                        <a:srgbClr val="3C5063"/>
                      </a:solidFill>
                      <a:prstDash val="solid"/>
                      <a:round/>
                      <a:headEnd len="sm" w="sm" type="none"/>
                      <a:tailEnd len="sm" w="sm" type="none"/>
                    </a:lnB>
                    <a:solidFill>
                      <a:srgbClr val="123553"/>
                    </a:solidFill>
                  </a:tcPr>
                </a:tc>
                <a:tc>
                  <a:txBody>
                    <a:bodyPr/>
                    <a:lstStyle/>
                    <a:p>
                      <a:pPr indent="0" lvl="0" marL="0" marR="0" rtl="0" algn="l">
                        <a:lnSpc>
                          <a:spcPct val="140000"/>
                        </a:lnSpc>
                        <a:spcBef>
                          <a:spcPts val="0"/>
                        </a:spcBef>
                        <a:spcAft>
                          <a:spcPts val="0"/>
                        </a:spcAft>
                        <a:buClr>
                          <a:srgbClr val="EAF2F8"/>
                        </a:buClr>
                        <a:buSzPts val="1800"/>
                        <a:buFont typeface="IBM Plex Sans"/>
                        <a:buNone/>
                      </a:pPr>
                      <a:r>
                        <a:rPr lang="en-US" sz="1800" u="none" cap="none" strike="noStrike">
                          <a:solidFill>
                            <a:srgbClr val="EAF2F8"/>
                          </a:solidFill>
                          <a:latin typeface="IBM Plex Sans"/>
                          <a:ea typeface="IBM Plex Sans"/>
                          <a:cs typeface="IBM Plex Sans"/>
                          <a:sym typeface="IBM Plex Sans"/>
                        </a:rPr>
                        <a:t>12,000 to 11,906</a:t>
                      </a:r>
                      <a:endParaRPr sz="1800" u="none" cap="none" strike="noStrike">
                        <a:latin typeface="IBM Plex Sans"/>
                        <a:ea typeface="IBM Plex Sans"/>
                        <a:cs typeface="IBM Plex Sans"/>
                        <a:sym typeface="IBM Plex Sans"/>
                      </a:endParaRPr>
                    </a:p>
                  </a:txBody>
                  <a:tcPr marT="80000" marB="80000" marR="80000" marL="80000">
                    <a:lnL cap="flat" cmpd="sng" w="12700">
                      <a:solidFill>
                        <a:srgbClr val="3C5063"/>
                      </a:solidFill>
                      <a:prstDash val="solid"/>
                      <a:round/>
                      <a:headEnd len="sm" w="sm" type="none"/>
                      <a:tailEnd len="sm" w="sm" type="none"/>
                    </a:lnL>
                    <a:lnR cap="flat" cmpd="sng" w="12700">
                      <a:solidFill>
                        <a:srgbClr val="3C5063"/>
                      </a:solidFill>
                      <a:prstDash val="solid"/>
                      <a:round/>
                      <a:headEnd len="sm" w="sm" type="none"/>
                      <a:tailEnd len="sm" w="sm" type="none"/>
                    </a:lnR>
                    <a:lnT cap="flat" cmpd="sng" w="12700">
                      <a:solidFill>
                        <a:srgbClr val="3C5063"/>
                      </a:solidFill>
                      <a:prstDash val="solid"/>
                      <a:round/>
                      <a:headEnd len="sm" w="sm" type="none"/>
                      <a:tailEnd len="sm" w="sm" type="none"/>
                    </a:lnT>
                    <a:lnB cap="flat" cmpd="sng" w="12700">
                      <a:solidFill>
                        <a:srgbClr val="3C5063"/>
                      </a:solidFill>
                      <a:prstDash val="solid"/>
                      <a:round/>
                      <a:headEnd len="sm" w="sm" type="none"/>
                      <a:tailEnd len="sm" w="sm" type="none"/>
                    </a:lnB>
                    <a:solidFill>
                      <a:srgbClr val="123553"/>
                    </a:solidFill>
                  </a:tcPr>
                </a:tc>
              </a:tr>
            </a:tbl>
          </a:graphicData>
        </a:graphic>
      </p:graphicFrame>
      <p:sp>
        <p:nvSpPr>
          <p:cNvPr id="348" name="Google Shape;348;p12"/>
          <p:cNvSpPr/>
          <p:nvPr/>
        </p:nvSpPr>
        <p:spPr>
          <a:xfrm>
            <a:off x="815896" y="3269419"/>
            <a:ext cx="5175369" cy="1428710"/>
          </a:xfrm>
          <a:prstGeom prst="roundRect">
            <a:avLst>
              <a:gd fmla="val 10445"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2"/>
          <p:cNvSpPr/>
          <p:nvPr/>
        </p:nvSpPr>
        <p:spPr>
          <a:xfrm>
            <a:off x="1023461" y="3476985"/>
            <a:ext cx="4903045" cy="53344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3FC1F0"/>
              </a:buClr>
              <a:buSzPts val="4000"/>
              <a:buFont typeface="Rubik"/>
              <a:buNone/>
            </a:pPr>
            <a:r>
              <a:rPr b="1" i="0" lang="en-US" sz="4000" u="none" cap="none" strike="noStrike">
                <a:solidFill>
                  <a:srgbClr val="3FC1F0"/>
                </a:solidFill>
                <a:latin typeface="Rubik"/>
                <a:ea typeface="Rubik"/>
                <a:cs typeface="Rubik"/>
                <a:sym typeface="Rubik"/>
              </a:rPr>
              <a:t>20</a:t>
            </a:r>
            <a:endParaRPr b="0" i="0" sz="4000" u="none" cap="none" strike="noStrike">
              <a:solidFill>
                <a:schemeClr val="dk1"/>
              </a:solidFill>
              <a:latin typeface="Calibri"/>
              <a:ea typeface="Calibri"/>
              <a:cs typeface="Calibri"/>
              <a:sym typeface="Calibri"/>
            </a:endParaRPr>
          </a:p>
        </p:txBody>
      </p:sp>
      <p:sp>
        <p:nvSpPr>
          <p:cNvPr id="350" name="Google Shape;350;p12"/>
          <p:cNvSpPr/>
          <p:nvPr/>
        </p:nvSpPr>
        <p:spPr>
          <a:xfrm>
            <a:off x="1023461" y="4061228"/>
            <a:ext cx="4903045" cy="24007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fixes applied, and all 20 recorded in the audit log</a:t>
            </a:r>
            <a:endParaRPr b="0" i="0" sz="1300" u="none" cap="none" strike="noStrike">
              <a:solidFill>
                <a:schemeClr val="dk1"/>
              </a:solidFill>
              <a:latin typeface="Calibri"/>
              <a:ea typeface="Calibri"/>
              <a:cs typeface="Calibri"/>
              <a:sym typeface="Calibri"/>
            </a:endParaRPr>
          </a:p>
        </p:txBody>
      </p:sp>
      <p:sp>
        <p:nvSpPr>
          <p:cNvPr id="351" name="Google Shape;351;p12"/>
          <p:cNvSpPr/>
          <p:nvPr/>
        </p:nvSpPr>
        <p:spPr>
          <a:xfrm>
            <a:off x="6200735" y="3269419"/>
            <a:ext cx="5175369" cy="1428710"/>
          </a:xfrm>
          <a:prstGeom prst="roundRect">
            <a:avLst>
              <a:gd fmla="val 10445"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2"/>
          <p:cNvSpPr/>
          <p:nvPr/>
        </p:nvSpPr>
        <p:spPr>
          <a:xfrm>
            <a:off x="6408301" y="3476985"/>
            <a:ext cx="4903045" cy="53344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3FC1F0"/>
              </a:buClr>
              <a:buSzPts val="4000"/>
              <a:buFont typeface="Rubik"/>
              <a:buNone/>
            </a:pPr>
            <a:r>
              <a:rPr b="1" i="0" lang="en-US" sz="4000" u="none" cap="none" strike="noStrike">
                <a:solidFill>
                  <a:srgbClr val="3FC1F0"/>
                </a:solidFill>
                <a:latin typeface="Rubik"/>
                <a:ea typeface="Rubik"/>
                <a:cs typeface="Rubik"/>
                <a:sym typeface="Rubik"/>
              </a:rPr>
              <a:t>94</a:t>
            </a:r>
            <a:endParaRPr b="0" i="0" sz="4000" u="none" cap="none" strike="noStrike">
              <a:solidFill>
                <a:schemeClr val="dk1"/>
              </a:solidFill>
              <a:latin typeface="Calibri"/>
              <a:ea typeface="Calibri"/>
              <a:cs typeface="Calibri"/>
              <a:sym typeface="Calibri"/>
            </a:endParaRPr>
          </a:p>
        </p:txBody>
      </p:sp>
      <p:sp>
        <p:nvSpPr>
          <p:cNvPr id="353" name="Google Shape;353;p12"/>
          <p:cNvSpPr/>
          <p:nvPr/>
        </p:nvSpPr>
        <p:spPr>
          <a:xfrm>
            <a:off x="6408301" y="4061228"/>
            <a:ext cx="4903045" cy="454739"/>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orphan orders removed by the one HIGH-risk fix, which a reviewer approves deliberately</a:t>
            </a:r>
            <a:endParaRPr b="0" i="0" sz="1300" u="none" cap="none" strike="noStrike">
              <a:solidFill>
                <a:schemeClr val="dk1"/>
              </a:solidFill>
              <a:latin typeface="Calibri"/>
              <a:ea typeface="Calibri"/>
              <a:cs typeface="Calibri"/>
              <a:sym typeface="Calibri"/>
            </a:endParaRPr>
          </a:p>
        </p:txBody>
      </p:sp>
      <p:sp>
        <p:nvSpPr>
          <p:cNvPr id="354" name="Google Shape;354;p12"/>
          <p:cNvSpPr/>
          <p:nvPr/>
        </p:nvSpPr>
        <p:spPr>
          <a:xfrm>
            <a:off x="812721" y="4955263"/>
            <a:ext cx="10883556"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DB6CC"/>
              </a:buClr>
              <a:buSzPts val="1200"/>
              <a:buFont typeface="IBM Plex Sans"/>
              <a:buNone/>
            </a:pPr>
            <a:r>
              <a:rPr b="0" i="0" lang="en-US" sz="1200" u="none" cap="none" strike="noStrike">
                <a:solidFill>
                  <a:srgbClr val="9DB6CC"/>
                </a:solidFill>
                <a:latin typeface="IBM Plex Sans"/>
                <a:ea typeface="IBM Plex Sans"/>
                <a:cs typeface="IBM Plex Sans"/>
                <a:sym typeface="IBM Plex Sans"/>
              </a:rPr>
              <a:t>Test run with every proposed fix approved. Your numbers will be close, not identical.</a:t>
            </a:r>
            <a:endParaRPr b="0" i="0" sz="1200" u="none" cap="none" strike="noStrike">
              <a:solidFill>
                <a:schemeClr val="dk1"/>
              </a:solidFill>
              <a:latin typeface="Calibri"/>
              <a:ea typeface="Calibri"/>
              <a:cs typeface="Calibri"/>
              <a:sym typeface="Calibri"/>
            </a:endParaRPr>
          </a:p>
        </p:txBody>
      </p:sp>
      <p:sp>
        <p:nvSpPr>
          <p:cNvPr id="355" name="Google Shape;355;p12"/>
          <p:cNvSpPr/>
          <p:nvPr/>
        </p:nvSpPr>
        <p:spPr>
          <a:xfrm>
            <a:off x="812721" y="6238286"/>
            <a:ext cx="719446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DB6CC"/>
              </a:buClr>
              <a:buSzPts val="1200"/>
              <a:buFont typeface="IBM Plex Sans"/>
              <a:buNone/>
            </a:pPr>
            <a:r>
              <a:rPr b="0" i="0" lang="en-US" sz="1200" u="none" cap="none" strike="noStrike">
                <a:solidFill>
                  <a:srgbClr val="9DB6CC"/>
                </a:solidFill>
                <a:latin typeface="IBM Plex Sans"/>
                <a:ea typeface="IBM Plex Sans"/>
                <a:cs typeface="IBM Plex Sans"/>
                <a:sym typeface="IBM Plex Sans"/>
              </a:rPr>
              <a:t>Agentic Data Quality Guardian · CoCoQuest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360" name="Shape 360"/>
        <p:cNvGrpSpPr/>
        <p:nvPr/>
      </p:nvGrpSpPr>
      <p:grpSpPr>
        <a:xfrm>
          <a:off x="0" y="0"/>
          <a:ext cx="0" cy="0"/>
          <a:chOff x="0" y="0"/>
          <a:chExt cx="0" cy="0"/>
        </a:xfrm>
      </p:grpSpPr>
      <p:sp>
        <p:nvSpPr>
          <p:cNvPr id="361" name="Google Shape;361;p13"/>
          <p:cNvSpPr/>
          <p:nvPr/>
        </p:nvSpPr>
        <p:spPr>
          <a:xfrm>
            <a:off x="812721" y="812719"/>
            <a:ext cx="10883556" cy="5003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F2A43"/>
              </a:buClr>
              <a:buSzPts val="3400"/>
              <a:buFont typeface="Rubik"/>
              <a:buNone/>
            </a:pPr>
            <a:r>
              <a:rPr b="1" i="0" lang="en-US" sz="3400" u="none" cap="none" strike="noStrike">
                <a:solidFill>
                  <a:srgbClr val="0F2A43"/>
                </a:solidFill>
                <a:latin typeface="Rubik"/>
                <a:ea typeface="Rubik"/>
                <a:cs typeface="Rubik"/>
                <a:sym typeface="Rubik"/>
              </a:rPr>
              <a:t>Every change leaves a trace</a:t>
            </a:r>
            <a:endParaRPr b="0" i="0" sz="3400" u="none" cap="none" strike="noStrike">
              <a:solidFill>
                <a:schemeClr val="dk1"/>
              </a:solidFill>
              <a:latin typeface="Calibri"/>
              <a:ea typeface="Calibri"/>
              <a:cs typeface="Calibri"/>
              <a:sym typeface="Calibri"/>
            </a:endParaRPr>
          </a:p>
        </p:txBody>
      </p:sp>
      <p:sp>
        <p:nvSpPr>
          <p:cNvPr id="362" name="Google Shape;362;p13"/>
          <p:cNvSpPr/>
          <p:nvPr/>
        </p:nvSpPr>
        <p:spPr>
          <a:xfrm>
            <a:off x="815896" y="1544793"/>
            <a:ext cx="5213469" cy="493713"/>
          </a:xfrm>
          <a:prstGeom prst="roundRect">
            <a:avLst>
              <a:gd fmla="val 19936" name="adj"/>
            </a:avLst>
          </a:prstGeom>
          <a:solidFill>
            <a:srgbClr val="FAFCFD"/>
          </a:solidFill>
          <a:ln cap="flat" cmpd="sng" w="9525">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13"/>
          <p:cNvSpPr/>
          <p:nvPr/>
        </p:nvSpPr>
        <p:spPr>
          <a:xfrm>
            <a:off x="972741" y="1676158"/>
            <a:ext cx="5046773" cy="25638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0F2A43"/>
              </a:buClr>
              <a:buSzPts val="1400"/>
              <a:buFont typeface="IBM Plex Sans"/>
              <a:buNone/>
            </a:pPr>
            <a:r>
              <a:rPr b="0" i="0" lang="en-US" sz="1400" u="none" cap="none" strike="noStrike">
                <a:solidFill>
                  <a:srgbClr val="0F2A43"/>
                </a:solidFill>
                <a:latin typeface="IBM Plex Sans"/>
                <a:ea typeface="IBM Plex Sans"/>
                <a:cs typeface="IBM Plex Sans"/>
                <a:sym typeface="IBM Plex Sans"/>
              </a:rPr>
              <a:t>Who ran it: user and role</a:t>
            </a:r>
            <a:endParaRPr b="0" i="0" sz="1400" u="none" cap="none" strike="noStrike">
              <a:solidFill>
                <a:schemeClr val="dk1"/>
              </a:solidFill>
              <a:latin typeface="Calibri"/>
              <a:ea typeface="Calibri"/>
              <a:cs typeface="Calibri"/>
              <a:sym typeface="Calibri"/>
            </a:endParaRPr>
          </a:p>
        </p:txBody>
      </p:sp>
      <p:sp>
        <p:nvSpPr>
          <p:cNvPr id="364" name="Google Shape;364;p13"/>
          <p:cNvSpPr/>
          <p:nvPr/>
        </p:nvSpPr>
        <p:spPr>
          <a:xfrm>
            <a:off x="6162635" y="1544793"/>
            <a:ext cx="5213469" cy="493713"/>
          </a:xfrm>
          <a:prstGeom prst="roundRect">
            <a:avLst>
              <a:gd fmla="val 19936" name="adj"/>
            </a:avLst>
          </a:prstGeom>
          <a:solidFill>
            <a:srgbClr val="FAFCFD"/>
          </a:solidFill>
          <a:ln cap="flat" cmpd="sng" w="9525">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13"/>
          <p:cNvSpPr/>
          <p:nvPr/>
        </p:nvSpPr>
        <p:spPr>
          <a:xfrm>
            <a:off x="6319481" y="1676158"/>
            <a:ext cx="5046773" cy="25638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0F2A43"/>
              </a:buClr>
              <a:buSzPts val="1400"/>
              <a:buFont typeface="IBM Plex Sans"/>
              <a:buNone/>
            </a:pPr>
            <a:r>
              <a:rPr b="0" i="0" lang="en-US" sz="1400" u="none" cap="none" strike="noStrike">
                <a:solidFill>
                  <a:srgbClr val="0F2A43"/>
                </a:solidFill>
                <a:latin typeface="IBM Plex Sans"/>
                <a:ea typeface="IBM Plex Sans"/>
                <a:cs typeface="IBM Plex Sans"/>
                <a:sym typeface="IBM Plex Sans"/>
              </a:rPr>
              <a:t>What ran: the exact SQL</a:t>
            </a:r>
            <a:endParaRPr b="0" i="0" sz="1400" u="none" cap="none" strike="noStrike">
              <a:solidFill>
                <a:schemeClr val="dk1"/>
              </a:solidFill>
              <a:latin typeface="Calibri"/>
              <a:ea typeface="Calibri"/>
              <a:cs typeface="Calibri"/>
              <a:sym typeface="Calibri"/>
            </a:endParaRPr>
          </a:p>
        </p:txBody>
      </p:sp>
      <p:sp>
        <p:nvSpPr>
          <p:cNvPr id="366" name="Google Shape;366;p13"/>
          <p:cNvSpPr/>
          <p:nvPr/>
        </p:nvSpPr>
        <p:spPr>
          <a:xfrm>
            <a:off x="815896" y="2171774"/>
            <a:ext cx="5213469" cy="493713"/>
          </a:xfrm>
          <a:prstGeom prst="roundRect">
            <a:avLst>
              <a:gd fmla="val 19936" name="adj"/>
            </a:avLst>
          </a:prstGeom>
          <a:solidFill>
            <a:srgbClr val="FAFCFD"/>
          </a:solidFill>
          <a:ln cap="flat" cmpd="sng" w="9525">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13"/>
          <p:cNvSpPr/>
          <p:nvPr/>
        </p:nvSpPr>
        <p:spPr>
          <a:xfrm>
            <a:off x="972741" y="2303140"/>
            <a:ext cx="5046773" cy="25638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0F2A43"/>
              </a:buClr>
              <a:buSzPts val="1400"/>
              <a:buFont typeface="IBM Plex Sans"/>
              <a:buNone/>
            </a:pPr>
            <a:r>
              <a:rPr b="0" i="0" lang="en-US" sz="1400" u="none" cap="none" strike="noStrike">
                <a:solidFill>
                  <a:srgbClr val="0F2A43"/>
                </a:solidFill>
                <a:latin typeface="IBM Plex Sans"/>
                <a:ea typeface="IBM Plex Sans"/>
                <a:cs typeface="IBM Plex Sans"/>
                <a:sym typeface="IBM Plex Sans"/>
              </a:rPr>
              <a:t>How many rows changed</a:t>
            </a:r>
            <a:endParaRPr b="0" i="0" sz="1400" u="none" cap="none" strike="noStrike">
              <a:solidFill>
                <a:schemeClr val="dk1"/>
              </a:solidFill>
              <a:latin typeface="Calibri"/>
              <a:ea typeface="Calibri"/>
              <a:cs typeface="Calibri"/>
              <a:sym typeface="Calibri"/>
            </a:endParaRPr>
          </a:p>
        </p:txBody>
      </p:sp>
      <p:sp>
        <p:nvSpPr>
          <p:cNvPr id="368" name="Google Shape;368;p13"/>
          <p:cNvSpPr/>
          <p:nvPr/>
        </p:nvSpPr>
        <p:spPr>
          <a:xfrm>
            <a:off x="6162635" y="2171774"/>
            <a:ext cx="5213469" cy="493713"/>
          </a:xfrm>
          <a:prstGeom prst="roundRect">
            <a:avLst>
              <a:gd fmla="val 19936" name="adj"/>
            </a:avLst>
          </a:prstGeom>
          <a:solidFill>
            <a:srgbClr val="FAFCFD"/>
          </a:solidFill>
          <a:ln cap="flat" cmpd="sng" w="9525">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13"/>
          <p:cNvSpPr/>
          <p:nvPr/>
        </p:nvSpPr>
        <p:spPr>
          <a:xfrm>
            <a:off x="6319481" y="2303140"/>
            <a:ext cx="5046773" cy="25638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0F2A43"/>
              </a:buClr>
              <a:buSzPts val="1400"/>
              <a:buFont typeface="IBM Plex Sans"/>
              <a:buNone/>
            </a:pPr>
            <a:r>
              <a:rPr b="0" i="0" lang="en-US" sz="1400" u="none" cap="none" strike="noStrike">
                <a:solidFill>
                  <a:srgbClr val="0F2A43"/>
                </a:solidFill>
                <a:latin typeface="IBM Plex Sans"/>
                <a:ea typeface="IBM Plex Sans"/>
                <a:cs typeface="IBM Plex Sans"/>
                <a:sym typeface="IBM Plex Sans"/>
              </a:rPr>
              <a:t>Row counts before and after</a:t>
            </a:r>
            <a:endParaRPr b="0" i="0" sz="1400" u="none" cap="none" strike="noStrike">
              <a:solidFill>
                <a:schemeClr val="dk1"/>
              </a:solidFill>
              <a:latin typeface="Calibri"/>
              <a:ea typeface="Calibri"/>
              <a:cs typeface="Calibri"/>
              <a:sym typeface="Calibri"/>
            </a:endParaRPr>
          </a:p>
        </p:txBody>
      </p:sp>
      <p:sp>
        <p:nvSpPr>
          <p:cNvPr id="370" name="Google Shape;370;p13"/>
          <p:cNvSpPr/>
          <p:nvPr/>
        </p:nvSpPr>
        <p:spPr>
          <a:xfrm>
            <a:off x="815896" y="2798763"/>
            <a:ext cx="5213469" cy="493713"/>
          </a:xfrm>
          <a:prstGeom prst="roundRect">
            <a:avLst>
              <a:gd fmla="val 19936" name="adj"/>
            </a:avLst>
          </a:prstGeom>
          <a:solidFill>
            <a:srgbClr val="FAFCFD"/>
          </a:solidFill>
          <a:ln cap="flat" cmpd="sng" w="9525">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3"/>
          <p:cNvSpPr/>
          <p:nvPr/>
        </p:nvSpPr>
        <p:spPr>
          <a:xfrm>
            <a:off x="972741" y="2930128"/>
            <a:ext cx="5046773" cy="25638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0F2A43"/>
              </a:buClr>
              <a:buSzPts val="1400"/>
              <a:buFont typeface="IBM Plex Sans"/>
              <a:buNone/>
            </a:pPr>
            <a:r>
              <a:rPr b="0" i="0" lang="en-US" sz="1400" u="none" cap="none" strike="noStrike">
                <a:solidFill>
                  <a:srgbClr val="0F2A43"/>
                </a:solidFill>
                <a:latin typeface="IBM Plex Sans"/>
                <a:ea typeface="IBM Plex Sans"/>
                <a:cs typeface="IBM Plex Sans"/>
                <a:sym typeface="IBM Plex Sans"/>
              </a:rPr>
              <a:t>When it happened</a:t>
            </a:r>
            <a:endParaRPr b="0" i="0" sz="1400" u="none" cap="none" strike="noStrike">
              <a:solidFill>
                <a:schemeClr val="dk1"/>
              </a:solidFill>
              <a:latin typeface="Calibri"/>
              <a:ea typeface="Calibri"/>
              <a:cs typeface="Calibri"/>
              <a:sym typeface="Calibri"/>
            </a:endParaRPr>
          </a:p>
        </p:txBody>
      </p:sp>
      <p:sp>
        <p:nvSpPr>
          <p:cNvPr id="372" name="Google Shape;372;p13"/>
          <p:cNvSpPr/>
          <p:nvPr/>
        </p:nvSpPr>
        <p:spPr>
          <a:xfrm>
            <a:off x="6162635" y="2798763"/>
            <a:ext cx="5213469" cy="493713"/>
          </a:xfrm>
          <a:prstGeom prst="roundRect">
            <a:avLst>
              <a:gd fmla="val 19936" name="adj"/>
            </a:avLst>
          </a:prstGeom>
          <a:solidFill>
            <a:srgbClr val="FAFCFD"/>
          </a:solidFill>
          <a:ln cap="flat" cmpd="sng" w="9525">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13"/>
          <p:cNvSpPr/>
          <p:nvPr/>
        </p:nvSpPr>
        <p:spPr>
          <a:xfrm>
            <a:off x="6319481" y="2930128"/>
            <a:ext cx="5046773" cy="25638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0F2A43"/>
              </a:buClr>
              <a:buSzPts val="1400"/>
              <a:buFont typeface="IBM Plex Sans"/>
              <a:buNone/>
            </a:pPr>
            <a:r>
              <a:rPr b="0" i="0" lang="en-US" sz="1400" u="none" cap="none" strike="noStrike">
                <a:solidFill>
                  <a:srgbClr val="0F2A43"/>
                </a:solidFill>
                <a:latin typeface="IBM Plex Sans"/>
                <a:ea typeface="IBM Plex Sans"/>
                <a:cs typeface="IBM Plex Sans"/>
                <a:sym typeface="IBM Plex Sans"/>
              </a:rPr>
              <a:t>Which proposal it belonged to</a:t>
            </a:r>
            <a:endParaRPr b="0" i="0" sz="1400" u="none" cap="none" strike="noStrike">
              <a:solidFill>
                <a:schemeClr val="dk1"/>
              </a:solidFill>
              <a:latin typeface="Calibri"/>
              <a:ea typeface="Calibri"/>
              <a:cs typeface="Calibri"/>
              <a:sym typeface="Calibri"/>
            </a:endParaRPr>
          </a:p>
        </p:txBody>
      </p:sp>
      <p:sp>
        <p:nvSpPr>
          <p:cNvPr id="374" name="Google Shape;374;p13"/>
          <p:cNvSpPr/>
          <p:nvPr/>
        </p:nvSpPr>
        <p:spPr>
          <a:xfrm>
            <a:off x="812721" y="3549607"/>
            <a:ext cx="1147048" cy="332542"/>
          </a:xfrm>
          <a:prstGeom prst="roundRect">
            <a:avLst>
              <a:gd fmla="val 50000" name="adj"/>
            </a:avLst>
          </a:prstGeom>
          <a:solidFill>
            <a:srgbClr val="DDF1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13"/>
          <p:cNvSpPr/>
          <p:nvPr/>
        </p:nvSpPr>
        <p:spPr>
          <a:xfrm>
            <a:off x="952421" y="3600407"/>
            <a:ext cx="918448" cy="25634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A79AD"/>
              </a:buClr>
              <a:buSzPts val="1300"/>
              <a:buFont typeface="IBM Plex Sans"/>
              <a:buNone/>
            </a:pPr>
            <a:r>
              <a:rPr b="1" i="0" lang="en-US" sz="1300" u="none" cap="none" strike="noStrike">
                <a:solidFill>
                  <a:srgbClr val="0A79AD"/>
                </a:solidFill>
                <a:latin typeface="IBM Plex Sans"/>
                <a:ea typeface="IBM Plex Sans"/>
                <a:cs typeface="IBM Plex Sans"/>
                <a:sym typeface="IBM Plex Sans"/>
              </a:rPr>
              <a:t>PROPOSED</a:t>
            </a:r>
            <a:endParaRPr b="0" i="0" sz="1300" u="none" cap="none" strike="noStrike">
              <a:solidFill>
                <a:schemeClr val="dk1"/>
              </a:solidFill>
              <a:latin typeface="Calibri"/>
              <a:ea typeface="Calibri"/>
              <a:cs typeface="Calibri"/>
              <a:sym typeface="Calibri"/>
            </a:endParaRPr>
          </a:p>
        </p:txBody>
      </p:sp>
      <p:pic>
        <p:nvPicPr>
          <p:cNvPr descr="arrow-right" id="376" name="Google Shape;376;p13"/>
          <p:cNvPicPr preferRelativeResize="0"/>
          <p:nvPr/>
        </p:nvPicPr>
        <p:blipFill rotWithShape="1">
          <a:blip r:embed="rId3">
            <a:alphaModFix/>
          </a:blip>
          <a:srcRect b="0" l="0" r="0" t="0"/>
          <a:stretch/>
        </p:blipFill>
        <p:spPr>
          <a:xfrm>
            <a:off x="2048589" y="3620567"/>
            <a:ext cx="304800" cy="190500"/>
          </a:xfrm>
          <a:prstGeom prst="rect">
            <a:avLst/>
          </a:prstGeom>
          <a:noFill/>
          <a:ln>
            <a:noFill/>
          </a:ln>
        </p:spPr>
      </p:pic>
      <p:sp>
        <p:nvSpPr>
          <p:cNvPr id="377" name="Google Shape;377;p13"/>
          <p:cNvSpPr/>
          <p:nvPr/>
        </p:nvSpPr>
        <p:spPr>
          <a:xfrm>
            <a:off x="2442210" y="3549607"/>
            <a:ext cx="970478" cy="332542"/>
          </a:xfrm>
          <a:prstGeom prst="roundRect">
            <a:avLst>
              <a:gd fmla="val 50000" name="adj"/>
            </a:avLst>
          </a:prstGeom>
          <a:solidFill>
            <a:srgbClr val="D9F2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13"/>
          <p:cNvSpPr/>
          <p:nvPr/>
        </p:nvSpPr>
        <p:spPr>
          <a:xfrm>
            <a:off x="2581910" y="3600407"/>
            <a:ext cx="741878" cy="25634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6B45"/>
              </a:buClr>
              <a:buSzPts val="1300"/>
              <a:buFont typeface="IBM Plex Sans"/>
              <a:buNone/>
            </a:pPr>
            <a:r>
              <a:rPr b="1" i="0" lang="en-US" sz="1300" u="none" cap="none" strike="noStrike">
                <a:solidFill>
                  <a:srgbClr val="146B45"/>
                </a:solidFill>
                <a:latin typeface="IBM Plex Sans"/>
                <a:ea typeface="IBM Plex Sans"/>
                <a:cs typeface="IBM Plex Sans"/>
                <a:sym typeface="IBM Plex Sans"/>
              </a:rPr>
              <a:t>APPLIED</a:t>
            </a:r>
            <a:endParaRPr b="0" i="0" sz="1300" u="none" cap="none" strike="noStrike">
              <a:solidFill>
                <a:schemeClr val="dk1"/>
              </a:solidFill>
              <a:latin typeface="Calibri"/>
              <a:ea typeface="Calibri"/>
              <a:cs typeface="Calibri"/>
              <a:sym typeface="Calibri"/>
            </a:endParaRPr>
          </a:p>
        </p:txBody>
      </p:sp>
      <p:sp>
        <p:nvSpPr>
          <p:cNvPr id="379" name="Google Shape;379;p13"/>
          <p:cNvSpPr/>
          <p:nvPr/>
        </p:nvSpPr>
        <p:spPr>
          <a:xfrm>
            <a:off x="3501509" y="3549607"/>
            <a:ext cx="841772" cy="332542"/>
          </a:xfrm>
          <a:prstGeom prst="roundRect">
            <a:avLst>
              <a:gd fmla="val 50000" name="adj"/>
            </a:avLst>
          </a:prstGeom>
          <a:solidFill>
            <a:srgbClr val="FBE8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13"/>
          <p:cNvSpPr/>
          <p:nvPr/>
        </p:nvSpPr>
        <p:spPr>
          <a:xfrm>
            <a:off x="3641209" y="3600407"/>
            <a:ext cx="613172" cy="25634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4B00"/>
              </a:buClr>
              <a:buSzPts val="1300"/>
              <a:buFont typeface="IBM Plex Sans"/>
              <a:buNone/>
            </a:pPr>
            <a:r>
              <a:rPr b="1" i="0" lang="en-US" sz="1300" u="none" cap="none" strike="noStrike">
                <a:solidFill>
                  <a:srgbClr val="8A4B00"/>
                </a:solidFill>
                <a:latin typeface="IBM Plex Sans"/>
                <a:ea typeface="IBM Plex Sans"/>
                <a:cs typeface="IBM Plex Sans"/>
                <a:sym typeface="IBM Plex Sans"/>
              </a:rPr>
              <a:t>FAILED</a:t>
            </a:r>
            <a:endParaRPr b="0" i="0" sz="1300" u="none" cap="none" strike="noStrike">
              <a:solidFill>
                <a:schemeClr val="dk1"/>
              </a:solidFill>
              <a:latin typeface="Calibri"/>
              <a:ea typeface="Calibri"/>
              <a:cs typeface="Calibri"/>
              <a:sym typeface="Calibri"/>
            </a:endParaRPr>
          </a:p>
        </p:txBody>
      </p:sp>
      <p:sp>
        <p:nvSpPr>
          <p:cNvPr id="381" name="Google Shape;381;p13"/>
          <p:cNvSpPr/>
          <p:nvPr/>
        </p:nvSpPr>
        <p:spPr>
          <a:xfrm>
            <a:off x="4432102" y="3549607"/>
            <a:ext cx="1016794" cy="332542"/>
          </a:xfrm>
          <a:prstGeom prst="roundRect">
            <a:avLst>
              <a:gd fmla="val 50000" name="adj"/>
            </a:avLst>
          </a:prstGeom>
          <a:solidFill>
            <a:srgbClr val="F9D9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13"/>
          <p:cNvSpPr/>
          <p:nvPr/>
        </p:nvSpPr>
        <p:spPr>
          <a:xfrm>
            <a:off x="4571802" y="3600407"/>
            <a:ext cx="788194" cy="25634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E2020"/>
              </a:buClr>
              <a:buSzPts val="1300"/>
              <a:buFont typeface="IBM Plex Sans"/>
              <a:buNone/>
            </a:pPr>
            <a:r>
              <a:rPr b="1" i="0" lang="en-US" sz="1300" u="none" cap="none" strike="noStrike">
                <a:solidFill>
                  <a:srgbClr val="9E2020"/>
                </a:solidFill>
                <a:latin typeface="IBM Plex Sans"/>
                <a:ea typeface="IBM Plex Sans"/>
                <a:cs typeface="IBM Plex Sans"/>
                <a:sym typeface="IBM Plex Sans"/>
              </a:rPr>
              <a:t>BLOCKED</a:t>
            </a:r>
            <a:endParaRPr b="0" i="0" sz="1300" u="none" cap="none" strike="noStrike">
              <a:solidFill>
                <a:schemeClr val="dk1"/>
              </a:solidFill>
              <a:latin typeface="Calibri"/>
              <a:ea typeface="Calibri"/>
              <a:cs typeface="Calibri"/>
              <a:sym typeface="Calibri"/>
            </a:endParaRPr>
          </a:p>
        </p:txBody>
      </p:sp>
      <p:sp>
        <p:nvSpPr>
          <p:cNvPr id="383" name="Google Shape;383;p13"/>
          <p:cNvSpPr/>
          <p:nvPr/>
        </p:nvSpPr>
        <p:spPr>
          <a:xfrm>
            <a:off x="812721" y="4136107"/>
            <a:ext cx="10883556"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400"/>
              <a:buFont typeface="IBM Plex Sans"/>
              <a:buNone/>
            </a:pPr>
            <a:r>
              <a:rPr b="0" i="0" lang="en-US" sz="1400" u="none" cap="none" strike="noStrike">
                <a:solidFill>
                  <a:srgbClr val="0F2A43"/>
                </a:solidFill>
                <a:latin typeface="IBM Plex Sans"/>
                <a:ea typeface="IBM Plex Sans"/>
                <a:cs typeface="IBM Plex Sans"/>
                <a:sym typeface="IBM Plex Sans"/>
              </a:rPr>
              <a:t>Two plain SQL tables, FIX_AUDIT_LOG and FIX_PROPOSALS, so anyone can query the history.</a:t>
            </a:r>
            <a:endParaRPr b="0" i="0" sz="1400" u="none" cap="none" strike="noStrike">
              <a:solidFill>
                <a:schemeClr val="dk1"/>
              </a:solidFill>
              <a:latin typeface="Calibri"/>
              <a:ea typeface="Calibri"/>
              <a:cs typeface="Calibri"/>
              <a:sym typeface="Calibri"/>
            </a:endParaRPr>
          </a:p>
        </p:txBody>
      </p:sp>
      <p:sp>
        <p:nvSpPr>
          <p:cNvPr id="384" name="Google Shape;384;p13"/>
          <p:cNvSpPr/>
          <p:nvPr/>
        </p:nvSpPr>
        <p:spPr>
          <a:xfrm>
            <a:off x="812721" y="6238280"/>
            <a:ext cx="719446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Agentic Data Quality Guardian · CoCoQuest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239"/>
        </a:solidFill>
      </p:bgPr>
    </p:bg>
    <p:spTree>
      <p:nvGrpSpPr>
        <p:cNvPr id="389" name="Shape 389"/>
        <p:cNvGrpSpPr/>
        <p:nvPr/>
      </p:nvGrpSpPr>
      <p:grpSpPr>
        <a:xfrm>
          <a:off x="0" y="0"/>
          <a:ext cx="0" cy="0"/>
          <a:chOff x="0" y="0"/>
          <a:chExt cx="0" cy="0"/>
        </a:xfrm>
      </p:grpSpPr>
      <p:sp>
        <p:nvSpPr>
          <p:cNvPr id="390" name="Google Shape;390;p14"/>
          <p:cNvSpPr/>
          <p:nvPr/>
        </p:nvSpPr>
        <p:spPr>
          <a:xfrm>
            <a:off x="812721" y="812719"/>
            <a:ext cx="10883556" cy="5003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EAF2F8"/>
              </a:buClr>
              <a:buSzPts val="3400"/>
              <a:buFont typeface="Rubik"/>
              <a:buNone/>
            </a:pPr>
            <a:r>
              <a:rPr b="1" i="0" lang="en-US" sz="3400" u="none" cap="none" strike="noStrike">
                <a:solidFill>
                  <a:srgbClr val="EAF2F8"/>
                </a:solidFill>
                <a:latin typeface="Rubik"/>
                <a:ea typeface="Rubik"/>
                <a:cs typeface="Rubik"/>
                <a:sym typeface="Rubik"/>
              </a:rPr>
              <a:t>CoCo in three roles</a:t>
            </a:r>
            <a:endParaRPr b="0" i="0" sz="3400" u="none" cap="none" strike="noStrike">
              <a:solidFill>
                <a:schemeClr val="dk1"/>
              </a:solidFill>
              <a:latin typeface="Calibri"/>
              <a:ea typeface="Calibri"/>
              <a:cs typeface="Calibri"/>
              <a:sym typeface="Calibri"/>
            </a:endParaRPr>
          </a:p>
        </p:txBody>
      </p:sp>
      <p:sp>
        <p:nvSpPr>
          <p:cNvPr id="391" name="Google Shape;391;p14"/>
          <p:cNvSpPr/>
          <p:nvPr/>
        </p:nvSpPr>
        <p:spPr>
          <a:xfrm>
            <a:off x="815896" y="1544793"/>
            <a:ext cx="3380383" cy="2208094"/>
          </a:xfrm>
          <a:prstGeom prst="roundRect">
            <a:avLst>
              <a:gd fmla="val 6758"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14"/>
          <p:cNvSpPr/>
          <p:nvPr/>
        </p:nvSpPr>
        <p:spPr>
          <a:xfrm>
            <a:off x="1023461" y="1752358"/>
            <a:ext cx="3054209" cy="482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3FC1F0"/>
              </a:buClr>
              <a:buSzPts val="3600"/>
              <a:buFont typeface="Rubik"/>
              <a:buNone/>
            </a:pPr>
            <a:r>
              <a:rPr b="1" i="0" lang="en-US" sz="3600" u="none" cap="none" strike="noStrike">
                <a:solidFill>
                  <a:srgbClr val="3FC1F0"/>
                </a:solidFill>
                <a:latin typeface="Rubik"/>
                <a:ea typeface="Rubik"/>
                <a:cs typeface="Rubik"/>
                <a:sym typeface="Rubik"/>
              </a:rPr>
              <a:t>1</a:t>
            </a:r>
            <a:endParaRPr b="0" i="0" sz="3600" u="none" cap="none" strike="noStrike">
              <a:solidFill>
                <a:schemeClr val="dk1"/>
              </a:solidFill>
              <a:latin typeface="Calibri"/>
              <a:ea typeface="Calibri"/>
              <a:cs typeface="Calibri"/>
              <a:sym typeface="Calibri"/>
            </a:endParaRPr>
          </a:p>
        </p:txBody>
      </p:sp>
      <p:sp>
        <p:nvSpPr>
          <p:cNvPr id="393" name="Google Shape;393;p14"/>
          <p:cNvSpPr/>
          <p:nvPr/>
        </p:nvSpPr>
        <p:spPr>
          <a:xfrm>
            <a:off x="1023461" y="2285758"/>
            <a:ext cx="3054209" cy="28436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700"/>
              <a:buFont typeface="Rubik"/>
              <a:buNone/>
            </a:pPr>
            <a:r>
              <a:rPr b="1" i="0" lang="en-US" sz="1700" u="none" cap="none" strike="noStrike">
                <a:solidFill>
                  <a:srgbClr val="EAF2F8"/>
                </a:solidFill>
                <a:latin typeface="Rubik"/>
                <a:ea typeface="Rubik"/>
                <a:cs typeface="Rubik"/>
                <a:sym typeface="Rubik"/>
              </a:rPr>
              <a:t>Build time</a:t>
            </a:r>
            <a:endParaRPr b="0" i="0" sz="1700" u="none" cap="none" strike="noStrike">
              <a:solidFill>
                <a:schemeClr val="dk1"/>
              </a:solidFill>
              <a:latin typeface="Calibri"/>
              <a:ea typeface="Calibri"/>
              <a:cs typeface="Calibri"/>
              <a:sym typeface="Calibri"/>
            </a:endParaRPr>
          </a:p>
        </p:txBody>
      </p:sp>
      <p:sp>
        <p:nvSpPr>
          <p:cNvPr id="394" name="Google Shape;394;p14"/>
          <p:cNvSpPr/>
          <p:nvPr/>
        </p:nvSpPr>
        <p:spPr>
          <a:xfrm>
            <a:off x="1023461" y="2620919"/>
            <a:ext cx="3054209" cy="94980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Explore the account, review the code, red-team the guardrail and extend the app. The prompts are in COCO_PROMPTS.md.</a:t>
            </a:r>
            <a:endParaRPr b="0" i="0" sz="1300" u="none" cap="none" strike="noStrike">
              <a:solidFill>
                <a:schemeClr val="dk1"/>
              </a:solidFill>
              <a:latin typeface="Calibri"/>
              <a:ea typeface="Calibri"/>
              <a:cs typeface="Calibri"/>
              <a:sym typeface="Calibri"/>
            </a:endParaRPr>
          </a:p>
        </p:txBody>
      </p:sp>
      <p:sp>
        <p:nvSpPr>
          <p:cNvPr id="395" name="Google Shape;395;p14"/>
          <p:cNvSpPr/>
          <p:nvPr/>
        </p:nvSpPr>
        <p:spPr>
          <a:xfrm>
            <a:off x="4405749" y="1544793"/>
            <a:ext cx="3380502" cy="2208094"/>
          </a:xfrm>
          <a:prstGeom prst="roundRect">
            <a:avLst>
              <a:gd fmla="val 6758"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14"/>
          <p:cNvSpPr/>
          <p:nvPr/>
        </p:nvSpPr>
        <p:spPr>
          <a:xfrm>
            <a:off x="4613315" y="1752358"/>
            <a:ext cx="3054332" cy="482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3FC1F0"/>
              </a:buClr>
              <a:buSzPts val="3600"/>
              <a:buFont typeface="Rubik"/>
              <a:buNone/>
            </a:pPr>
            <a:r>
              <a:rPr b="1" i="0" lang="en-US" sz="3600" u="none" cap="none" strike="noStrike">
                <a:solidFill>
                  <a:srgbClr val="3FC1F0"/>
                </a:solidFill>
                <a:latin typeface="Rubik"/>
                <a:ea typeface="Rubik"/>
                <a:cs typeface="Rubik"/>
                <a:sym typeface="Rubik"/>
              </a:rPr>
              <a:t>2</a:t>
            </a:r>
            <a:endParaRPr b="0" i="0" sz="3600" u="none" cap="none" strike="noStrike">
              <a:solidFill>
                <a:schemeClr val="dk1"/>
              </a:solidFill>
              <a:latin typeface="Calibri"/>
              <a:ea typeface="Calibri"/>
              <a:cs typeface="Calibri"/>
              <a:sym typeface="Calibri"/>
            </a:endParaRPr>
          </a:p>
        </p:txBody>
      </p:sp>
      <p:sp>
        <p:nvSpPr>
          <p:cNvPr id="397" name="Google Shape;397;p14"/>
          <p:cNvSpPr/>
          <p:nvPr/>
        </p:nvSpPr>
        <p:spPr>
          <a:xfrm>
            <a:off x="4613315" y="2285758"/>
            <a:ext cx="3054332" cy="28436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700"/>
              <a:buFont typeface="Rubik"/>
              <a:buNone/>
            </a:pPr>
            <a:r>
              <a:rPr b="1" i="0" lang="en-US" sz="1700" u="none" cap="none" strike="noStrike">
                <a:solidFill>
                  <a:srgbClr val="EAF2F8"/>
                </a:solidFill>
                <a:latin typeface="Rubik"/>
                <a:ea typeface="Rubik"/>
                <a:cs typeface="Rubik"/>
                <a:sym typeface="Rubik"/>
              </a:rPr>
              <a:t>Hand-off from the app</a:t>
            </a:r>
            <a:endParaRPr b="0" i="0" sz="1700" u="none" cap="none" strike="noStrike">
              <a:solidFill>
                <a:schemeClr val="dk1"/>
              </a:solidFill>
              <a:latin typeface="Calibri"/>
              <a:ea typeface="Calibri"/>
              <a:cs typeface="Calibri"/>
              <a:sym typeface="Calibri"/>
            </a:endParaRPr>
          </a:p>
        </p:txBody>
      </p:sp>
      <p:sp>
        <p:nvSpPr>
          <p:cNvPr id="398" name="Google Shape;398;p14"/>
          <p:cNvSpPr/>
          <p:nvPr/>
        </p:nvSpPr>
        <p:spPr>
          <a:xfrm>
            <a:off x="4613315" y="2620919"/>
            <a:ext cx="3054332" cy="94980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The CoCo Assist page turns the live scan into a prompt. CoCo inspects the sandbox and proposes SQL under your own permissions.</a:t>
            </a:r>
            <a:endParaRPr b="0" i="0" sz="1300" u="none" cap="none" strike="noStrike">
              <a:solidFill>
                <a:schemeClr val="dk1"/>
              </a:solidFill>
              <a:latin typeface="Calibri"/>
              <a:ea typeface="Calibri"/>
              <a:cs typeface="Calibri"/>
              <a:sym typeface="Calibri"/>
            </a:endParaRPr>
          </a:p>
        </p:txBody>
      </p:sp>
      <p:sp>
        <p:nvSpPr>
          <p:cNvPr id="399" name="Google Shape;399;p14"/>
          <p:cNvSpPr/>
          <p:nvPr/>
        </p:nvSpPr>
        <p:spPr>
          <a:xfrm>
            <a:off x="7995722" y="1544793"/>
            <a:ext cx="3380383" cy="2208094"/>
          </a:xfrm>
          <a:prstGeom prst="roundRect">
            <a:avLst>
              <a:gd fmla="val 6758"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14"/>
          <p:cNvSpPr/>
          <p:nvPr/>
        </p:nvSpPr>
        <p:spPr>
          <a:xfrm>
            <a:off x="8203288" y="1752358"/>
            <a:ext cx="3054209" cy="482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3FC1F0"/>
              </a:buClr>
              <a:buSzPts val="3600"/>
              <a:buFont typeface="Rubik"/>
              <a:buNone/>
            </a:pPr>
            <a:r>
              <a:rPr b="1" i="0" lang="en-US" sz="3600" u="none" cap="none" strike="noStrike">
                <a:solidFill>
                  <a:srgbClr val="3FC1F0"/>
                </a:solidFill>
                <a:latin typeface="Rubik"/>
                <a:ea typeface="Rubik"/>
                <a:cs typeface="Rubik"/>
                <a:sym typeface="Rubik"/>
              </a:rPr>
              <a:t>3</a:t>
            </a:r>
            <a:endParaRPr b="0" i="0" sz="3600" u="none" cap="none" strike="noStrike">
              <a:solidFill>
                <a:schemeClr val="dk1"/>
              </a:solidFill>
              <a:latin typeface="Calibri"/>
              <a:ea typeface="Calibri"/>
              <a:cs typeface="Calibri"/>
              <a:sym typeface="Calibri"/>
            </a:endParaRPr>
          </a:p>
        </p:txBody>
      </p:sp>
      <p:sp>
        <p:nvSpPr>
          <p:cNvPr id="401" name="Google Shape;401;p14"/>
          <p:cNvSpPr/>
          <p:nvPr/>
        </p:nvSpPr>
        <p:spPr>
          <a:xfrm>
            <a:off x="8203288" y="2285758"/>
            <a:ext cx="3054209" cy="28436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700"/>
              <a:buFont typeface="Rubik"/>
              <a:buNone/>
            </a:pPr>
            <a:r>
              <a:rPr b="1" i="0" lang="en-US" sz="1700" u="none" cap="none" strike="noStrike">
                <a:solidFill>
                  <a:srgbClr val="EAF2F8"/>
                </a:solidFill>
                <a:latin typeface="Rubik"/>
                <a:ea typeface="Rubik"/>
                <a:cs typeface="Rubik"/>
                <a:sym typeface="Rubik"/>
              </a:rPr>
              <a:t>Inside the app</a:t>
            </a:r>
            <a:endParaRPr b="0" i="0" sz="1700" u="none" cap="none" strike="noStrike">
              <a:solidFill>
                <a:schemeClr val="dk1"/>
              </a:solidFill>
              <a:latin typeface="Calibri"/>
              <a:ea typeface="Calibri"/>
              <a:cs typeface="Calibri"/>
              <a:sym typeface="Calibri"/>
            </a:endParaRPr>
          </a:p>
        </p:txBody>
      </p:sp>
      <p:sp>
        <p:nvSpPr>
          <p:cNvPr id="402" name="Google Shape;402;p14"/>
          <p:cNvSpPr/>
          <p:nvPr/>
        </p:nvSpPr>
        <p:spPr>
          <a:xfrm>
            <a:off x="8203288" y="2620919"/>
            <a:ext cx="3054209" cy="71870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Cortex AI writes fix SQL for custom rules and the plain-language briefing for business owners.</a:t>
            </a:r>
            <a:endParaRPr b="0" i="0" sz="1300" u="none" cap="none" strike="noStrike">
              <a:solidFill>
                <a:schemeClr val="dk1"/>
              </a:solidFill>
              <a:latin typeface="Calibri"/>
              <a:ea typeface="Calibri"/>
              <a:cs typeface="Calibri"/>
              <a:sym typeface="Calibri"/>
            </a:endParaRPr>
          </a:p>
        </p:txBody>
      </p:sp>
      <p:sp>
        <p:nvSpPr>
          <p:cNvPr id="403" name="Google Shape;403;p14"/>
          <p:cNvSpPr/>
          <p:nvPr/>
        </p:nvSpPr>
        <p:spPr>
          <a:xfrm>
            <a:off x="812721" y="4010025"/>
            <a:ext cx="10883556" cy="5230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AF2F8"/>
              </a:buClr>
              <a:buSzPts val="1400"/>
              <a:buFont typeface="IBM Plex Sans"/>
              <a:buNone/>
            </a:pPr>
            <a:r>
              <a:rPr b="0" i="0" lang="en-US" sz="1400" u="none" cap="none" strike="noStrike">
                <a:solidFill>
                  <a:srgbClr val="EAF2F8"/>
                </a:solidFill>
                <a:latin typeface="IBM Plex Sans"/>
                <a:ea typeface="IBM Plex Sans"/>
                <a:cs typeface="IBM Plex Sans"/>
                <a:sym typeface="IBM Plex Sans"/>
              </a:rPr>
              <a:t>CoCo is an interactive agent, so the link is a deliberate hand-off with a human in charge. Open it from the icon at the bottom-right of Snowsight.</a:t>
            </a:r>
            <a:endParaRPr b="0" i="0" sz="1400" u="none" cap="none" strike="noStrike">
              <a:solidFill>
                <a:schemeClr val="dk1"/>
              </a:solidFill>
              <a:latin typeface="Calibri"/>
              <a:ea typeface="Calibri"/>
              <a:cs typeface="Calibri"/>
              <a:sym typeface="Calibri"/>
            </a:endParaRPr>
          </a:p>
        </p:txBody>
      </p:sp>
      <p:sp>
        <p:nvSpPr>
          <p:cNvPr id="404" name="Google Shape;404;p14"/>
          <p:cNvSpPr/>
          <p:nvPr/>
        </p:nvSpPr>
        <p:spPr>
          <a:xfrm>
            <a:off x="812721" y="6238280"/>
            <a:ext cx="719446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DB6CC"/>
              </a:buClr>
              <a:buSzPts val="1200"/>
              <a:buFont typeface="IBM Plex Sans"/>
              <a:buNone/>
            </a:pPr>
            <a:r>
              <a:rPr b="0" i="0" lang="en-US" sz="1200" u="none" cap="none" strike="noStrike">
                <a:solidFill>
                  <a:srgbClr val="9DB6CC"/>
                </a:solidFill>
                <a:latin typeface="IBM Plex Sans"/>
                <a:ea typeface="IBM Plex Sans"/>
                <a:cs typeface="IBM Plex Sans"/>
                <a:sym typeface="IBM Plex Sans"/>
              </a:rPr>
              <a:t>Agentic Data Quality Guardian · CoCoQuest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409" name="Shape 409"/>
        <p:cNvGrpSpPr/>
        <p:nvPr/>
      </p:nvGrpSpPr>
      <p:grpSpPr>
        <a:xfrm>
          <a:off x="0" y="0"/>
          <a:ext cx="0" cy="0"/>
          <a:chOff x="0" y="0"/>
          <a:chExt cx="0" cy="0"/>
        </a:xfrm>
      </p:grpSpPr>
      <p:sp>
        <p:nvSpPr>
          <p:cNvPr id="410" name="Google Shape;410;p15"/>
          <p:cNvSpPr/>
          <p:nvPr/>
        </p:nvSpPr>
        <p:spPr>
          <a:xfrm>
            <a:off x="812721" y="812719"/>
            <a:ext cx="10883556" cy="5003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F2A43"/>
              </a:buClr>
              <a:buSzPts val="3400"/>
              <a:buFont typeface="Rubik"/>
              <a:buNone/>
            </a:pPr>
            <a:r>
              <a:rPr b="1" i="0" lang="en-US" sz="3400" u="none" cap="none" strike="noStrike">
                <a:solidFill>
                  <a:srgbClr val="0F2A43"/>
                </a:solidFill>
                <a:latin typeface="Rubik"/>
                <a:ea typeface="Rubik"/>
                <a:cs typeface="Rubik"/>
                <a:sym typeface="Rubik"/>
              </a:rPr>
              <a:t>Live proof (1 of 3): scan and propose</a:t>
            </a:r>
            <a:endParaRPr b="0" i="0" sz="3400" u="none" cap="none" strike="noStrike">
              <a:solidFill>
                <a:schemeClr val="dk1"/>
              </a:solidFill>
              <a:latin typeface="Calibri"/>
              <a:ea typeface="Calibri"/>
              <a:cs typeface="Calibri"/>
              <a:sym typeface="Calibri"/>
            </a:endParaRPr>
          </a:p>
        </p:txBody>
      </p:sp>
      <p:pic>
        <p:nvPicPr>
          <p:cNvPr descr="Scan page showing health score 85.3 out of 100, 5,100 rows scanned, 1,760 rows with issues and 18 of 36 rules failing" id="411" name="Google Shape;411;p15"/>
          <p:cNvPicPr preferRelativeResize="0"/>
          <p:nvPr/>
        </p:nvPicPr>
        <p:blipFill rotWithShape="1">
          <a:blip r:embed="rId3">
            <a:alphaModFix/>
          </a:blip>
          <a:srcRect b="0" l="0" r="0" t="0"/>
          <a:stretch/>
        </p:blipFill>
        <p:spPr>
          <a:xfrm>
            <a:off x="813816" y="1508760"/>
            <a:ext cx="5270448" cy="2926080"/>
          </a:xfrm>
          <a:prstGeom prst="rect">
            <a:avLst/>
          </a:prstGeom>
          <a:noFill/>
          <a:ln cap="flat" cmpd="sng" w="12700">
            <a:solidFill>
              <a:srgbClr val="9DB6CC"/>
            </a:solidFill>
            <a:prstDash val="solid"/>
            <a:round/>
            <a:headEnd len="sm" w="sm" type="none"/>
            <a:tailEnd len="sm" w="sm" type="none"/>
          </a:ln>
          <a:effectLst>
            <a:outerShdw blurRad="152400" rotWithShape="0" algn="t" dir="5400000" dist="38100">
              <a:srgbClr val="0F2A43">
                <a:alpha val="18039"/>
              </a:srgbClr>
            </a:outerShdw>
          </a:effectLst>
        </p:spPr>
      </p:pic>
      <p:pic>
        <p:nvPicPr>
          <p:cNvPr descr="Fix Studio page showing the sandbox copy and a proposed fix card that removes duplicate rows" id="412" name="Google Shape;412;p15"/>
          <p:cNvPicPr preferRelativeResize="0"/>
          <p:nvPr/>
        </p:nvPicPr>
        <p:blipFill rotWithShape="1">
          <a:blip r:embed="rId4">
            <a:alphaModFix/>
          </a:blip>
          <a:srcRect b="0" l="0" r="0" t="0"/>
          <a:stretch/>
        </p:blipFill>
        <p:spPr>
          <a:xfrm>
            <a:off x="6622313" y="1508760"/>
            <a:ext cx="4752823" cy="2926080"/>
          </a:xfrm>
          <a:prstGeom prst="rect">
            <a:avLst/>
          </a:prstGeom>
          <a:noFill/>
          <a:ln cap="flat" cmpd="sng" w="12700">
            <a:solidFill>
              <a:srgbClr val="9DB6CC"/>
            </a:solidFill>
            <a:prstDash val="solid"/>
            <a:round/>
            <a:headEnd len="sm" w="sm" type="none"/>
            <a:tailEnd len="sm" w="sm" type="none"/>
          </a:ln>
          <a:effectLst>
            <a:outerShdw blurRad="152400" rotWithShape="0" algn="t" dir="5400000" dist="38100">
              <a:srgbClr val="0F2A43">
                <a:alpha val="18039"/>
              </a:srgbClr>
            </a:outerShdw>
          </a:effectLst>
        </p:spPr>
      </p:pic>
      <p:sp>
        <p:nvSpPr>
          <p:cNvPr id="413" name="Google Shape;413;p15"/>
          <p:cNvSpPr txBox="1"/>
          <p:nvPr/>
        </p:nvSpPr>
        <p:spPr>
          <a:xfrm>
            <a:off x="813816" y="4636008"/>
            <a:ext cx="5270448" cy="14173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100"/>
              <a:buFont typeface="Arial"/>
              <a:buNone/>
            </a:pPr>
            <a:r>
              <a:rPr b="1" i="0" lang="en-US" sz="1100" u="none" cap="none" strike="noStrike">
                <a:solidFill>
                  <a:srgbClr val="0A79AD"/>
                </a:solidFill>
                <a:latin typeface="IBM Plex Sans"/>
                <a:ea typeface="IBM Plex Sans"/>
                <a:cs typeface="IBM Plex Sans"/>
                <a:sym typeface="IBM Plex Sans"/>
              </a:rPr>
              <a:t>05 · SCAN</a:t>
            </a:r>
            <a:endParaRPr/>
          </a:p>
          <a:p>
            <a:pPr indent="0" lvl="0" marL="0" marR="0" rtl="0" algn="l">
              <a:lnSpc>
                <a:spcPct val="115000"/>
              </a:lnSpc>
              <a:spcBef>
                <a:spcPts val="300"/>
              </a:spcBef>
              <a:spcAft>
                <a:spcPts val="0"/>
              </a:spcAft>
              <a:buClr>
                <a:srgbClr val="000000"/>
              </a:buClr>
              <a:buSzPts val="1500"/>
              <a:buFont typeface="Arial"/>
              <a:buNone/>
            </a:pPr>
            <a:r>
              <a:rPr b="1" i="0" lang="en-US" sz="1500" u="none" cap="none" strike="noStrike">
                <a:solidFill>
                  <a:srgbClr val="0F2A43"/>
                </a:solidFill>
                <a:latin typeface="Rubik"/>
                <a:ea typeface="Rubik"/>
                <a:cs typeface="Rubik"/>
                <a:sym typeface="Rubik"/>
              </a:rPr>
              <a:t>85.3 out of 100 on the raw table</a:t>
            </a:r>
            <a:endParaRPr/>
          </a:p>
          <a:p>
            <a:pPr indent="0" lvl="0" marL="0" marR="0" rtl="0" algn="l">
              <a:lnSpc>
                <a:spcPct val="135000"/>
              </a:lnSpc>
              <a:spcBef>
                <a:spcPts val="400"/>
              </a:spcBef>
              <a:spcAft>
                <a:spcPts val="0"/>
              </a:spcAft>
              <a:buClr>
                <a:srgbClr val="000000"/>
              </a:buClr>
              <a:buSzPts val="1200"/>
              <a:buFont typeface="Arial"/>
              <a:buNone/>
            </a:pPr>
            <a:r>
              <a:rPr b="0" i="0" lang="en-US" sz="1200" u="none" cap="none" strike="noStrike">
                <a:solidFill>
                  <a:srgbClr val="4F6479"/>
                </a:solidFill>
                <a:latin typeface="IBM Plex Sans"/>
                <a:ea typeface="IBM Plex Sans"/>
                <a:cs typeface="IBM Plex Sans"/>
                <a:sym typeface="IBM Plex Sans"/>
              </a:rPr>
              <a:t>5,100 rows checked against 36 rules: 1,760 rows have an issue and 18 rules fail. Validity and uniqueness score lowest.</a:t>
            </a:r>
            <a:endParaRPr/>
          </a:p>
        </p:txBody>
      </p:sp>
      <p:sp>
        <p:nvSpPr>
          <p:cNvPr id="414" name="Google Shape;414;p15"/>
          <p:cNvSpPr txBox="1"/>
          <p:nvPr/>
        </p:nvSpPr>
        <p:spPr>
          <a:xfrm>
            <a:off x="6622313" y="4636008"/>
            <a:ext cx="4752823" cy="14173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100"/>
              <a:buFont typeface="Arial"/>
              <a:buNone/>
            </a:pPr>
            <a:r>
              <a:rPr b="1" i="0" lang="en-US" sz="1100" u="none" cap="none" strike="noStrike">
                <a:solidFill>
                  <a:srgbClr val="0A79AD"/>
                </a:solidFill>
                <a:latin typeface="IBM Plex Sans"/>
                <a:ea typeface="IBM Plex Sans"/>
                <a:cs typeface="IBM Plex Sans"/>
                <a:sym typeface="IBM Plex Sans"/>
              </a:rPr>
              <a:t>07 · FIX STUDIO</a:t>
            </a:r>
            <a:endParaRPr/>
          </a:p>
          <a:p>
            <a:pPr indent="0" lvl="0" marL="0" marR="0" rtl="0" algn="l">
              <a:lnSpc>
                <a:spcPct val="115000"/>
              </a:lnSpc>
              <a:spcBef>
                <a:spcPts val="300"/>
              </a:spcBef>
              <a:spcAft>
                <a:spcPts val="0"/>
              </a:spcAft>
              <a:buClr>
                <a:srgbClr val="000000"/>
              </a:buClr>
              <a:buSzPts val="1500"/>
              <a:buFont typeface="Arial"/>
              <a:buNone/>
            </a:pPr>
            <a:r>
              <a:rPr b="1" i="0" lang="en-US" sz="1500" u="none" cap="none" strike="noStrike">
                <a:solidFill>
                  <a:srgbClr val="0F2A43"/>
                </a:solidFill>
                <a:latin typeface="Rubik"/>
                <a:ea typeface="Rubik"/>
                <a:cs typeface="Rubik"/>
                <a:sym typeface="Rubik"/>
              </a:rPr>
              <a:t>Each failing rule gets a reviewable fix</a:t>
            </a:r>
            <a:endParaRPr/>
          </a:p>
          <a:p>
            <a:pPr indent="0" lvl="0" marL="0" marR="0" rtl="0" algn="l">
              <a:lnSpc>
                <a:spcPct val="135000"/>
              </a:lnSpc>
              <a:spcBef>
                <a:spcPts val="400"/>
              </a:spcBef>
              <a:spcAft>
                <a:spcPts val="0"/>
              </a:spcAft>
              <a:buClr>
                <a:srgbClr val="000000"/>
              </a:buClr>
              <a:buSzPts val="1200"/>
              <a:buFont typeface="Arial"/>
              <a:buNone/>
            </a:pPr>
            <a:r>
              <a:rPr b="0" i="0" lang="en-US" sz="1200" u="none" cap="none" strike="noStrike">
                <a:solidFill>
                  <a:srgbClr val="4F6479"/>
                </a:solidFill>
                <a:latin typeface="IBM Plex Sans"/>
                <a:ea typeface="IBM Plex Sans"/>
                <a:cs typeface="IBM Plex Sans"/>
                <a:sym typeface="IBM Plex Sans"/>
              </a:rPr>
              <a:t>A sandbox clone is ready. Each card shows risk, row count, author and editable SQL with an Approve box. This one removes 100 duplicate rows.</a:t>
            </a:r>
            <a:endParaRPr/>
          </a:p>
        </p:txBody>
      </p:sp>
      <p:sp>
        <p:nvSpPr>
          <p:cNvPr id="415" name="Google Shape;415;p15"/>
          <p:cNvSpPr/>
          <p:nvPr/>
        </p:nvSpPr>
        <p:spPr>
          <a:xfrm>
            <a:off x="812721" y="6238280"/>
            <a:ext cx="719446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Agentic Data Quality Guardian · CoCoQuest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420" name="Shape 420"/>
        <p:cNvGrpSpPr/>
        <p:nvPr/>
      </p:nvGrpSpPr>
      <p:grpSpPr>
        <a:xfrm>
          <a:off x="0" y="0"/>
          <a:ext cx="0" cy="0"/>
          <a:chOff x="0" y="0"/>
          <a:chExt cx="0" cy="0"/>
        </a:xfrm>
      </p:grpSpPr>
      <p:sp>
        <p:nvSpPr>
          <p:cNvPr id="421" name="Google Shape;421;p20"/>
          <p:cNvSpPr/>
          <p:nvPr/>
        </p:nvSpPr>
        <p:spPr>
          <a:xfrm>
            <a:off x="812721" y="812719"/>
            <a:ext cx="10883556" cy="5003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F2A43"/>
              </a:buClr>
              <a:buSzPts val="3400"/>
              <a:buFont typeface="Rubik"/>
              <a:buNone/>
            </a:pPr>
            <a:r>
              <a:rPr b="1" i="0" lang="en-US" sz="3400" u="none" cap="none" strike="noStrike">
                <a:solidFill>
                  <a:srgbClr val="0F2A43"/>
                </a:solidFill>
                <a:latin typeface="Rubik"/>
                <a:ea typeface="Rubik"/>
                <a:cs typeface="Rubik"/>
                <a:sym typeface="Rubik"/>
              </a:rPr>
              <a:t>Live proof (2 of 3): apply and audit</a:t>
            </a:r>
            <a:endParaRPr b="0" i="0" sz="3400" u="none" cap="none" strike="noStrike">
              <a:solidFill>
                <a:schemeClr val="dk1"/>
              </a:solidFill>
              <a:latin typeface="Calibri"/>
              <a:ea typeface="Calibri"/>
              <a:cs typeface="Calibri"/>
              <a:sym typeface="Calibri"/>
            </a:endParaRPr>
          </a:p>
        </p:txBody>
      </p:sp>
      <p:pic>
        <p:nvPicPr>
          <p:cNvPr descr="Before and after comparison: health score 85.3 before and 87.0 after two applied fixes, rows 5,100 to 5,000" id="422" name="Google Shape;422;p20"/>
          <p:cNvPicPr preferRelativeResize="0"/>
          <p:nvPr/>
        </p:nvPicPr>
        <p:blipFill rotWithShape="1">
          <a:blip r:embed="rId3">
            <a:alphaModFix/>
          </a:blip>
          <a:srcRect b="0" l="0" r="0" t="0"/>
          <a:stretch/>
        </p:blipFill>
        <p:spPr>
          <a:xfrm>
            <a:off x="813816" y="1508760"/>
            <a:ext cx="4949816" cy="2926080"/>
          </a:xfrm>
          <a:prstGeom prst="rect">
            <a:avLst/>
          </a:prstGeom>
          <a:noFill/>
          <a:ln cap="flat" cmpd="sng" w="12700">
            <a:solidFill>
              <a:srgbClr val="9DB6CC"/>
            </a:solidFill>
            <a:prstDash val="solid"/>
            <a:round/>
            <a:headEnd len="sm" w="sm" type="none"/>
            <a:tailEnd len="sm" w="sm" type="none"/>
          </a:ln>
          <a:effectLst>
            <a:outerShdw blurRad="152400" rotWithShape="0" algn="t" dir="5400000" dist="38100">
              <a:srgbClr val="0F2A43">
                <a:alpha val="18039"/>
              </a:srgbClr>
            </a:outerShdw>
          </a:effectLst>
        </p:spPr>
      </p:pic>
      <p:pic>
        <p:nvPicPr>
          <p:cNvPr descr="Audit trail page listing sandbox created and applied actions with user, role and target table, above the fix proposals table" id="423" name="Google Shape;423;p20"/>
          <p:cNvPicPr preferRelativeResize="0"/>
          <p:nvPr/>
        </p:nvPicPr>
        <p:blipFill rotWithShape="1">
          <a:blip r:embed="rId4">
            <a:alphaModFix/>
          </a:blip>
          <a:srcRect b="0" l="0" r="0" t="0"/>
          <a:stretch/>
        </p:blipFill>
        <p:spPr>
          <a:xfrm>
            <a:off x="6253677" y="1508760"/>
            <a:ext cx="5121459" cy="2926080"/>
          </a:xfrm>
          <a:prstGeom prst="rect">
            <a:avLst/>
          </a:prstGeom>
          <a:noFill/>
          <a:ln cap="flat" cmpd="sng" w="12700">
            <a:solidFill>
              <a:srgbClr val="9DB6CC"/>
            </a:solidFill>
            <a:prstDash val="solid"/>
            <a:round/>
            <a:headEnd len="sm" w="sm" type="none"/>
            <a:tailEnd len="sm" w="sm" type="none"/>
          </a:ln>
          <a:effectLst>
            <a:outerShdw blurRad="152400" rotWithShape="0" algn="t" dir="5400000" dist="38100">
              <a:srgbClr val="0F2A43">
                <a:alpha val="18039"/>
              </a:srgbClr>
            </a:outerShdw>
          </a:effectLst>
        </p:spPr>
      </p:pic>
      <p:sp>
        <p:nvSpPr>
          <p:cNvPr id="424" name="Google Shape;424;p20"/>
          <p:cNvSpPr txBox="1"/>
          <p:nvPr/>
        </p:nvSpPr>
        <p:spPr>
          <a:xfrm>
            <a:off x="813816" y="4636008"/>
            <a:ext cx="4949816" cy="14173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100"/>
              <a:buFont typeface="Arial"/>
              <a:buNone/>
            </a:pPr>
            <a:r>
              <a:rPr b="1" i="0" lang="en-US" sz="1100" u="none" cap="none" strike="noStrike">
                <a:solidFill>
                  <a:srgbClr val="0A79AD"/>
                </a:solidFill>
                <a:latin typeface="IBM Plex Sans"/>
                <a:ea typeface="IBM Plex Sans"/>
                <a:cs typeface="IBM Plex Sans"/>
                <a:sym typeface="IBM Plex Sans"/>
              </a:rPr>
              <a:t>09 · BEFORE VS AFTER</a:t>
            </a:r>
            <a:endParaRPr/>
          </a:p>
          <a:p>
            <a:pPr indent="0" lvl="0" marL="0" marR="0" rtl="0" algn="l">
              <a:lnSpc>
                <a:spcPct val="115000"/>
              </a:lnSpc>
              <a:spcBef>
                <a:spcPts val="300"/>
              </a:spcBef>
              <a:spcAft>
                <a:spcPts val="0"/>
              </a:spcAft>
              <a:buClr>
                <a:srgbClr val="000000"/>
              </a:buClr>
              <a:buSzPts val="1500"/>
              <a:buFont typeface="Arial"/>
              <a:buNone/>
            </a:pPr>
            <a:r>
              <a:rPr b="1" i="0" lang="en-US" sz="1500" u="none" cap="none" strike="noStrike">
                <a:solidFill>
                  <a:srgbClr val="0F2A43"/>
                </a:solidFill>
                <a:latin typeface="Rubik"/>
                <a:ea typeface="Rubik"/>
                <a:cs typeface="Rubik"/>
                <a:sym typeface="Rubik"/>
              </a:rPr>
              <a:t>Score 85.3 to 87.0 with two fixes</a:t>
            </a:r>
            <a:endParaRPr/>
          </a:p>
          <a:p>
            <a:pPr indent="0" lvl="0" marL="0" marR="0" rtl="0" algn="l">
              <a:lnSpc>
                <a:spcPct val="135000"/>
              </a:lnSpc>
              <a:spcBef>
                <a:spcPts val="400"/>
              </a:spcBef>
              <a:spcAft>
                <a:spcPts val="0"/>
              </a:spcAft>
              <a:buClr>
                <a:srgbClr val="000000"/>
              </a:buClr>
              <a:buSzPts val="1200"/>
              <a:buFont typeface="Arial"/>
              <a:buNone/>
            </a:pPr>
            <a:r>
              <a:rPr b="0" i="0" lang="en-US" sz="1200" u="none" cap="none" strike="noStrike">
                <a:solidFill>
                  <a:srgbClr val="4F6479"/>
                </a:solidFill>
                <a:latin typeface="IBM Plex Sans"/>
                <a:ea typeface="IBM Plex Sans"/>
                <a:cs typeface="IBM Plex Sans"/>
                <a:sym typeface="IBM Plex Sans"/>
              </a:rPr>
              <a:t>Removing duplicates changed 100 rows and trimming email spaces changed 90, on the sandbox only. Rows went from 5,100 to 5,000. More approvals lift it further.</a:t>
            </a:r>
            <a:endParaRPr/>
          </a:p>
        </p:txBody>
      </p:sp>
      <p:sp>
        <p:nvSpPr>
          <p:cNvPr id="425" name="Google Shape;425;p20"/>
          <p:cNvSpPr txBox="1"/>
          <p:nvPr/>
        </p:nvSpPr>
        <p:spPr>
          <a:xfrm>
            <a:off x="6253677" y="4636008"/>
            <a:ext cx="5121459" cy="14173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100"/>
              <a:buFont typeface="Arial"/>
              <a:buNone/>
            </a:pPr>
            <a:r>
              <a:rPr b="1" i="0" lang="en-US" sz="1100" u="none" cap="none" strike="noStrike">
                <a:solidFill>
                  <a:srgbClr val="0A79AD"/>
                </a:solidFill>
                <a:latin typeface="IBM Plex Sans"/>
                <a:ea typeface="IBM Plex Sans"/>
                <a:cs typeface="IBM Plex Sans"/>
                <a:sym typeface="IBM Plex Sans"/>
              </a:rPr>
              <a:t>10 · AUDIT TRAIL</a:t>
            </a:r>
            <a:endParaRPr/>
          </a:p>
          <a:p>
            <a:pPr indent="0" lvl="0" marL="0" marR="0" rtl="0" algn="l">
              <a:lnSpc>
                <a:spcPct val="115000"/>
              </a:lnSpc>
              <a:spcBef>
                <a:spcPts val="300"/>
              </a:spcBef>
              <a:spcAft>
                <a:spcPts val="0"/>
              </a:spcAft>
              <a:buClr>
                <a:srgbClr val="000000"/>
              </a:buClr>
              <a:buSzPts val="1500"/>
              <a:buFont typeface="Arial"/>
              <a:buNone/>
            </a:pPr>
            <a:r>
              <a:rPr b="1" i="0" lang="en-US" sz="1500" u="none" cap="none" strike="noStrike">
                <a:solidFill>
                  <a:srgbClr val="0F2A43"/>
                </a:solidFill>
                <a:latin typeface="Rubik"/>
                <a:ea typeface="Rubik"/>
                <a:cs typeface="Rubik"/>
                <a:sym typeface="Rubik"/>
              </a:rPr>
              <a:t>Every sandbox change is recorded</a:t>
            </a:r>
            <a:endParaRPr/>
          </a:p>
          <a:p>
            <a:pPr indent="0" lvl="0" marL="0" marR="0" rtl="0" algn="l">
              <a:lnSpc>
                <a:spcPct val="135000"/>
              </a:lnSpc>
              <a:spcBef>
                <a:spcPts val="400"/>
              </a:spcBef>
              <a:spcAft>
                <a:spcPts val="0"/>
              </a:spcAft>
              <a:buClr>
                <a:srgbClr val="000000"/>
              </a:buClr>
              <a:buSzPts val="1200"/>
              <a:buFont typeface="Arial"/>
              <a:buNone/>
            </a:pPr>
            <a:r>
              <a:rPr b="0" i="0" lang="en-US" sz="1200" u="none" cap="none" strike="noStrike">
                <a:solidFill>
                  <a:srgbClr val="4F6479"/>
                </a:solidFill>
                <a:latin typeface="IBM Plex Sans"/>
                <a:ea typeface="IBM Plex Sans"/>
                <a:cs typeface="IBM Plex Sans"/>
                <a:sym typeface="IBM Plex Sans"/>
              </a:rPr>
              <a:t>Time, user, Snowflake role, target table and action for each step. The proposals table keeps every fix's status, risk and author.</a:t>
            </a:r>
            <a:endParaRPr/>
          </a:p>
        </p:txBody>
      </p:sp>
      <p:sp>
        <p:nvSpPr>
          <p:cNvPr id="426" name="Google Shape;426;p20"/>
          <p:cNvSpPr/>
          <p:nvPr/>
        </p:nvSpPr>
        <p:spPr>
          <a:xfrm>
            <a:off x="812721" y="6238280"/>
            <a:ext cx="719446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Agentic Data Quality Guardian · CoCoQuest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431" name="Shape 431"/>
        <p:cNvGrpSpPr/>
        <p:nvPr/>
      </p:nvGrpSpPr>
      <p:grpSpPr>
        <a:xfrm>
          <a:off x="0" y="0"/>
          <a:ext cx="0" cy="0"/>
          <a:chOff x="0" y="0"/>
          <a:chExt cx="0" cy="0"/>
        </a:xfrm>
      </p:grpSpPr>
      <p:sp>
        <p:nvSpPr>
          <p:cNvPr id="432" name="Google Shape;432;p21"/>
          <p:cNvSpPr/>
          <p:nvPr/>
        </p:nvSpPr>
        <p:spPr>
          <a:xfrm>
            <a:off x="812721" y="812719"/>
            <a:ext cx="10883556" cy="5003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F2A43"/>
              </a:buClr>
              <a:buSzPts val="3400"/>
              <a:buFont typeface="Rubik"/>
              <a:buNone/>
            </a:pPr>
            <a:r>
              <a:rPr b="1" i="0" lang="en-US" sz="3400" u="none" cap="none" strike="noStrike">
                <a:solidFill>
                  <a:srgbClr val="0F2A43"/>
                </a:solidFill>
                <a:latin typeface="Rubik"/>
                <a:ea typeface="Rubik"/>
                <a:cs typeface="Rubik"/>
                <a:sym typeface="Rubik"/>
              </a:rPr>
              <a:t>Live proof (3 of 3): hand-off to CoCo</a:t>
            </a:r>
            <a:endParaRPr b="0" i="0" sz="3400" u="none" cap="none" strike="noStrike">
              <a:solidFill>
                <a:schemeClr val="dk1"/>
              </a:solidFill>
              <a:latin typeface="Calibri"/>
              <a:ea typeface="Calibri"/>
              <a:cs typeface="Calibri"/>
              <a:sym typeface="Calibri"/>
            </a:endParaRPr>
          </a:p>
        </p:txBody>
      </p:sp>
      <p:pic>
        <p:nvPicPr>
          <p:cNvPr descr="CoCo Assist page showing the generated hand-off prompt listing failing rules and the task for CoCo" id="433" name="Google Shape;433;p21"/>
          <p:cNvPicPr preferRelativeResize="0"/>
          <p:nvPr/>
        </p:nvPicPr>
        <p:blipFill rotWithShape="1">
          <a:blip r:embed="rId3">
            <a:alphaModFix/>
          </a:blip>
          <a:srcRect b="0" l="0" r="0" t="0"/>
          <a:stretch/>
        </p:blipFill>
        <p:spPr>
          <a:xfrm>
            <a:off x="813816" y="1508760"/>
            <a:ext cx="5126466" cy="2926080"/>
          </a:xfrm>
          <a:prstGeom prst="rect">
            <a:avLst/>
          </a:prstGeom>
          <a:noFill/>
          <a:ln cap="flat" cmpd="sng" w="12700">
            <a:solidFill>
              <a:srgbClr val="9DB6CC"/>
            </a:solidFill>
            <a:prstDash val="solid"/>
            <a:round/>
            <a:headEnd len="sm" w="sm" type="none"/>
            <a:tailEnd len="sm" w="sm" type="none"/>
          </a:ln>
          <a:effectLst>
            <a:outerShdw blurRad="152400" rotWithShape="0" algn="t" dir="5400000" dist="38100">
              <a:srgbClr val="0F2A43">
                <a:alpha val="18039"/>
              </a:srgbClr>
            </a:outerShdw>
          </a:effectLst>
        </p:spPr>
      </p:pic>
      <p:pic>
        <p:nvPicPr>
          <p:cNvPr descr="CoCo panel showing a before and after summary table where most rules are fixed and four need human decisions" id="434" name="Google Shape;434;p21"/>
          <p:cNvPicPr preferRelativeResize="0"/>
          <p:nvPr/>
        </p:nvPicPr>
        <p:blipFill rotWithShape="1">
          <a:blip r:embed="rId4">
            <a:alphaModFix/>
          </a:blip>
          <a:srcRect b="0" l="0" r="0" t="0"/>
          <a:stretch/>
        </p:blipFill>
        <p:spPr>
          <a:xfrm>
            <a:off x="6214602" y="1508760"/>
            <a:ext cx="3047494" cy="2926080"/>
          </a:xfrm>
          <a:prstGeom prst="rect">
            <a:avLst/>
          </a:prstGeom>
          <a:noFill/>
          <a:ln cap="flat" cmpd="sng" w="12700">
            <a:solidFill>
              <a:srgbClr val="9DB6CC"/>
            </a:solidFill>
            <a:prstDash val="solid"/>
            <a:round/>
            <a:headEnd len="sm" w="sm" type="none"/>
            <a:tailEnd len="sm" w="sm" type="none"/>
          </a:ln>
          <a:effectLst>
            <a:outerShdw blurRad="152400" rotWithShape="0" algn="t" dir="5400000" dist="38100">
              <a:srgbClr val="0F2A43">
                <a:alpha val="18039"/>
              </a:srgbClr>
            </a:outerShdw>
          </a:effectLst>
        </p:spPr>
      </p:pic>
      <p:sp>
        <p:nvSpPr>
          <p:cNvPr id="435" name="Google Shape;435;p21"/>
          <p:cNvSpPr/>
          <p:nvPr/>
        </p:nvSpPr>
        <p:spPr>
          <a:xfrm>
            <a:off x="9536416" y="1508760"/>
            <a:ext cx="1838720" cy="2926080"/>
          </a:xfrm>
          <a:prstGeom prst="roundRect">
            <a:avLst>
              <a:gd fmla="val 6000" name="adj"/>
            </a:avLst>
          </a:prstGeom>
          <a:solidFill>
            <a:srgbClr val="0B2239"/>
          </a:solidFill>
          <a:ln>
            <a:noFill/>
          </a:ln>
        </p:spPr>
        <p:txBody>
          <a:bodyPr anchorCtr="0" anchor="ctr" bIns="182875" lIns="182875" spcFirstLastPara="1" rIns="182875" wrap="square" tIns="182875">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3FC1F0"/>
                </a:solidFill>
                <a:latin typeface="Rubik"/>
                <a:ea typeface="Rubik"/>
                <a:cs typeface="Rubik"/>
                <a:sym typeface="Rubik"/>
              </a:rPr>
              <a:t>11 / 15</a:t>
            </a:r>
            <a:endParaRPr/>
          </a:p>
          <a:p>
            <a:pPr indent="0" lvl="0" marL="0" marR="0" rtl="0" algn="l">
              <a:lnSpc>
                <a:spcPct val="120000"/>
              </a:lnSpc>
              <a:spcBef>
                <a:spcPts val="200"/>
              </a:spcBef>
              <a:spcAft>
                <a:spcPts val="0"/>
              </a:spcAft>
              <a:buClr>
                <a:srgbClr val="000000"/>
              </a:buClr>
              <a:buSzPts val="1200"/>
              <a:buFont typeface="Arial"/>
              <a:buNone/>
            </a:pPr>
            <a:r>
              <a:rPr b="0" i="0" lang="en-US" sz="1200" u="none" cap="none" strike="noStrike">
                <a:solidFill>
                  <a:srgbClr val="EAF2F8"/>
                </a:solidFill>
                <a:latin typeface="IBM Plex Sans"/>
                <a:ea typeface="IBM Plex Sans"/>
                <a:cs typeface="IBM Plex Sans"/>
                <a:sym typeface="IBM Plex Sans"/>
              </a:rPr>
              <a:t>rules fully fixed by CoCo</a:t>
            </a:r>
            <a:endParaRPr/>
          </a:p>
          <a:p>
            <a:pPr indent="0" lvl="0" marL="0" marR="0" rtl="0" algn="l">
              <a:lnSpc>
                <a:spcPct val="100000"/>
              </a:lnSpc>
              <a:spcBef>
                <a:spcPts val="1800"/>
              </a:spcBef>
              <a:spcAft>
                <a:spcPts val="0"/>
              </a:spcAft>
              <a:buClr>
                <a:srgbClr val="000000"/>
              </a:buClr>
              <a:buSzPts val="2600"/>
              <a:buFont typeface="Arial"/>
              <a:buNone/>
            </a:pPr>
            <a:r>
              <a:rPr b="1" i="0" lang="en-US" sz="2600" u="none" cap="none" strike="noStrike">
                <a:solidFill>
                  <a:srgbClr val="3FC1F0"/>
                </a:solidFill>
                <a:latin typeface="Rubik"/>
                <a:ea typeface="Rubik"/>
                <a:cs typeface="Rubik"/>
                <a:sym typeface="Rubik"/>
              </a:rPr>
              <a:t>4</a:t>
            </a:r>
            <a:endParaRPr/>
          </a:p>
          <a:p>
            <a:pPr indent="0" lvl="0" marL="0" marR="0" rtl="0" algn="l">
              <a:lnSpc>
                <a:spcPct val="120000"/>
              </a:lnSpc>
              <a:spcBef>
                <a:spcPts val="200"/>
              </a:spcBef>
              <a:spcAft>
                <a:spcPts val="0"/>
              </a:spcAft>
              <a:buClr>
                <a:srgbClr val="000000"/>
              </a:buClr>
              <a:buSzPts val="1200"/>
              <a:buFont typeface="Arial"/>
              <a:buNone/>
            </a:pPr>
            <a:r>
              <a:rPr b="0" i="0" lang="en-US" sz="1200" u="none" cap="none" strike="noStrike">
                <a:solidFill>
                  <a:srgbClr val="EAF2F8"/>
                </a:solidFill>
                <a:latin typeface="IBM Plex Sans"/>
                <a:ea typeface="IBM Plex Sans"/>
                <a:cs typeface="IBM Plex Sans"/>
                <a:sym typeface="IBM Plex Sans"/>
              </a:rPr>
              <a:t>need a human decision</a:t>
            </a:r>
            <a:endParaRPr/>
          </a:p>
        </p:txBody>
      </p:sp>
      <p:sp>
        <p:nvSpPr>
          <p:cNvPr id="436" name="Google Shape;436;p21"/>
          <p:cNvSpPr txBox="1"/>
          <p:nvPr/>
        </p:nvSpPr>
        <p:spPr>
          <a:xfrm>
            <a:off x="813816" y="4636008"/>
            <a:ext cx="5126466" cy="14173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100"/>
              <a:buFont typeface="Arial"/>
              <a:buNone/>
            </a:pPr>
            <a:r>
              <a:rPr b="1" i="0" lang="en-US" sz="1100" u="none" cap="none" strike="noStrike">
                <a:solidFill>
                  <a:srgbClr val="0A79AD"/>
                </a:solidFill>
                <a:latin typeface="IBM Plex Sans"/>
                <a:ea typeface="IBM Plex Sans"/>
                <a:cs typeface="IBM Plex Sans"/>
                <a:sym typeface="IBM Plex Sans"/>
              </a:rPr>
              <a:t>11 · COCO ASSIST</a:t>
            </a:r>
            <a:endParaRPr/>
          </a:p>
          <a:p>
            <a:pPr indent="0" lvl="0" marL="0" marR="0" rtl="0" algn="l">
              <a:lnSpc>
                <a:spcPct val="115000"/>
              </a:lnSpc>
              <a:spcBef>
                <a:spcPts val="300"/>
              </a:spcBef>
              <a:spcAft>
                <a:spcPts val="0"/>
              </a:spcAft>
              <a:buClr>
                <a:srgbClr val="000000"/>
              </a:buClr>
              <a:buSzPts val="1500"/>
              <a:buFont typeface="Arial"/>
              <a:buNone/>
            </a:pPr>
            <a:r>
              <a:rPr b="1" i="0" lang="en-US" sz="1500" u="none" cap="none" strike="noStrike">
                <a:solidFill>
                  <a:srgbClr val="0F2A43"/>
                </a:solidFill>
                <a:latin typeface="Rubik"/>
                <a:ea typeface="Rubik"/>
                <a:cs typeface="Rubik"/>
                <a:sym typeface="Rubik"/>
              </a:rPr>
              <a:t>The app writes the prompt for CoCo</a:t>
            </a:r>
            <a:endParaRPr/>
          </a:p>
          <a:p>
            <a:pPr indent="0" lvl="0" marL="0" marR="0" rtl="0" algn="l">
              <a:lnSpc>
                <a:spcPct val="135000"/>
              </a:lnSpc>
              <a:spcBef>
                <a:spcPts val="400"/>
              </a:spcBef>
              <a:spcAft>
                <a:spcPts val="0"/>
              </a:spcAft>
              <a:buClr>
                <a:srgbClr val="000000"/>
              </a:buClr>
              <a:buSzPts val="1200"/>
              <a:buFont typeface="Arial"/>
              <a:buNone/>
            </a:pPr>
            <a:r>
              <a:rPr b="0" i="0" lang="en-US" sz="1200" u="none" cap="none" strike="noStrike">
                <a:solidFill>
                  <a:srgbClr val="4F6479"/>
                </a:solidFill>
                <a:latin typeface="IBM Plex Sans"/>
                <a:ea typeface="IBM Plex Sans"/>
                <a:cs typeface="IBM Plex Sans"/>
                <a:sym typeface="IBM Plex Sans"/>
              </a:rPr>
              <a:t>Built from the live scan: every failing rule with its bad-row count, the sandbox clone as the only target, and a request to preview, prefer NULL and report before and after.</a:t>
            </a:r>
            <a:endParaRPr/>
          </a:p>
        </p:txBody>
      </p:sp>
      <p:sp>
        <p:nvSpPr>
          <p:cNvPr id="437" name="Google Shape;437;p21"/>
          <p:cNvSpPr txBox="1"/>
          <p:nvPr/>
        </p:nvSpPr>
        <p:spPr>
          <a:xfrm>
            <a:off x="6214602" y="4636008"/>
            <a:ext cx="5160534" cy="14173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100"/>
              <a:buFont typeface="Arial"/>
              <a:buNone/>
            </a:pPr>
            <a:r>
              <a:rPr b="1" i="0" lang="en-US" sz="1100" u="none" cap="none" strike="noStrike">
                <a:solidFill>
                  <a:srgbClr val="0A79AD"/>
                </a:solidFill>
                <a:latin typeface="IBM Plex Sans"/>
                <a:ea typeface="IBM Plex Sans"/>
                <a:cs typeface="IBM Plex Sans"/>
                <a:sym typeface="IBM Plex Sans"/>
              </a:rPr>
              <a:t>12 · COCO IN SNOWSIGHT</a:t>
            </a:r>
            <a:endParaRPr/>
          </a:p>
          <a:p>
            <a:pPr indent="0" lvl="0" marL="0" marR="0" rtl="0" algn="l">
              <a:lnSpc>
                <a:spcPct val="115000"/>
              </a:lnSpc>
              <a:spcBef>
                <a:spcPts val="300"/>
              </a:spcBef>
              <a:spcAft>
                <a:spcPts val="0"/>
              </a:spcAft>
              <a:buClr>
                <a:srgbClr val="000000"/>
              </a:buClr>
              <a:buSzPts val="1500"/>
              <a:buFont typeface="Arial"/>
              <a:buNone/>
            </a:pPr>
            <a:r>
              <a:rPr b="1" i="0" lang="en-US" sz="1500" u="none" cap="none" strike="noStrike">
                <a:solidFill>
                  <a:srgbClr val="0F2A43"/>
                </a:solidFill>
                <a:latin typeface="Rubik"/>
                <a:ea typeface="Rubik"/>
                <a:cs typeface="Rubik"/>
                <a:sym typeface="Rubik"/>
              </a:rPr>
              <a:t>CoCo fixed 11 of 15 rules</a:t>
            </a:r>
            <a:endParaRPr/>
          </a:p>
          <a:p>
            <a:pPr indent="0" lvl="0" marL="0" marR="0" rtl="0" algn="l">
              <a:lnSpc>
                <a:spcPct val="135000"/>
              </a:lnSpc>
              <a:spcBef>
                <a:spcPts val="400"/>
              </a:spcBef>
              <a:spcAft>
                <a:spcPts val="0"/>
              </a:spcAft>
              <a:buClr>
                <a:srgbClr val="000000"/>
              </a:buClr>
              <a:buSzPts val="1200"/>
              <a:buFont typeface="Arial"/>
              <a:buNone/>
            </a:pPr>
            <a:r>
              <a:rPr b="0" i="0" lang="en-US" sz="1200" u="none" cap="none" strike="noStrike">
                <a:solidFill>
                  <a:srgbClr val="4F6479"/>
                </a:solidFill>
                <a:latin typeface="IBM Plex Sans"/>
                <a:ea typeface="IBM Plex Sans"/>
                <a:cs typeface="IBM Plex Sans"/>
                <a:sym typeface="IBM Plex Sans"/>
              </a:rPr>
              <a:t>Its summary shows 100 duplicates removed and STATE, PHONE, COUNTRY and PINCODE checks down to zero. Four rules, such as missing values, need a human decision.</a:t>
            </a:r>
            <a:endParaRPr/>
          </a:p>
        </p:txBody>
      </p:sp>
      <p:sp>
        <p:nvSpPr>
          <p:cNvPr id="438" name="Google Shape;438;p21"/>
          <p:cNvSpPr/>
          <p:nvPr/>
        </p:nvSpPr>
        <p:spPr>
          <a:xfrm>
            <a:off x="812721" y="6238280"/>
            <a:ext cx="719446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Agentic Data Quality Guardian · CoCoQuest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443" name="Shape 443"/>
        <p:cNvGrpSpPr/>
        <p:nvPr/>
      </p:nvGrpSpPr>
      <p:grpSpPr>
        <a:xfrm>
          <a:off x="0" y="0"/>
          <a:ext cx="0" cy="0"/>
          <a:chOff x="0" y="0"/>
          <a:chExt cx="0" cy="0"/>
        </a:xfrm>
      </p:grpSpPr>
      <p:sp>
        <p:nvSpPr>
          <p:cNvPr id="444" name="Google Shape;444;p16"/>
          <p:cNvSpPr/>
          <p:nvPr/>
        </p:nvSpPr>
        <p:spPr>
          <a:xfrm>
            <a:off x="812721" y="812719"/>
            <a:ext cx="10883556" cy="5003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0F2A43"/>
              </a:buClr>
              <a:buSzPts val="3400"/>
              <a:buFont typeface="Rubik"/>
              <a:buNone/>
            </a:pPr>
            <a:r>
              <a:rPr b="1" i="0" lang="en-US" sz="3400" u="none" cap="none" strike="noStrike">
                <a:solidFill>
                  <a:srgbClr val="0F2A43"/>
                </a:solidFill>
                <a:latin typeface="Rubik"/>
                <a:ea typeface="Rubik"/>
                <a:cs typeface="Rubik"/>
                <a:sym typeface="Rubik"/>
              </a:rPr>
              <a:t>What comes next</a:t>
            </a:r>
            <a:endParaRPr b="0" i="0" sz="3400" u="none" cap="none" strike="noStrike">
              <a:solidFill>
                <a:schemeClr val="dk1"/>
              </a:solidFill>
              <a:latin typeface="Calibri"/>
              <a:ea typeface="Calibri"/>
              <a:cs typeface="Calibri"/>
              <a:sym typeface="Calibri"/>
            </a:endParaRPr>
          </a:p>
        </p:txBody>
      </p:sp>
      <p:sp>
        <p:nvSpPr>
          <p:cNvPr id="445" name="Google Shape;445;p16"/>
          <p:cNvSpPr/>
          <p:nvPr/>
        </p:nvSpPr>
        <p:spPr>
          <a:xfrm>
            <a:off x="815896" y="1544793"/>
            <a:ext cx="10560209" cy="643850"/>
          </a:xfrm>
          <a:prstGeom prst="roundRect">
            <a:avLst>
              <a:gd fmla="val 19232" name="adj"/>
            </a:avLst>
          </a:prstGeom>
          <a:solidFill>
            <a:srgbClr val="FAFCFD"/>
          </a:solidFill>
          <a:ln cap="flat" cmpd="sng" w="9525">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16"/>
          <p:cNvSpPr/>
          <p:nvPr/>
        </p:nvSpPr>
        <p:spPr>
          <a:xfrm>
            <a:off x="998101" y="1663545"/>
            <a:ext cx="406360" cy="406360"/>
          </a:xfrm>
          <a:prstGeom prst="roundRect">
            <a:avLst>
              <a:gd fmla="val 50000" name="adj"/>
            </a:avLst>
          </a:prstGeom>
          <a:solidFill>
            <a:srgbClr val="DDF1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Clock" id="447" name="Google Shape;447;p16"/>
          <p:cNvPicPr preferRelativeResize="0"/>
          <p:nvPr/>
        </p:nvPicPr>
        <p:blipFill rotWithShape="1">
          <a:blip r:embed="rId3">
            <a:alphaModFix/>
          </a:blip>
          <a:srcRect b="0" l="0" r="0" t="0"/>
          <a:stretch/>
        </p:blipFill>
        <p:spPr>
          <a:xfrm>
            <a:off x="1093351" y="1758795"/>
            <a:ext cx="215860" cy="215860"/>
          </a:xfrm>
          <a:prstGeom prst="rect">
            <a:avLst/>
          </a:prstGeom>
          <a:noFill/>
          <a:ln>
            <a:noFill/>
          </a:ln>
        </p:spPr>
      </p:pic>
      <p:sp>
        <p:nvSpPr>
          <p:cNvPr id="448" name="Google Shape;448;p16"/>
          <p:cNvSpPr/>
          <p:nvPr/>
        </p:nvSpPr>
        <p:spPr>
          <a:xfrm>
            <a:off x="1582222" y="1724502"/>
            <a:ext cx="3008589" cy="3098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600"/>
              <a:buFont typeface="IBM Plex Sans"/>
              <a:buNone/>
            </a:pPr>
            <a:r>
              <a:rPr b="1" i="0" lang="en-US" sz="1600" u="none" cap="none" strike="noStrike">
                <a:solidFill>
                  <a:srgbClr val="0F2A43"/>
                </a:solidFill>
                <a:latin typeface="IBM Plex Sans"/>
                <a:ea typeface="IBM Plex Sans"/>
                <a:cs typeface="IBM Plex Sans"/>
                <a:sym typeface="IBM Plex Sans"/>
              </a:rPr>
              <a:t>Scheduled scans</a:t>
            </a:r>
            <a:endParaRPr b="0" i="0" sz="1600" u="none" cap="none" strike="noStrike">
              <a:solidFill>
                <a:schemeClr val="dk1"/>
              </a:solidFill>
              <a:latin typeface="Calibri"/>
              <a:ea typeface="Calibri"/>
              <a:cs typeface="Calibri"/>
              <a:sym typeface="Calibri"/>
            </a:endParaRPr>
          </a:p>
        </p:txBody>
      </p:sp>
      <p:sp>
        <p:nvSpPr>
          <p:cNvPr id="449" name="Google Shape;449;p16"/>
          <p:cNvSpPr/>
          <p:nvPr/>
        </p:nvSpPr>
        <p:spPr>
          <a:xfrm>
            <a:off x="4680942" y="1751168"/>
            <a:ext cx="6708346" cy="25638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F6479"/>
              </a:buClr>
              <a:buSzPts val="1400"/>
              <a:buFont typeface="IBM Plex Sans"/>
              <a:buNone/>
            </a:pPr>
            <a:r>
              <a:rPr b="0" i="0" lang="en-US" sz="1400" u="none" cap="none" strike="noStrike">
                <a:solidFill>
                  <a:srgbClr val="4F6479"/>
                </a:solidFill>
                <a:latin typeface="IBM Plex Sans"/>
                <a:ea typeface="IBM Plex Sans"/>
                <a:cs typeface="IBM Plex Sans"/>
                <a:sym typeface="IBM Plex Sans"/>
              </a:rPr>
              <a:t>Turn the scan into a stored procedure and a daily Task.</a:t>
            </a:r>
            <a:endParaRPr b="0" i="0" sz="1400" u="none" cap="none" strike="noStrike">
              <a:solidFill>
                <a:schemeClr val="dk1"/>
              </a:solidFill>
              <a:latin typeface="Calibri"/>
              <a:ea typeface="Calibri"/>
              <a:cs typeface="Calibri"/>
              <a:sym typeface="Calibri"/>
            </a:endParaRPr>
          </a:p>
        </p:txBody>
      </p:sp>
      <p:sp>
        <p:nvSpPr>
          <p:cNvPr id="450" name="Google Shape;450;p16"/>
          <p:cNvSpPr/>
          <p:nvPr/>
        </p:nvSpPr>
        <p:spPr>
          <a:xfrm>
            <a:off x="815896" y="2296561"/>
            <a:ext cx="10560209" cy="643850"/>
          </a:xfrm>
          <a:prstGeom prst="roundRect">
            <a:avLst>
              <a:gd fmla="val 19232" name="adj"/>
            </a:avLst>
          </a:prstGeom>
          <a:solidFill>
            <a:srgbClr val="FAFCFD"/>
          </a:solidFill>
          <a:ln cap="flat" cmpd="sng" w="9525">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16"/>
          <p:cNvSpPr/>
          <p:nvPr/>
        </p:nvSpPr>
        <p:spPr>
          <a:xfrm>
            <a:off x="998101" y="2415301"/>
            <a:ext cx="406360" cy="406360"/>
          </a:xfrm>
          <a:prstGeom prst="roundRect">
            <a:avLst>
              <a:gd fmla="val 50000" name="adj"/>
            </a:avLst>
          </a:prstGeom>
          <a:solidFill>
            <a:srgbClr val="DDF1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Warning" id="452" name="Google Shape;452;p16"/>
          <p:cNvPicPr preferRelativeResize="0"/>
          <p:nvPr/>
        </p:nvPicPr>
        <p:blipFill rotWithShape="1">
          <a:blip r:embed="rId4">
            <a:alphaModFix/>
          </a:blip>
          <a:srcRect b="0" l="0" r="0" t="0"/>
          <a:stretch/>
        </p:blipFill>
        <p:spPr>
          <a:xfrm>
            <a:off x="1093351" y="2510551"/>
            <a:ext cx="215860" cy="215860"/>
          </a:xfrm>
          <a:prstGeom prst="rect">
            <a:avLst/>
          </a:prstGeom>
          <a:noFill/>
          <a:ln>
            <a:noFill/>
          </a:ln>
        </p:spPr>
      </p:pic>
      <p:sp>
        <p:nvSpPr>
          <p:cNvPr id="453" name="Google Shape;453;p16"/>
          <p:cNvSpPr/>
          <p:nvPr/>
        </p:nvSpPr>
        <p:spPr>
          <a:xfrm>
            <a:off x="1582222" y="2476258"/>
            <a:ext cx="3008589" cy="3098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600"/>
              <a:buFont typeface="IBM Plex Sans"/>
              <a:buNone/>
            </a:pPr>
            <a:r>
              <a:rPr b="1" i="0" lang="en-US" sz="1600" u="none" cap="none" strike="noStrike">
                <a:solidFill>
                  <a:srgbClr val="0F2A43"/>
                </a:solidFill>
                <a:latin typeface="IBM Plex Sans"/>
                <a:ea typeface="IBM Plex Sans"/>
                <a:cs typeface="IBM Plex Sans"/>
                <a:sym typeface="IBM Plex Sans"/>
              </a:rPr>
              <a:t>Alerts</a:t>
            </a:r>
            <a:endParaRPr b="0" i="0" sz="1600" u="none" cap="none" strike="noStrike">
              <a:solidFill>
                <a:schemeClr val="dk1"/>
              </a:solidFill>
              <a:latin typeface="Calibri"/>
              <a:ea typeface="Calibri"/>
              <a:cs typeface="Calibri"/>
              <a:sym typeface="Calibri"/>
            </a:endParaRPr>
          </a:p>
        </p:txBody>
      </p:sp>
      <p:sp>
        <p:nvSpPr>
          <p:cNvPr id="454" name="Google Shape;454;p16"/>
          <p:cNvSpPr/>
          <p:nvPr/>
        </p:nvSpPr>
        <p:spPr>
          <a:xfrm>
            <a:off x="4680942" y="2502936"/>
            <a:ext cx="6708346" cy="25638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F6479"/>
              </a:buClr>
              <a:buSzPts val="1400"/>
              <a:buFont typeface="IBM Plex Sans"/>
              <a:buNone/>
            </a:pPr>
            <a:r>
              <a:rPr b="0" i="0" lang="en-US" sz="1400" u="none" cap="none" strike="noStrike">
                <a:solidFill>
                  <a:srgbClr val="4F6479"/>
                </a:solidFill>
                <a:latin typeface="IBM Plex Sans"/>
                <a:ea typeface="IBM Plex Sans"/>
                <a:cs typeface="IBM Plex Sans"/>
                <a:sym typeface="IBM Plex Sans"/>
              </a:rPr>
              <a:t>Email the owner when a table score drops below a threshold.</a:t>
            </a:r>
            <a:endParaRPr b="0" i="0" sz="1400" u="none" cap="none" strike="noStrike">
              <a:solidFill>
                <a:schemeClr val="dk1"/>
              </a:solidFill>
              <a:latin typeface="Calibri"/>
              <a:ea typeface="Calibri"/>
              <a:cs typeface="Calibri"/>
              <a:sym typeface="Calibri"/>
            </a:endParaRPr>
          </a:p>
        </p:txBody>
      </p:sp>
      <p:sp>
        <p:nvSpPr>
          <p:cNvPr id="455" name="Google Shape;455;p16"/>
          <p:cNvSpPr/>
          <p:nvPr/>
        </p:nvSpPr>
        <p:spPr>
          <a:xfrm>
            <a:off x="815896" y="3048316"/>
            <a:ext cx="10560209" cy="643850"/>
          </a:xfrm>
          <a:prstGeom prst="roundRect">
            <a:avLst>
              <a:gd fmla="val 19232" name="adj"/>
            </a:avLst>
          </a:prstGeom>
          <a:solidFill>
            <a:srgbClr val="FAFCFD"/>
          </a:solidFill>
          <a:ln cap="flat" cmpd="sng" w="9525">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16"/>
          <p:cNvSpPr/>
          <p:nvPr/>
        </p:nvSpPr>
        <p:spPr>
          <a:xfrm>
            <a:off x="998101" y="3167056"/>
            <a:ext cx="406360" cy="406360"/>
          </a:xfrm>
          <a:prstGeom prst="roundRect">
            <a:avLst>
              <a:gd fmla="val 50000" name="adj"/>
            </a:avLst>
          </a:prstGeom>
          <a:solidFill>
            <a:srgbClr val="DDF1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ightning" id="457" name="Google Shape;457;p16"/>
          <p:cNvPicPr preferRelativeResize="0"/>
          <p:nvPr/>
        </p:nvPicPr>
        <p:blipFill rotWithShape="1">
          <a:blip r:embed="rId5">
            <a:alphaModFix/>
          </a:blip>
          <a:srcRect b="0" l="0" r="0" t="0"/>
          <a:stretch/>
        </p:blipFill>
        <p:spPr>
          <a:xfrm>
            <a:off x="1093351" y="3262306"/>
            <a:ext cx="215860" cy="215860"/>
          </a:xfrm>
          <a:prstGeom prst="rect">
            <a:avLst/>
          </a:prstGeom>
          <a:noFill/>
          <a:ln>
            <a:noFill/>
          </a:ln>
        </p:spPr>
      </p:pic>
      <p:sp>
        <p:nvSpPr>
          <p:cNvPr id="458" name="Google Shape;458;p16"/>
          <p:cNvSpPr/>
          <p:nvPr/>
        </p:nvSpPr>
        <p:spPr>
          <a:xfrm>
            <a:off x="1582222" y="3228026"/>
            <a:ext cx="3008589" cy="3098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600"/>
              <a:buFont typeface="IBM Plex Sans"/>
              <a:buNone/>
            </a:pPr>
            <a:r>
              <a:rPr b="1" i="0" lang="en-US" sz="1600" u="none" cap="none" strike="noStrike">
                <a:solidFill>
                  <a:srgbClr val="0F2A43"/>
                </a:solidFill>
                <a:latin typeface="IBM Plex Sans"/>
                <a:ea typeface="IBM Plex Sans"/>
                <a:cs typeface="IBM Plex Sans"/>
                <a:sym typeface="IBM Plex Sans"/>
              </a:rPr>
              <a:t>Freshness rules</a:t>
            </a:r>
            <a:endParaRPr b="0" i="0" sz="1600" u="none" cap="none" strike="noStrike">
              <a:solidFill>
                <a:schemeClr val="dk1"/>
              </a:solidFill>
              <a:latin typeface="Calibri"/>
              <a:ea typeface="Calibri"/>
              <a:cs typeface="Calibri"/>
              <a:sym typeface="Calibri"/>
            </a:endParaRPr>
          </a:p>
        </p:txBody>
      </p:sp>
      <p:sp>
        <p:nvSpPr>
          <p:cNvPr id="459" name="Google Shape;459;p16"/>
          <p:cNvSpPr/>
          <p:nvPr/>
        </p:nvSpPr>
        <p:spPr>
          <a:xfrm>
            <a:off x="4680942" y="3254691"/>
            <a:ext cx="6708346" cy="25638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F6479"/>
              </a:buClr>
              <a:buSzPts val="1400"/>
              <a:buFont typeface="IBM Plex Sans"/>
              <a:buNone/>
            </a:pPr>
            <a:r>
              <a:rPr b="0" i="0" lang="en-US" sz="1400" u="none" cap="none" strike="noStrike">
                <a:solidFill>
                  <a:srgbClr val="4F6479"/>
                </a:solidFill>
                <a:latin typeface="IBM Plex Sans"/>
                <a:ea typeface="IBM Plex Sans"/>
                <a:cs typeface="IBM Plex Sans"/>
                <a:sym typeface="IBM Plex Sans"/>
              </a:rPr>
              <a:t>Flag tables that have stopped updating.</a:t>
            </a:r>
            <a:endParaRPr b="0" i="0" sz="1400" u="none" cap="none" strike="noStrike">
              <a:solidFill>
                <a:schemeClr val="dk1"/>
              </a:solidFill>
              <a:latin typeface="Calibri"/>
              <a:ea typeface="Calibri"/>
              <a:cs typeface="Calibri"/>
              <a:sym typeface="Calibri"/>
            </a:endParaRPr>
          </a:p>
        </p:txBody>
      </p:sp>
      <p:sp>
        <p:nvSpPr>
          <p:cNvPr id="460" name="Google Shape;460;p16"/>
          <p:cNvSpPr/>
          <p:nvPr/>
        </p:nvSpPr>
        <p:spPr>
          <a:xfrm>
            <a:off x="815896" y="3800072"/>
            <a:ext cx="10560209" cy="643850"/>
          </a:xfrm>
          <a:prstGeom prst="roundRect">
            <a:avLst>
              <a:gd fmla="val 19232" name="adj"/>
            </a:avLst>
          </a:prstGeom>
          <a:solidFill>
            <a:srgbClr val="FAFCFD"/>
          </a:solidFill>
          <a:ln cap="flat" cmpd="sng" w="9525">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16"/>
          <p:cNvSpPr/>
          <p:nvPr/>
        </p:nvSpPr>
        <p:spPr>
          <a:xfrm>
            <a:off x="998101" y="3918824"/>
            <a:ext cx="406360" cy="406360"/>
          </a:xfrm>
          <a:prstGeom prst="roundRect">
            <a:avLst>
              <a:gd fmla="val 50000" name="adj"/>
            </a:avLst>
          </a:prstGeom>
          <a:solidFill>
            <a:srgbClr val="DDF1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Chart" id="462" name="Google Shape;462;p16"/>
          <p:cNvPicPr preferRelativeResize="0"/>
          <p:nvPr/>
        </p:nvPicPr>
        <p:blipFill rotWithShape="1">
          <a:blip r:embed="rId6">
            <a:alphaModFix/>
          </a:blip>
          <a:srcRect b="0" l="0" r="0" t="0"/>
          <a:stretch/>
        </p:blipFill>
        <p:spPr>
          <a:xfrm>
            <a:off x="1093351" y="4014074"/>
            <a:ext cx="215860" cy="215860"/>
          </a:xfrm>
          <a:prstGeom prst="rect">
            <a:avLst/>
          </a:prstGeom>
          <a:noFill/>
          <a:ln>
            <a:noFill/>
          </a:ln>
        </p:spPr>
      </p:pic>
      <p:sp>
        <p:nvSpPr>
          <p:cNvPr id="463" name="Google Shape;463;p16"/>
          <p:cNvSpPr/>
          <p:nvPr/>
        </p:nvSpPr>
        <p:spPr>
          <a:xfrm>
            <a:off x="1582222" y="3979782"/>
            <a:ext cx="3008589" cy="3098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600"/>
              <a:buFont typeface="IBM Plex Sans"/>
              <a:buNone/>
            </a:pPr>
            <a:r>
              <a:rPr b="1" i="0" lang="en-US" sz="1600" u="none" cap="none" strike="noStrike">
                <a:solidFill>
                  <a:srgbClr val="0F2A43"/>
                </a:solidFill>
                <a:latin typeface="IBM Plex Sans"/>
                <a:ea typeface="IBM Plex Sans"/>
                <a:cs typeface="IBM Plex Sans"/>
                <a:sym typeface="IBM Plex Sans"/>
              </a:rPr>
              <a:t>Snowflake data metrics</a:t>
            </a:r>
            <a:endParaRPr b="0" i="0" sz="1600" u="none" cap="none" strike="noStrike">
              <a:solidFill>
                <a:schemeClr val="dk1"/>
              </a:solidFill>
              <a:latin typeface="Calibri"/>
              <a:ea typeface="Calibri"/>
              <a:cs typeface="Calibri"/>
              <a:sym typeface="Calibri"/>
            </a:endParaRPr>
          </a:p>
        </p:txBody>
      </p:sp>
      <p:sp>
        <p:nvSpPr>
          <p:cNvPr id="464" name="Google Shape;464;p16"/>
          <p:cNvSpPr/>
          <p:nvPr/>
        </p:nvSpPr>
        <p:spPr>
          <a:xfrm>
            <a:off x="4680942" y="4006447"/>
            <a:ext cx="6708346" cy="25638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F6479"/>
              </a:buClr>
              <a:buSzPts val="1400"/>
              <a:buFont typeface="IBM Plex Sans"/>
              <a:buNone/>
            </a:pPr>
            <a:r>
              <a:rPr b="0" i="0" lang="en-US" sz="1400" u="none" cap="none" strike="noStrike">
                <a:solidFill>
                  <a:srgbClr val="4F6479"/>
                </a:solidFill>
                <a:latin typeface="IBM Plex Sans"/>
                <a:ea typeface="IBM Plex Sans"/>
                <a:cs typeface="IBM Plex Sans"/>
                <a:sym typeface="IBM Plex Sans"/>
              </a:rPr>
              <a:t>Compare and combine with built-in data metric functions.</a:t>
            </a:r>
            <a:endParaRPr b="0" i="0" sz="1400" u="none" cap="none" strike="noStrike">
              <a:solidFill>
                <a:schemeClr val="dk1"/>
              </a:solidFill>
              <a:latin typeface="Calibri"/>
              <a:ea typeface="Calibri"/>
              <a:cs typeface="Calibri"/>
              <a:sym typeface="Calibri"/>
            </a:endParaRPr>
          </a:p>
        </p:txBody>
      </p:sp>
      <p:sp>
        <p:nvSpPr>
          <p:cNvPr id="465" name="Google Shape;465;p16"/>
          <p:cNvSpPr/>
          <p:nvPr/>
        </p:nvSpPr>
        <p:spPr>
          <a:xfrm>
            <a:off x="815896" y="4551840"/>
            <a:ext cx="10560209" cy="643850"/>
          </a:xfrm>
          <a:prstGeom prst="roundRect">
            <a:avLst>
              <a:gd fmla="val 19232" name="adj"/>
            </a:avLst>
          </a:prstGeom>
          <a:solidFill>
            <a:srgbClr val="FAFCFD"/>
          </a:solidFill>
          <a:ln cap="flat" cmpd="sng" w="9525">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16"/>
          <p:cNvSpPr/>
          <p:nvPr/>
        </p:nvSpPr>
        <p:spPr>
          <a:xfrm>
            <a:off x="998101" y="4670580"/>
            <a:ext cx="406360" cy="406360"/>
          </a:xfrm>
          <a:prstGeom prst="roundRect">
            <a:avLst>
              <a:gd fmla="val 50000" name="adj"/>
            </a:avLst>
          </a:prstGeom>
          <a:solidFill>
            <a:srgbClr val="DDF1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Verified" id="467" name="Google Shape;467;p16"/>
          <p:cNvPicPr preferRelativeResize="0"/>
          <p:nvPr/>
        </p:nvPicPr>
        <p:blipFill rotWithShape="1">
          <a:blip r:embed="rId7">
            <a:alphaModFix/>
          </a:blip>
          <a:srcRect b="0" l="0" r="0" t="0"/>
          <a:stretch/>
        </p:blipFill>
        <p:spPr>
          <a:xfrm>
            <a:off x="1093351" y="4765830"/>
            <a:ext cx="215860" cy="215860"/>
          </a:xfrm>
          <a:prstGeom prst="rect">
            <a:avLst/>
          </a:prstGeom>
          <a:noFill/>
          <a:ln>
            <a:noFill/>
          </a:ln>
        </p:spPr>
      </p:pic>
      <p:sp>
        <p:nvSpPr>
          <p:cNvPr id="468" name="Google Shape;468;p16"/>
          <p:cNvSpPr/>
          <p:nvPr/>
        </p:nvSpPr>
        <p:spPr>
          <a:xfrm>
            <a:off x="1582222" y="4731538"/>
            <a:ext cx="3008589" cy="30984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600"/>
              <a:buFont typeface="IBM Plex Sans"/>
              <a:buNone/>
            </a:pPr>
            <a:r>
              <a:rPr b="1" i="0" lang="en-US" sz="1600" u="none" cap="none" strike="noStrike">
                <a:solidFill>
                  <a:srgbClr val="0F2A43"/>
                </a:solidFill>
                <a:latin typeface="IBM Plex Sans"/>
                <a:ea typeface="IBM Plex Sans"/>
                <a:cs typeface="IBM Plex Sans"/>
                <a:sym typeface="IBM Plex Sans"/>
              </a:rPr>
              <a:t>Promote to production</a:t>
            </a:r>
            <a:endParaRPr b="0" i="0" sz="1600" u="none" cap="none" strike="noStrike">
              <a:solidFill>
                <a:schemeClr val="dk1"/>
              </a:solidFill>
              <a:latin typeface="Calibri"/>
              <a:ea typeface="Calibri"/>
              <a:cs typeface="Calibri"/>
              <a:sym typeface="Calibri"/>
            </a:endParaRPr>
          </a:p>
        </p:txBody>
      </p:sp>
      <p:sp>
        <p:nvSpPr>
          <p:cNvPr id="469" name="Google Shape;469;p16"/>
          <p:cNvSpPr/>
          <p:nvPr/>
        </p:nvSpPr>
        <p:spPr>
          <a:xfrm>
            <a:off x="4680942" y="4758215"/>
            <a:ext cx="6708346" cy="25638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4F6479"/>
              </a:buClr>
              <a:buSzPts val="1400"/>
              <a:buFont typeface="IBM Plex Sans"/>
              <a:buNone/>
            </a:pPr>
            <a:r>
              <a:rPr b="0" i="0" lang="en-US" sz="1400" u="none" cap="none" strike="noStrike">
                <a:solidFill>
                  <a:srgbClr val="4F6479"/>
                </a:solidFill>
                <a:latin typeface="IBM Plex Sans"/>
                <a:ea typeface="IBM Plex Sans"/>
                <a:cs typeface="IBM Plex Sans"/>
                <a:sym typeface="IBM Plex Sans"/>
              </a:rPr>
              <a:t>A reviewed, approved step to publish cleaned tables.</a:t>
            </a:r>
            <a:endParaRPr b="0" i="0" sz="1400" u="none" cap="none" strike="noStrike">
              <a:solidFill>
                <a:schemeClr val="dk1"/>
              </a:solidFill>
              <a:latin typeface="Calibri"/>
              <a:ea typeface="Calibri"/>
              <a:cs typeface="Calibri"/>
              <a:sym typeface="Calibri"/>
            </a:endParaRPr>
          </a:p>
        </p:txBody>
      </p:sp>
      <p:sp>
        <p:nvSpPr>
          <p:cNvPr id="470" name="Google Shape;470;p16"/>
          <p:cNvSpPr/>
          <p:nvPr/>
        </p:nvSpPr>
        <p:spPr>
          <a:xfrm>
            <a:off x="812721" y="5452821"/>
            <a:ext cx="10883556"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F2A43"/>
              </a:buClr>
              <a:buSzPts val="1400"/>
              <a:buFont typeface="IBM Plex Sans"/>
              <a:buNone/>
            </a:pPr>
            <a:r>
              <a:rPr b="0" i="0" lang="en-US" sz="1400" u="none" cap="none" strike="noStrike">
                <a:solidFill>
                  <a:srgbClr val="0F2A43"/>
                </a:solidFill>
                <a:latin typeface="IBM Plex Sans"/>
                <a:ea typeface="IBM Plex Sans"/>
                <a:cs typeface="IBM Plex Sans"/>
                <a:sym typeface="IBM Plex Sans"/>
              </a:rPr>
              <a:t>Each one has a ready-made CoCo prompt in COCO_PROMPTS.md.</a:t>
            </a:r>
            <a:endParaRPr b="0" i="0" sz="1400" u="none" cap="none" strike="noStrike">
              <a:solidFill>
                <a:schemeClr val="dk1"/>
              </a:solidFill>
              <a:latin typeface="Calibri"/>
              <a:ea typeface="Calibri"/>
              <a:cs typeface="Calibri"/>
              <a:sym typeface="Calibri"/>
            </a:endParaRPr>
          </a:p>
        </p:txBody>
      </p:sp>
      <p:sp>
        <p:nvSpPr>
          <p:cNvPr id="471" name="Google Shape;471;p16"/>
          <p:cNvSpPr/>
          <p:nvPr/>
        </p:nvSpPr>
        <p:spPr>
          <a:xfrm>
            <a:off x="812721" y="6238273"/>
            <a:ext cx="7194469" cy="2387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F6479"/>
              </a:buClr>
              <a:buSzPts val="1200"/>
              <a:buFont typeface="IBM Plex Sans"/>
              <a:buNone/>
            </a:pPr>
            <a:r>
              <a:rPr b="0" i="0" lang="en-US" sz="1200" u="none" cap="none" strike="noStrike">
                <a:solidFill>
                  <a:srgbClr val="4F6479"/>
                </a:solidFill>
                <a:latin typeface="IBM Plex Sans"/>
                <a:ea typeface="IBM Plex Sans"/>
                <a:cs typeface="IBM Plex Sans"/>
                <a:sym typeface="IBM Plex Sans"/>
              </a:rPr>
              <a:t>Agentic Data Quality Guardian · CoCoQuest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4770"/>
        </a:solidFill>
      </p:bgPr>
    </p:bg>
    <p:spTree>
      <p:nvGrpSpPr>
        <p:cNvPr id="476" name="Shape 476"/>
        <p:cNvGrpSpPr/>
        <p:nvPr/>
      </p:nvGrpSpPr>
      <p:grpSpPr>
        <a:xfrm>
          <a:off x="0" y="0"/>
          <a:ext cx="0" cy="0"/>
          <a:chOff x="0" y="0"/>
          <a:chExt cx="0" cy="0"/>
        </a:xfrm>
      </p:grpSpPr>
      <p:sp>
        <p:nvSpPr>
          <p:cNvPr id="477" name="Google Shape;477;p17"/>
          <p:cNvSpPr/>
          <p:nvPr/>
        </p:nvSpPr>
        <p:spPr>
          <a:xfrm>
            <a:off x="0" y="0"/>
            <a:ext cx="12192001" cy="6858000"/>
          </a:xfrm>
          <a:prstGeom prst="rect">
            <a:avLst/>
          </a:prstGeom>
          <a:gradFill>
            <a:gsLst>
              <a:gs pos="0">
                <a:srgbClr val="1B4770"/>
              </a:gs>
              <a:gs pos="62000">
                <a:srgbClr val="0B2239"/>
              </a:gs>
              <a:gs pos="100000">
                <a:srgbClr val="0B2239"/>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17"/>
          <p:cNvSpPr/>
          <p:nvPr/>
        </p:nvSpPr>
        <p:spPr>
          <a:xfrm>
            <a:off x="812721" y="1468165"/>
            <a:ext cx="9156619" cy="145176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F2F6F9"/>
              </a:buClr>
              <a:buSzPts val="5200"/>
              <a:buFont typeface="Rubik"/>
              <a:buNone/>
            </a:pPr>
            <a:r>
              <a:rPr b="1" i="0" lang="en-US" sz="5200" u="none" cap="none" strike="noStrike">
                <a:solidFill>
                  <a:srgbClr val="F2F6F9"/>
                </a:solidFill>
                <a:latin typeface="Rubik"/>
                <a:ea typeface="Rubik"/>
                <a:cs typeface="Rubik"/>
                <a:sym typeface="Rubik"/>
              </a:rPr>
              <a:t>Clean data, with a human in charge.</a:t>
            </a:r>
            <a:endParaRPr b="0" i="0" sz="5200" u="none" cap="none" strike="noStrike">
              <a:solidFill>
                <a:schemeClr val="dk1"/>
              </a:solidFill>
              <a:latin typeface="Calibri"/>
              <a:ea typeface="Calibri"/>
              <a:cs typeface="Calibri"/>
              <a:sym typeface="Calibri"/>
            </a:endParaRPr>
          </a:p>
        </p:txBody>
      </p:sp>
      <p:sp>
        <p:nvSpPr>
          <p:cNvPr id="479" name="Google Shape;479;p17"/>
          <p:cNvSpPr/>
          <p:nvPr/>
        </p:nvSpPr>
        <p:spPr>
          <a:xfrm>
            <a:off x="815896" y="3151671"/>
            <a:ext cx="3380383" cy="1211421"/>
          </a:xfrm>
          <a:prstGeom prst="roundRect">
            <a:avLst>
              <a:gd fmla="val 12318"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17"/>
          <p:cNvSpPr/>
          <p:nvPr/>
        </p:nvSpPr>
        <p:spPr>
          <a:xfrm>
            <a:off x="1023461" y="3359237"/>
            <a:ext cx="3054209" cy="299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800"/>
              <a:buFont typeface="Rubik"/>
              <a:buNone/>
            </a:pPr>
            <a:r>
              <a:rPr b="1" i="0" lang="en-US" sz="1800" u="none" cap="none" strike="noStrike">
                <a:solidFill>
                  <a:srgbClr val="EAF2F8"/>
                </a:solidFill>
                <a:latin typeface="Rubik"/>
                <a:ea typeface="Rubik"/>
                <a:cs typeface="Rubik"/>
                <a:sym typeface="Rubik"/>
              </a:rPr>
              <a:t>Finds the mess</a:t>
            </a:r>
            <a:endParaRPr b="0" i="0" sz="1800" u="none" cap="none" strike="noStrike">
              <a:solidFill>
                <a:schemeClr val="dk1"/>
              </a:solidFill>
              <a:latin typeface="Calibri"/>
              <a:ea typeface="Calibri"/>
              <a:cs typeface="Calibri"/>
              <a:sym typeface="Calibri"/>
            </a:endParaRPr>
          </a:p>
        </p:txBody>
      </p:sp>
      <p:sp>
        <p:nvSpPr>
          <p:cNvPr id="481" name="Google Shape;481;p17"/>
          <p:cNvSpPr/>
          <p:nvPr/>
        </p:nvSpPr>
        <p:spPr>
          <a:xfrm>
            <a:off x="1023461" y="3709752"/>
            <a:ext cx="3054209" cy="47117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Writes its own rules and scores every table.</a:t>
            </a:r>
            <a:endParaRPr b="0" i="0" sz="1300" u="none" cap="none" strike="noStrike">
              <a:solidFill>
                <a:schemeClr val="dk1"/>
              </a:solidFill>
              <a:latin typeface="Calibri"/>
              <a:ea typeface="Calibri"/>
              <a:cs typeface="Calibri"/>
              <a:sym typeface="Calibri"/>
            </a:endParaRPr>
          </a:p>
        </p:txBody>
      </p:sp>
      <p:sp>
        <p:nvSpPr>
          <p:cNvPr id="482" name="Google Shape;482;p17"/>
          <p:cNvSpPr/>
          <p:nvPr/>
        </p:nvSpPr>
        <p:spPr>
          <a:xfrm>
            <a:off x="4405749" y="3151671"/>
            <a:ext cx="3380502" cy="1211421"/>
          </a:xfrm>
          <a:prstGeom prst="roundRect">
            <a:avLst>
              <a:gd fmla="val 12318"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17"/>
          <p:cNvSpPr/>
          <p:nvPr/>
        </p:nvSpPr>
        <p:spPr>
          <a:xfrm>
            <a:off x="4613315" y="3359237"/>
            <a:ext cx="3054332" cy="299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800"/>
              <a:buFont typeface="Rubik"/>
              <a:buNone/>
            </a:pPr>
            <a:r>
              <a:rPr b="1" i="0" lang="en-US" sz="1800" u="none" cap="none" strike="noStrike">
                <a:solidFill>
                  <a:srgbClr val="EAF2F8"/>
                </a:solidFill>
                <a:latin typeface="Rubik"/>
                <a:ea typeface="Rubik"/>
                <a:cs typeface="Rubik"/>
                <a:sym typeface="Rubik"/>
              </a:rPr>
              <a:t>Fixes it safely</a:t>
            </a:r>
            <a:endParaRPr b="0" i="0" sz="1800" u="none" cap="none" strike="noStrike">
              <a:solidFill>
                <a:schemeClr val="dk1"/>
              </a:solidFill>
              <a:latin typeface="Calibri"/>
              <a:ea typeface="Calibri"/>
              <a:cs typeface="Calibri"/>
              <a:sym typeface="Calibri"/>
            </a:endParaRPr>
          </a:p>
        </p:txBody>
      </p:sp>
      <p:sp>
        <p:nvSpPr>
          <p:cNvPr id="484" name="Google Shape;484;p17"/>
          <p:cNvSpPr/>
          <p:nvPr/>
        </p:nvSpPr>
        <p:spPr>
          <a:xfrm>
            <a:off x="4613315" y="3709752"/>
            <a:ext cx="3054332" cy="47117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Sandbox copy, guardrail, human approval.</a:t>
            </a:r>
            <a:endParaRPr b="0" i="0" sz="1300" u="none" cap="none" strike="noStrike">
              <a:solidFill>
                <a:schemeClr val="dk1"/>
              </a:solidFill>
              <a:latin typeface="Calibri"/>
              <a:ea typeface="Calibri"/>
              <a:cs typeface="Calibri"/>
              <a:sym typeface="Calibri"/>
            </a:endParaRPr>
          </a:p>
        </p:txBody>
      </p:sp>
      <p:sp>
        <p:nvSpPr>
          <p:cNvPr id="485" name="Google Shape;485;p17"/>
          <p:cNvSpPr/>
          <p:nvPr/>
        </p:nvSpPr>
        <p:spPr>
          <a:xfrm>
            <a:off x="7995722" y="3151671"/>
            <a:ext cx="3380383" cy="1211421"/>
          </a:xfrm>
          <a:prstGeom prst="roundRect">
            <a:avLst>
              <a:gd fmla="val 12318" name="adj"/>
            </a:avLst>
          </a:prstGeom>
          <a:solidFill>
            <a:srgbClr val="123553"/>
          </a:solidFill>
          <a:ln cap="flat" cmpd="sng" w="9525">
            <a:solidFill>
              <a:srgbClr val="1B47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17"/>
          <p:cNvSpPr/>
          <p:nvPr/>
        </p:nvSpPr>
        <p:spPr>
          <a:xfrm>
            <a:off x="8203288" y="3359237"/>
            <a:ext cx="3054209" cy="2997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AF2F8"/>
              </a:buClr>
              <a:buSzPts val="1800"/>
              <a:buFont typeface="Rubik"/>
              <a:buNone/>
            </a:pPr>
            <a:r>
              <a:rPr b="1" i="0" lang="en-US" sz="1800" u="none" cap="none" strike="noStrike">
                <a:solidFill>
                  <a:srgbClr val="EAF2F8"/>
                </a:solidFill>
                <a:latin typeface="Rubik"/>
                <a:ea typeface="Rubik"/>
                <a:cs typeface="Rubik"/>
                <a:sym typeface="Rubik"/>
              </a:rPr>
              <a:t>Proves it worked</a:t>
            </a:r>
            <a:endParaRPr b="0" i="0" sz="1800" u="none" cap="none" strike="noStrike">
              <a:solidFill>
                <a:schemeClr val="dk1"/>
              </a:solidFill>
              <a:latin typeface="Calibri"/>
              <a:ea typeface="Calibri"/>
              <a:cs typeface="Calibri"/>
              <a:sym typeface="Calibri"/>
            </a:endParaRPr>
          </a:p>
        </p:txBody>
      </p:sp>
      <p:sp>
        <p:nvSpPr>
          <p:cNvPr id="487" name="Google Shape;487;p17"/>
          <p:cNvSpPr/>
          <p:nvPr/>
        </p:nvSpPr>
        <p:spPr>
          <a:xfrm>
            <a:off x="8203288" y="3709752"/>
            <a:ext cx="3054209" cy="47117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9DB6CC"/>
              </a:buClr>
              <a:buSzPts val="1300"/>
              <a:buFont typeface="IBM Plex Sans"/>
              <a:buNone/>
            </a:pPr>
            <a:r>
              <a:rPr b="0" i="0" lang="en-US" sz="1300" u="none" cap="none" strike="noStrike">
                <a:solidFill>
                  <a:srgbClr val="9DB6CC"/>
                </a:solidFill>
                <a:latin typeface="IBM Plex Sans"/>
                <a:ea typeface="IBM Plex Sans"/>
                <a:cs typeface="IBM Plex Sans"/>
                <a:sym typeface="IBM Plex Sans"/>
              </a:rPr>
              <a:t>Re-scan, before and after, full audit trail.</a:t>
            </a:r>
            <a:endParaRPr b="0" i="0" sz="1300" u="none" cap="none" strike="noStrike">
              <a:solidFill>
                <a:schemeClr val="dk1"/>
              </a:solidFill>
              <a:latin typeface="Calibri"/>
              <a:ea typeface="Calibri"/>
              <a:cs typeface="Calibri"/>
              <a:sym typeface="Calibri"/>
            </a:endParaRPr>
          </a:p>
        </p:txBody>
      </p:sp>
      <p:sp>
        <p:nvSpPr>
          <p:cNvPr id="488" name="Google Shape;488;p17"/>
          <p:cNvSpPr/>
          <p:nvPr/>
        </p:nvSpPr>
        <p:spPr>
          <a:xfrm>
            <a:off x="812721" y="4620220"/>
            <a:ext cx="10883556"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FC1F0"/>
              </a:buClr>
              <a:buSzPts val="1500"/>
              <a:buFont typeface="JetBrains Mono"/>
              <a:buNone/>
            </a:pPr>
            <a:r>
              <a:rPr lang="en-US" sz="1500" u="sng">
                <a:solidFill>
                  <a:schemeClr val="hlink"/>
                </a:solidFill>
                <a:latin typeface="JetBrains Mono"/>
                <a:ea typeface="JetBrains Mono"/>
                <a:cs typeface="JetBrains Mono"/>
                <a:sym typeface="JetBrains Mono"/>
                <a:hlinkClick r:id="rId3"/>
              </a:rPr>
              <a:t>https://github.com/data-shubha/dq-guardian-cocoquest/</a:t>
            </a:r>
            <a:endParaRPr b="0" i="0" sz="1500" u="none" cap="none" strike="noStrike">
              <a:solidFill>
                <a:schemeClr val="dk1"/>
              </a:solidFill>
              <a:latin typeface="Calibri"/>
              <a:ea typeface="Calibri"/>
              <a:cs typeface="Calibri"/>
              <a:sym typeface="Calibri"/>
            </a:endParaRPr>
          </a:p>
        </p:txBody>
      </p:sp>
      <p:sp>
        <p:nvSpPr>
          <p:cNvPr id="489" name="Google Shape;489;p17"/>
          <p:cNvSpPr/>
          <p:nvPr/>
        </p:nvSpPr>
        <p:spPr>
          <a:xfrm>
            <a:off x="812721" y="5140883"/>
            <a:ext cx="10883556"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9DB6CC"/>
              </a:buClr>
              <a:buSzPts val="1400"/>
              <a:buFont typeface="IBM Plex Sans"/>
              <a:buNone/>
            </a:pPr>
            <a:r>
              <a:rPr b="0" i="0" lang="en-US" sz="1400" u="none" cap="none" strike="noStrike">
                <a:solidFill>
                  <a:srgbClr val="9DB6CC"/>
                </a:solidFill>
                <a:latin typeface="IBM Plex Sans"/>
                <a:ea typeface="IBM Plex Sans"/>
                <a:cs typeface="IBM Plex Sans"/>
                <a:sym typeface="IBM Plex Sans"/>
              </a:rPr>
              <a:t>Thank you · [Bimal Pattnaik] · [Binayak Ransigh] . [Shubha Prasad Mohanty]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2026-09-21T06:16:06Z</dcterms:created>
  <dc:creator>PptxGenJS</dc:creator>
</cp:coreProperties>
</file>